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6.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7.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8.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9.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0.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4.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6.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7.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18.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9.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20.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21.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22.xml" ContentType="application/vnd.openxmlformats-officedocument.drawingml.chart+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00ac9fd9ef649b6" /><Relationship Type="http://schemas.openxmlformats.org/officeDocument/2006/relationships/extended-properties" Target="/docProps/app.xml" Id="R9923780ce90f4768" /><Relationship Type="http://schemas.openxmlformats.org/officeDocument/2006/relationships/officeDocument" Target="/ppt/presentation.xml" Id="R7b185ba92b414a57" /></Relationships>
</file>

<file path=ppt/presentation.xml><?xml version="1.0" encoding="utf-8"?>
<p:presentation xmlns:p="http://schemas.openxmlformats.org/presentationml/2006/main">
  <p:sldMasterIdLst>
    <p:sldMasterId xmlns:r="http://schemas.openxmlformats.org/officeDocument/2006/relationships" id="2147483648" r:id="R296a1d91ab0a47e7"/>
  </p:sldMasterIdLst>
  <p:notesMasterIdLst>
    <p:notesMasterId xmlns:r="http://schemas.openxmlformats.org/officeDocument/2006/relationships" r:id="R8e01bb175cfb468b"/>
  </p:notesMasterIdLst>
  <p:sldIdLst>
    <p:sldId xmlns:r="http://schemas.openxmlformats.org/officeDocument/2006/relationships" id="256" r:id="R0176300b0fb14e8c"/>
    <p:sldId xmlns:r="http://schemas.openxmlformats.org/officeDocument/2006/relationships" id="257" r:id="R7c7f0c6ae1194e69"/>
    <p:sldId xmlns:r="http://schemas.openxmlformats.org/officeDocument/2006/relationships" id="258" r:id="Rc2700d6c215a439d"/>
    <p:sldId xmlns:r="http://schemas.openxmlformats.org/officeDocument/2006/relationships" id="259" r:id="Rfc38268b52aa416c"/>
    <p:sldId xmlns:r="http://schemas.openxmlformats.org/officeDocument/2006/relationships" id="260" r:id="Reb0f91b944044735"/>
    <p:sldId xmlns:r="http://schemas.openxmlformats.org/officeDocument/2006/relationships" id="261" r:id="R10be0af3bbda4422"/>
    <p:sldId xmlns:r="http://schemas.openxmlformats.org/officeDocument/2006/relationships" id="262" r:id="R5218b4bdfbf046f4"/>
    <p:sldId xmlns:r="http://schemas.openxmlformats.org/officeDocument/2006/relationships" id="263" r:id="R2224e811f9d34290"/>
    <p:sldId xmlns:r="http://schemas.openxmlformats.org/officeDocument/2006/relationships" id="264" r:id="R278a979fdcad4a33"/>
    <p:sldId xmlns:r="http://schemas.openxmlformats.org/officeDocument/2006/relationships" id="265" r:id="R4ecac00d33704ffd"/>
    <p:sldId xmlns:r="http://schemas.openxmlformats.org/officeDocument/2006/relationships" id="266" r:id="Ra7b8e92254074221"/>
    <p:sldId xmlns:r="http://schemas.openxmlformats.org/officeDocument/2006/relationships" id="267" r:id="Ra7cfcf698e9f4c80"/>
    <p:sldId xmlns:r="http://schemas.openxmlformats.org/officeDocument/2006/relationships" id="268" r:id="R75196f18cce04a93"/>
    <p:sldId xmlns:r="http://schemas.openxmlformats.org/officeDocument/2006/relationships" id="269" r:id="R8415614c6d4a45b5"/>
    <p:sldId xmlns:r="http://schemas.openxmlformats.org/officeDocument/2006/relationships" id="270" r:id="Rf1e82002fc144c25"/>
    <p:sldId xmlns:r="http://schemas.openxmlformats.org/officeDocument/2006/relationships" id="271" r:id="R8eacdc002f03498f"/>
    <p:sldId xmlns:r="http://schemas.openxmlformats.org/officeDocument/2006/relationships" id="272" r:id="R5a74772dc9ba49d9"/>
    <p:sldId xmlns:r="http://schemas.openxmlformats.org/officeDocument/2006/relationships" id="273" r:id="Rc58e4f6267fb4b4f"/>
    <p:sldId xmlns:r="http://schemas.openxmlformats.org/officeDocument/2006/relationships" id="274" r:id="Rdd919a80ab2f4ffb"/>
    <p:sldId xmlns:r="http://schemas.openxmlformats.org/officeDocument/2006/relationships" id="275" r:id="R18b19d6b1a354daf"/>
    <p:sldId xmlns:r="http://schemas.openxmlformats.org/officeDocument/2006/relationships" id="276" r:id="R27d54be441e0496d"/>
    <p:sldId xmlns:r="http://schemas.openxmlformats.org/officeDocument/2006/relationships" id="277" r:id="Rcbd0f288e416472a"/>
    <p:sldId xmlns:r="http://schemas.openxmlformats.org/officeDocument/2006/relationships" id="278" r:id="Re49be94bf0964bb8"/>
    <p:sldId xmlns:r="http://schemas.openxmlformats.org/officeDocument/2006/relationships" id="279" r:id="R4fe2d38eebbb433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0c7370ceb7340ff" /><Relationship Type="http://schemas.openxmlformats.org/officeDocument/2006/relationships/slideMaster" Target="/ppt/slideMasters/slideMaster1.xml" Id="R296a1d91ab0a47e7" /><Relationship Type="http://schemas.openxmlformats.org/officeDocument/2006/relationships/notesMaster" Target="/ppt/notesMasters/notesMaster1.xml" Id="R8e01bb175cfb468b" /><Relationship Type="http://schemas.openxmlformats.org/officeDocument/2006/relationships/presProps" Target="/ppt/presProps.xml" Id="Rdeb9a568604a4630" /><Relationship Type="http://schemas.openxmlformats.org/officeDocument/2006/relationships/tableStyles" Target="/ppt/tableStyles.xml" Id="Rcde051b952c24913" /><Relationship Type="http://schemas.openxmlformats.org/officeDocument/2006/relationships/slide" Target="/ppt/slides/slide1.xml" Id="R0176300b0fb14e8c" /><Relationship Type="http://schemas.openxmlformats.org/officeDocument/2006/relationships/slide" Target="/ppt/slides/slide2.xml" Id="R7c7f0c6ae1194e69" /><Relationship Type="http://schemas.openxmlformats.org/officeDocument/2006/relationships/slide" Target="/ppt/slides/slide3.xml" Id="Rc2700d6c215a439d" /><Relationship Type="http://schemas.openxmlformats.org/officeDocument/2006/relationships/slide" Target="/ppt/slides/slide4.xml" Id="Rfc38268b52aa416c" /><Relationship Type="http://schemas.openxmlformats.org/officeDocument/2006/relationships/slide" Target="/ppt/slides/slide5.xml" Id="Reb0f91b944044735" /><Relationship Type="http://schemas.openxmlformats.org/officeDocument/2006/relationships/slide" Target="/ppt/slides/slide6.xml" Id="R10be0af3bbda4422" /><Relationship Type="http://schemas.openxmlformats.org/officeDocument/2006/relationships/slide" Target="/ppt/slides/slide7.xml" Id="R5218b4bdfbf046f4" /><Relationship Type="http://schemas.openxmlformats.org/officeDocument/2006/relationships/slide" Target="/ppt/slides/slide8.xml" Id="R2224e811f9d34290" /><Relationship Type="http://schemas.openxmlformats.org/officeDocument/2006/relationships/slide" Target="/ppt/slides/slide9.xml" Id="R278a979fdcad4a33" /><Relationship Type="http://schemas.openxmlformats.org/officeDocument/2006/relationships/slide" Target="/ppt/slides/slide10.xml" Id="R4ecac00d33704ffd" /><Relationship Type="http://schemas.openxmlformats.org/officeDocument/2006/relationships/slide" Target="/ppt/slides/slide11.xml" Id="Ra7b8e92254074221" /><Relationship Type="http://schemas.openxmlformats.org/officeDocument/2006/relationships/slide" Target="/ppt/slides/slide12.xml" Id="Ra7cfcf698e9f4c80" /><Relationship Type="http://schemas.openxmlformats.org/officeDocument/2006/relationships/slide" Target="/ppt/slides/slide13.xml" Id="R75196f18cce04a93" /><Relationship Type="http://schemas.openxmlformats.org/officeDocument/2006/relationships/slide" Target="/ppt/slides/slide14.xml" Id="R8415614c6d4a45b5" /><Relationship Type="http://schemas.openxmlformats.org/officeDocument/2006/relationships/slide" Target="/ppt/slides/slide15.xml" Id="Rf1e82002fc144c25" /><Relationship Type="http://schemas.openxmlformats.org/officeDocument/2006/relationships/slide" Target="/ppt/slides/slide16.xml" Id="R8eacdc002f03498f" /><Relationship Type="http://schemas.openxmlformats.org/officeDocument/2006/relationships/slide" Target="/ppt/slides/slide17.xml" Id="R5a74772dc9ba49d9" /><Relationship Type="http://schemas.openxmlformats.org/officeDocument/2006/relationships/slide" Target="/ppt/slides/slide18.xml" Id="Rc58e4f6267fb4b4f" /><Relationship Type="http://schemas.openxmlformats.org/officeDocument/2006/relationships/slide" Target="/ppt/slides/slide19.xml" Id="Rdd919a80ab2f4ffb" /><Relationship Type="http://schemas.openxmlformats.org/officeDocument/2006/relationships/slide" Target="/ppt/slides/slide20.xml" Id="R18b19d6b1a354daf" /><Relationship Type="http://schemas.openxmlformats.org/officeDocument/2006/relationships/slide" Target="/ppt/slides/slide21.xml" Id="R27d54be441e0496d" /><Relationship Type="http://schemas.openxmlformats.org/officeDocument/2006/relationships/slide" Target="/ppt/slides/slide22.xml" Id="Rcbd0f288e416472a" /><Relationship Type="http://schemas.openxmlformats.org/officeDocument/2006/relationships/slide" Target="/ppt/slides/slide23.xml" Id="Re49be94bf0964bb8" /><Relationship Type="http://schemas.openxmlformats.org/officeDocument/2006/relationships/slide" Target="/ppt/slides/slide24.xml" Id="R4fe2d38eebbb43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eba812f01f4e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0fa2fb6605435c" /><Relationship Type="http://schemas.openxmlformats.org/officeDocument/2006/relationships/notesMaster" Target="/ppt/notesMasters/notesMaster1.xml" Id="R34da66f851fc4f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12af22e2ac43af" /><Relationship Type="http://schemas.openxmlformats.org/officeDocument/2006/relationships/notesMaster" Target="/ppt/notesMasters/notesMaster1.xml" Id="Rb45b7614eb43401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4d7cc4ab80b41bd" /><Relationship Type="http://schemas.openxmlformats.org/officeDocument/2006/relationships/notesMaster" Target="/ppt/notesMasters/notesMaster1.xml" Id="R74729647361f47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2055f0ccb1473c" /><Relationship Type="http://schemas.openxmlformats.org/officeDocument/2006/relationships/notesMaster" Target="/ppt/notesMasters/notesMaster1.xml" Id="R708c15792c2b49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063597653a4e19" /><Relationship Type="http://schemas.openxmlformats.org/officeDocument/2006/relationships/notesMaster" Target="/ppt/notesMasters/notesMaster1.xml" Id="Rbb8df3a26ffb4f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f44ff06cfe46a4" /><Relationship Type="http://schemas.openxmlformats.org/officeDocument/2006/relationships/notesMaster" Target="/ppt/notesMasters/notesMaster1.xml" Id="R5f58ee6bc4eb416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f4f0c91998d4197" /><Relationship Type="http://schemas.openxmlformats.org/officeDocument/2006/relationships/notesMaster" Target="/ppt/notesMasters/notesMaster1.xml" Id="Re0e945b3da4940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dbbc7a7c044153" /><Relationship Type="http://schemas.openxmlformats.org/officeDocument/2006/relationships/notesMaster" Target="/ppt/notesMasters/notesMaster1.xml" Id="Re1d30ace15fc4af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04bb4f494ff4692" /><Relationship Type="http://schemas.openxmlformats.org/officeDocument/2006/relationships/notesMaster" Target="/ppt/notesMasters/notesMaster1.xml" Id="R24ac7e26a26542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f33185c9e145fb" /><Relationship Type="http://schemas.openxmlformats.org/officeDocument/2006/relationships/notesMaster" Target="/ppt/notesMasters/notesMaster1.xml" Id="R58a1736b14224ea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5448e6e27cb4029" /><Relationship Type="http://schemas.openxmlformats.org/officeDocument/2006/relationships/notesMaster" Target="/ppt/notesMasters/notesMaster1.xml" Id="Recccb0f25bea465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33eacaef63745d8" /><Relationship Type="http://schemas.openxmlformats.org/officeDocument/2006/relationships/notesMaster" Target="/ppt/notesMasters/notesMaster1.xml" Id="R30aad045a39b407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28314d37dbf4a2b" /><Relationship Type="http://schemas.openxmlformats.org/officeDocument/2006/relationships/notesMaster" Target="/ppt/notesMasters/notesMaster1.xml" Id="Rf0811264a5f94bd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ed388111d564dbc" /><Relationship Type="http://schemas.openxmlformats.org/officeDocument/2006/relationships/notesMaster" Target="/ppt/notesMasters/notesMaster1.xml" Id="Rac1650e6c8b7466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2df3565ca8b4be3" /><Relationship Type="http://schemas.openxmlformats.org/officeDocument/2006/relationships/notesMaster" Target="/ppt/notesMasters/notesMaster1.xml" Id="R244b349013924fe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3f55ebe90864fb5" /><Relationship Type="http://schemas.openxmlformats.org/officeDocument/2006/relationships/notesMaster" Target="/ppt/notesMasters/notesMaster1.xml" Id="R7b073607a17146f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08ed63285634a91" /><Relationship Type="http://schemas.openxmlformats.org/officeDocument/2006/relationships/notesMaster" Target="/ppt/notesMasters/notesMaster1.xml" Id="Rd9b9d70f39ba4a9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b61c28321a541b7" /><Relationship Type="http://schemas.openxmlformats.org/officeDocument/2006/relationships/notesMaster" Target="/ppt/notesMasters/notesMaster1.xml" Id="R61ede399b8894c5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c800fb4f6e14468" /><Relationship Type="http://schemas.openxmlformats.org/officeDocument/2006/relationships/notesMaster" Target="/ppt/notesMasters/notesMaster1.xml" Id="R8de91aa8de0a487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c1bb7917b0b49bb" /><Relationship Type="http://schemas.openxmlformats.org/officeDocument/2006/relationships/notesMaster" Target="/ppt/notesMasters/notesMaster1.xml" Id="Re9ea62a9dde64c7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98f48ba0e574894" /><Relationship Type="http://schemas.openxmlformats.org/officeDocument/2006/relationships/notesMaster" Target="/ppt/notesMasters/notesMaster1.xml" Id="Rb787bd409c1545a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a139fe74e2e4d78" /><Relationship Type="http://schemas.openxmlformats.org/officeDocument/2006/relationships/notesMaster" Target="/ppt/notesMasters/notesMaster1.xml" Id="Ra54643f3ac77423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4f5bcf873c94e39" /><Relationship Type="http://schemas.openxmlformats.org/officeDocument/2006/relationships/notesMaster" Target="/ppt/notesMasters/notesMaster1.xml" Id="Ra8d65be9570c4b5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cb59ed8f4764987" /><Relationship Type="http://schemas.openxmlformats.org/officeDocument/2006/relationships/notesMaster" Target="/ppt/notesMasters/notesMaster1.xml" Id="Rc860f31f669a49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C:\Users\ofgar\Projects\GithubProjects\OSC-IS\.codex-showcase-worktrees\OSC-IS-Infra\docs\usrse26\platform-evidence\usrse260930\two-org-metrics-20260930.json; C:\Users\ofgar\Projects\GithubProjects\OSC-IS\.codex-showcase-worktrees\OSC-IS-Infra\docs\usrse26\platform-evidence\usrse260930\two-org-load-metrics-20260930.json; C:\Users\ofgar\Projects\GithubProjects\OSC-IS\.codex-showcase-worktrees\OSC-IS-Infra\docs\usrse26\platform-evidence\usrse260930\third-org-onboarding-metrics-20260930.json. The opening section describes the two-organization AWS baseline and bounded synthetic load. Slides 20-24 document the real third Fabric peer onboarding. One of 90 fault-run API transaction pointers did not match Fabric history; see the integrity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C:\Users\ofgar\Projects\GithubProjects\OSC-IS\.codex-showcase-worktrees\OSC-IS-Infra\docs\usrse26\platform-evidence\usrse260930\two-org-metrics-20260930.json, submissionTiming.*.publicArtifact. Client-observed cumulative time. Poll interval 1 second, so ledger, history and catalog timestamps can be late by approximately one second. API acceptance is not ledger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C:\Users\ofgar\Projects\GithubProjects\OSC-IS\.codex-showcase-worktrees\OSC-IS-Infra\docs\usrse26\platform-evidence\usrse260930\two-org-metrics-20260930.json, submissionTiming.*.artifactSequential.confirmed.valuesMs. Each run awaited confirmation before the next started. One-second status polling limits timing resolution; this is a bounded demo probe, not a throughput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C:\Users\ofgar\Projects\GithubProjects\OSC-IS\.codex-showcase-worktrees\OSC-IS-Infra\docs\usrse26\platform-evidence\usrse260930\two-org-metrics-20260930.json, isolation.checksByLabel and postRecoveryPostman. The matrix covers API authorization in this run. Direct Fabric identity denial was validated in the earlier AWS stack summary, not retested in these ten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C:\Users\ofgar\Projects\GithubProjects\OSC-IS\.codex-showcase-worktrees\OSC-IS-Infra\docs\usrse26\platform-evidence\usrse260930\two-org-metrics-20260930.json, recovery. The clock starts before the disruption command and ends after a new probe succeeds. Gateway and RabbitMQ are recovery scenarios. Peer values measure alternate-peer transaction acceptance while peer1 is down, not peer1 recovery. Each probe had one ledger revision and no duplicate write observed. Small n; not an SLA.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C:\Users\ofgar\Projects\GithubProjects\OSC-IS\.codex-showcase-worktrees\OSC-IS-Infra\docs\usrse26\platform-evidence\usrse260930\two-org-metrics-20260930.json, gitops.secondsToSyncedHealthy. The API deployment was reduced from two replicas to one. Argo self-heal restored the declared two replicas at the same Git revision. Four individual observations; 133 seconds is real, not discarded. This is not a reconciliation SLA.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C:\Users\ofgar\Projects\GithubProjects\OSC-IS\.codex-showcase-worktrees\OSC-IS-Infra\docs\usrse26\platform-evidence\usrse260930\two-org-metrics-20260930.json, footprint; and platform/aws/estimate_cost.py. Three m7i.large nodes in three availability zones and 71/71 ready pods. Node mean five-minute CPU was 3.7-4.0 percent in the sampled preceding hour. The USD 0.9425/hour figure is a planning estimate, not billed cost. Kubernetes Metrics API unavailable, so memory usage is not claimed. This is the baseline to compare with a true third-org onboarding.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C:\Users\ofgar\Projects\GithubProjects\OSC-IS\.codex-showcase-worktrees\OSC-IS-Infra\docs\usrse26\platform-evidence\usrse260930\two-org-load-metrics-20260930.json, normal.stageThroughput. The Fabric series counts transaction timestamps on records later verified as committed; it is NOT a live finality timestamp or confirmed TPS. All 330 normal-run writes eventually reached API SUCCESS and readable Fabric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C:\Users\ofgar\Projects\GithubProjects\OSC-IS\.codex-showcase-worktrees\OSC-IS-Infra\docs\usrse26\platform-evidence\usrse260930\two-org-load-metrics-20260930.json, timing.stageObservedConfirmationLatency. Five samples at 1/s and ten at each other offered rate; one-second polling. Rates were staged briefly. These are observed request-to-status times, not precise Fabric block commit durations.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C:\Users\ofgar\Projects\GithubProjects\OSC-IS\.codex-showcase-worktrees\OSC-IS-Infra\docs\usrse26\platform-evidence\usrse260930\two-org-load-metrics-20260930.json, normal.timelineFiveSeconds. This difference is a proxy for work without a Fabric transaction timestamp, not RabbitMQ queue depth or exact unconfirmed count. Last POST was about 25 seconds after start. All 330 API records were first observed SUCCESS 158.6 seconds after the last POST.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C:\Users\ofgar\Projects\GithubProjects\OSC-IS\.codex-showcase-worktrees\OSC-IS-Infra\docs\usrse26\platform-evidence\usrse260930\two-org-load-metrics-20260930.json, normal.crossOrgByRate, timing.counts, fault.counts. These checks used authenticated API requests to private records owned by the other organization. All 25 normal, 16 timing, and 30 fault-run checks returned HTTP 403. This does not constitute a full direct-Fabric penetration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C:\Users\ofgar\Projects\GithubProjects\OSC-IS\.codex-showcase-worktrees\OSC-IS-Infra\docs\usrse26\platform-evidence\usrse260930\two-org-load-metrics-20260930.json, run.integrity and counts. API and Fabric SHA-256 matched for all 575 writes; each had one history revision. In the gateway fault run, one of 90 API blockchainTxId values differed from the Fabric history transactionId. The chaincode idempotency receipt path is a plausible, not runtime-proven, cause.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C:\Users\ofgar\Projects\GithubProjects\OSC-IS\.codex-showcase-worktrees\OSC-IS-Infra\docs\usrse26\platform-evidence\usrse260930\two-org-load-metrics-20260930.json, fault.timelineTwoSeconds and gateway scale events. NSG gateway scale-down at +7.5s and scale-up at +18.5s from run start; these are kubectl event times, not exact outage duration. All 90 writes later confirmed and had matching hashes and one history revision. One API transaction pointer differed from Fabric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C:\Users\ofgar\Projects\GithubProjects\OSC-IS\.codex-showcase-worktrees\OSC-IS-Infra\docs\usrse26\platform-evidence\usrse260930\two-org-load-metrics-20260930.json, timing.sampledPendingTimeline. A 2-second time grid and 1-second polling introduce observation delay. This is a 45-record sample, not the entire 155-write run or broker queue depth.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C:\Users\ofgar\Projects\GithubProjects\OSC-IS\.codex-showcase-worktrees\OSC-IS-Infra\docs\usrse26\platform-evidence\usrse260930\two-org-load-metrics-20260930.json, timing.latencyByOrgAndRate. The groups have only two to five observations; different stage ordering and polling may explain differences. Exploratory comparison, not a fairness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C:\Users\ofgar\Projects\GithubProjects\OSC-IS\.codex-showcase-worktrees\OSC-IS-Infra\docs\usrse26\platform-evidence\usrse260930\two-org-load-metrics-20260930.json, revisionsByRun. Each of 575 newly created records had exactly one Fabric history item when read after the run. This does not prove exactly-once processing for all failure modes.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C:\Users\ofgar\Projects\GithubProjects\OSC-IS\.codex-showcase-worktrees\OSC-IS-Infra\docs\usrse26\platform-evidence\usrse260930\upload-privacy-metrics-20260930.json; OSC-WebApp/e2e/upload-privacy-evidence.spec.ts. The portal selected 1 KiB, 1 MiB, 10 MiB and 40 MiB synthetic files. Playwright intercepted the JSON POST; API was mocked. Neither filename nor file content appeared in the request. This does not measure a real backend upload.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C:\Users\ofgar\Projects\GithubProjects\OSC-IS\.codex-showcase-worktrees\OSC-IS-Infra\docs\usrse26\platform-evidence\usrse260930\service-resources-20260930.json; capture-service-resources.ps1. Per-sample pod values were summed by logical service, then averaged over 12 snapshots. meanCpuMilliCores is an observed usage metric, not Kubernetes resource requests or a sustained capacity claim. The transient load Job is excluded.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C:\Users\ofgar\Projects\GithubProjects\OSC-IS\.codex-showcase-worktrees\OSC-IS-Infra\docs\usrse26\platform-evidence\usrse260930\service-resources-20260930.json; capture-service-resources.ps1. Per-sample pod values were summed by logical service, then averaged over 12 snapshots. meanWorkingSetMiB is an observed usage metric, not Kubernetes resource requests or a sustained capacity claim. The transient load Job is excluded.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C:\Users\ofgar\Projects\GithubProjects\OSC-IS\.codex-showcase-worktrees\OSC-IS-Infra\docs\usrse26\platform-evidence\usrse260930\third-org-onboarding-metrics-20260930.json, events. UTC timestamps from operator milestones, 154 Kubernetes/Argo snapshots, and API confirmation probes. This is one operator-led run, not an automated provisioning benchmark. The first peer-join attempt failed because a config block was used; the corrected genesis-block join succeeded and its repair time is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C:\Users\ofgar\Projects\GithubProjects\OSC-IS\.codex-showcase-worktrees\OSC-IS-Infra\docs\usrse26\platform-evidence\usrse260930\third-org-onboarding-metrics-20260930.json, readiness and gitops. Each plotted point is the first sample in a two-minute bucket; readiness is first observed, not the exact state-transition time. Fabric is CA, peer and chaincode; application is ledger gateway and history worker. Argo is 1 only when Synced and Healthy at revision 88c34a5f9cd0c7b7516e93da3cfceca596b4c5ad.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C:\Users\ofgar\Projects\GithubProjects\OSC-IS\.codex-showcase-worktrees\OSC-IS-Infra\docs\usrse26\platform-evidence\usrse260930\third-org-onboarding-metrics-20260930.json, firstProvenance. Cumulative client timing; 1-second state/history polling can observe confirmation late. The artifact was written through the MagneticArchMSP gateway/peer, had a Fabric transaction ID and one readable history revision, and appeared in the public catalog. The linked private workflow confirmed in 2.25 seconds. No research bytes were uploaded.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C:\Users\ofgar\Projects\GithubProjects\OSC-IS\.codex-showcase-worktrees\OSC-IS-Infra\docs\usrse26\platform-evidence\usrse260930\third-org-onboarding-metrics-20260930.json, continuity. One artifact per organization after onboarding, sequentially submitted, 1-second state polling. All three confirmed and had one history item. Nine ownership/denial checks passed, including cross-org reads and updates. This is a functional smoke test, not comparative performance evidence or continuous availability during the entire addition.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C:\Users\ofgar\Projects\GithubProjects\OSC-IS\.codex-showcase-worktrees\OSC-IS-Infra\docs\usrse26\platform-evidence\usrse260930\third-org-onboarding-metrics-20260930.json, footprint. Before snapshot 2026-09-30T16:29:07.268Z; after snapshot 2026-09-30T19:53:10.889Z. Both had three ready m7i.large nodes and all pods ready. The three Fabric-side pods and two app services were placed on existing nodes. This is pod-count footprint, not a measured cloud-cost delta; shared-host placement weakens failure isolation.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1a1efb329c406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0cafc9992a45cc" /><Relationship Type="http://schemas.openxmlformats.org/officeDocument/2006/relationships/slideLayout" Target="/ppt/slideLayouts/slideLayout1.xml" Id="R4896ee5ca0be48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96ee5ca0be48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ea409ab45f144da" /><Relationship Type="http://schemas.openxmlformats.org/officeDocument/2006/relationships/notesSlide" Target="/ppt/notesSlides/notesSlide1.xml" Id="R07483a31c1fb49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cc2e88f5fb4b08" /><Relationship Type="http://schemas.openxmlformats.org/officeDocument/2006/relationships/chart" Target="/ppt/slides/charts/chart1.xml" Id="R8cf9d667cf9a44b8" /><Relationship Type="http://schemas.openxmlformats.org/officeDocument/2006/relationships/notesSlide" Target="/ppt/notesSlides/notesSlide2.xml" Id="R2798a0e901d94e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ce905d652754476" /><Relationship Type="http://schemas.openxmlformats.org/officeDocument/2006/relationships/chart" Target="/ppt/slides/charts/chart2.xml" Id="R69fac7e255c44725" /><Relationship Type="http://schemas.openxmlformats.org/officeDocument/2006/relationships/notesSlide" Target="/ppt/notesSlides/notesSlide3.xml" Id="R9ab326fe360549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a0046f2b114901" /><Relationship Type="http://schemas.openxmlformats.org/officeDocument/2006/relationships/notesSlide" Target="/ppt/notesSlides/notesSlide4.xml" Id="R2cab8228b3814e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c7bdace6898450c" /><Relationship Type="http://schemas.openxmlformats.org/officeDocument/2006/relationships/chart" Target="/ppt/slides/charts/chart3.xml" Id="Re4d52e3c68494c19" /><Relationship Type="http://schemas.openxmlformats.org/officeDocument/2006/relationships/notesSlide" Target="/ppt/notesSlides/notesSlide5.xml" Id="Re40e1841ab614d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a644a665c8f47d9" /><Relationship Type="http://schemas.openxmlformats.org/officeDocument/2006/relationships/chart" Target="/ppt/slides/charts/chart4.xml" Id="R30149279cff541d9" /><Relationship Type="http://schemas.openxmlformats.org/officeDocument/2006/relationships/notesSlide" Target="/ppt/notesSlides/notesSlide6.xml" Id="R679f791445ef4e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dda274b766245e0" /><Relationship Type="http://schemas.openxmlformats.org/officeDocument/2006/relationships/chart" Target="/ppt/slides/charts/chart5.xml" Id="Rab4af307cd6041cc" /><Relationship Type="http://schemas.openxmlformats.org/officeDocument/2006/relationships/notesSlide" Target="/ppt/notesSlides/notesSlide7.xml" Id="Red98142acc6e40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c09785b7b304ac5" /><Relationship Type="http://schemas.openxmlformats.org/officeDocument/2006/relationships/chart" Target="/ppt/slides/charts/chart6.xml" Id="R49add57f87ba4cc5" /><Relationship Type="http://schemas.openxmlformats.org/officeDocument/2006/relationships/notesSlide" Target="/ppt/notesSlides/notesSlide8.xml" Id="R1f360a642c5243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96333a08c5d4c6d" /><Relationship Type="http://schemas.openxmlformats.org/officeDocument/2006/relationships/chart" Target="/ppt/slides/charts/chart7.xml" Id="R15005f1da4f94944" /><Relationship Type="http://schemas.openxmlformats.org/officeDocument/2006/relationships/notesSlide" Target="/ppt/notesSlides/notesSlide9.xml" Id="R4889d5dfef1c4ea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6d26d8d21a84709" /><Relationship Type="http://schemas.openxmlformats.org/officeDocument/2006/relationships/chart" Target="/ppt/slides/charts/chart8.xml" Id="R3cf32bfbc7134566" /><Relationship Type="http://schemas.openxmlformats.org/officeDocument/2006/relationships/notesSlide" Target="/ppt/notesSlides/notesSlide10.xml" Id="R82df8fff336e41d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ea34db3809845fb" /><Relationship Type="http://schemas.openxmlformats.org/officeDocument/2006/relationships/chart" Target="/ppt/slides/charts/chart9.xml" Id="R1b3f889249a14eb9" /><Relationship Type="http://schemas.openxmlformats.org/officeDocument/2006/relationships/notesSlide" Target="/ppt/notesSlides/notesSlide11.xml" Id="R21f8c984ba80427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5cdb6ce62d24c42" /><Relationship Type="http://schemas.openxmlformats.org/officeDocument/2006/relationships/chart" Target="/ppt/slides/charts/chart10.xml" Id="R3538ed7094ba404b" /><Relationship Type="http://schemas.openxmlformats.org/officeDocument/2006/relationships/notesSlide" Target="/ppt/notesSlides/notesSlide12.xml" Id="Rd0577297f0884e9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5a770ee00f5481d" /><Relationship Type="http://schemas.openxmlformats.org/officeDocument/2006/relationships/chart" Target="/ppt/slides/charts/chart11.xml" Id="R49d5e22ebb034123" /><Relationship Type="http://schemas.openxmlformats.org/officeDocument/2006/relationships/notesSlide" Target="/ppt/notesSlides/notesSlide13.xml" Id="R80d26cb0ee05488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9af93938a6740a5" /><Relationship Type="http://schemas.openxmlformats.org/officeDocument/2006/relationships/chart" Target="/ppt/slides/charts/chart12.xml" Id="R473972e875444a6d" /><Relationship Type="http://schemas.openxmlformats.org/officeDocument/2006/relationships/notesSlide" Target="/ppt/notesSlides/notesSlide14.xml" Id="R6df481c210254dc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8fa182f976d49d9" /><Relationship Type="http://schemas.openxmlformats.org/officeDocument/2006/relationships/chart" Target="/ppt/slides/charts/chart13.xml" Id="R0d09d52ad2c84fae" /><Relationship Type="http://schemas.openxmlformats.org/officeDocument/2006/relationships/notesSlide" Target="/ppt/notesSlides/notesSlide15.xml" Id="R5309ea1572d6460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2a20489977b4072" /><Relationship Type="http://schemas.openxmlformats.org/officeDocument/2006/relationships/chart" Target="/ppt/slides/charts/chart14.xml" Id="R83b1150d02484968" /><Relationship Type="http://schemas.openxmlformats.org/officeDocument/2006/relationships/notesSlide" Target="/ppt/notesSlides/notesSlide16.xml" Id="R3f2199c07d93415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d4a58096d7f453e" /><Relationship Type="http://schemas.openxmlformats.org/officeDocument/2006/relationships/chart" Target="/ppt/slides/charts/chart15.xml" Id="R15fb8dbf97904ce4" /><Relationship Type="http://schemas.openxmlformats.org/officeDocument/2006/relationships/notesSlide" Target="/ppt/notesSlides/notesSlide17.xml" Id="R7f3867a3eccb43f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00404f935d544bf" /><Relationship Type="http://schemas.openxmlformats.org/officeDocument/2006/relationships/chart" Target="/ppt/slides/charts/chart16.xml" Id="R7253911712274853" /><Relationship Type="http://schemas.openxmlformats.org/officeDocument/2006/relationships/notesSlide" Target="/ppt/notesSlides/notesSlide18.xml" Id="R9e850264d0d4483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25f64a7c8b043cd" /><Relationship Type="http://schemas.openxmlformats.org/officeDocument/2006/relationships/chart" Target="/ppt/slides/charts/chart17.xml" Id="Rc1e296b5331f4068" /><Relationship Type="http://schemas.openxmlformats.org/officeDocument/2006/relationships/notesSlide" Target="/ppt/notesSlides/notesSlide19.xml" Id="R5b0f3b2456774d1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1354f9c1ba041f1" /><Relationship Type="http://schemas.openxmlformats.org/officeDocument/2006/relationships/chart" Target="/ppt/slides/charts/chart18.xml" Id="R2c25c2c7eb1b43a5" /><Relationship Type="http://schemas.openxmlformats.org/officeDocument/2006/relationships/notesSlide" Target="/ppt/notesSlides/notesSlide20.xml" Id="R0ed978e21efc434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2b95a2c18bc4f90" /><Relationship Type="http://schemas.openxmlformats.org/officeDocument/2006/relationships/chart" Target="/ppt/slides/charts/chart19.xml" Id="R7444929ce18c4e1a" /><Relationship Type="http://schemas.openxmlformats.org/officeDocument/2006/relationships/notesSlide" Target="/ppt/notesSlides/notesSlide21.xml" Id="R783ee798edc54bb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46e3b1c514f45ab" /><Relationship Type="http://schemas.openxmlformats.org/officeDocument/2006/relationships/chart" Target="/ppt/slides/charts/chart20.xml" Id="Reff8c26e89d143d2" /><Relationship Type="http://schemas.openxmlformats.org/officeDocument/2006/relationships/notesSlide" Target="/ppt/notesSlides/notesSlide22.xml" Id="R4df20d232930456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859cf6e66a540c6" /><Relationship Type="http://schemas.openxmlformats.org/officeDocument/2006/relationships/chart" Target="/ppt/slides/charts/chart21.xml" Id="R977f25d85ea34427" /><Relationship Type="http://schemas.openxmlformats.org/officeDocument/2006/relationships/notesSlide" Target="/ppt/notesSlides/notesSlide23.xml" Id="R8834497f9caf4aa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1f0899eb8f9452d" /><Relationship Type="http://schemas.openxmlformats.org/officeDocument/2006/relationships/chart" Target="/ppt/slides/charts/chart22.xml" Id="R9016ddcc5e5c4812" /><Relationship Type="http://schemas.openxmlformats.org/officeDocument/2006/relationships/notesSlide" Target="/ppt/notesSlides/notesSlide24.xml" Id="R32db70d1e99e433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_rels/chart15.xml.rels><Relationships xmlns="http://schemas.openxmlformats.org/package/2006/relationships"><Relationship Id="rIdChartSnapshot1" Type="http://schemas.openxmlformats.org/officeDocument/2006/relationships/package" Target="../../embeddings/chart-data-snapshot-015.xlsx"/></Relationships>
</file>

<file path=ppt/slides/charts/_rels/chart16.xml.rels><Relationships xmlns="http://schemas.openxmlformats.org/package/2006/relationships"><Relationship Id="rIdChartSnapshot1" Type="http://schemas.openxmlformats.org/officeDocument/2006/relationships/package" Target="../../embeddings/chart-data-snapshot-016.xlsx"/></Relationships>
</file>

<file path=ppt/slides/charts/_rels/chart17.xml.rels><Relationships xmlns="http://schemas.openxmlformats.org/package/2006/relationships"><Relationship Id="rIdChartSnapshot1" Type="http://schemas.openxmlformats.org/officeDocument/2006/relationships/package" Target="../../embeddings/chart-data-snapshot-017.xlsx"/></Relationships>
</file>

<file path=ppt/slides/charts/_rels/chart18.xml.rels><Relationships xmlns="http://schemas.openxmlformats.org/package/2006/relationships"><Relationship Id="rIdChartSnapshot1" Type="http://schemas.openxmlformats.org/officeDocument/2006/relationships/package" Target="../../embeddings/chart-data-snapshot-018.xlsx"/></Relationships>
</file>

<file path=ppt/slides/charts/_rels/chart19.xml.rels><Relationships xmlns="http://schemas.openxmlformats.org/package/2006/relationships"><Relationship Id="rIdChartSnapshot1" Type="http://schemas.openxmlformats.org/officeDocument/2006/relationships/package" Target="../../embeddings/chart-data-snapshot-019.xlsx"/></Relationships>
</file>

<file path=ppt/slides/charts/_rels/chart20.xml.rels><Relationships xmlns="http://schemas.openxmlformats.org/package/2006/relationships"><Relationship Id="rIdChartSnapshot1" Type="http://schemas.openxmlformats.org/officeDocument/2006/relationships/package" Target="../../embeddings/chart-data-snapshot-020.xlsx"/></Relationships>
</file>

<file path=ppt/slides/charts/_rels/chart21.xml.rels><Relationships xmlns="http://schemas.openxmlformats.org/package/2006/relationships"><Relationship Id="rIdChartSnapshot1" Type="http://schemas.openxmlformats.org/officeDocument/2006/relationships/package" Target="../../embeddings/chart-data-snapshot-021.xlsx"/></Relationships>
</file>

<file path=ppt/slides/charts/_rels/chart22.xml.rels><Relationships xmlns="http://schemas.openxmlformats.org/package/2006/relationships"><Relationship Id="rIdChartSnapshot1" Type="http://schemas.openxmlformats.org/officeDocument/2006/relationships/package" Target="../../embeddings/chart-data-snapshot-02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NSG</c:v>
          </c:tx>
          <c:spPr>
            <a:ln xmlns:a="http://schemas.openxmlformats.org/drawingml/2006/main" w="28575">
              <a:solidFill>
                <a:srgbClr val="167D80"/>
              </a:solidFill>
              <a:prstDash val="solid"/>
            </a:ln>
          </c:spPr>
          <c:marker>
            <c:symbol val="circle"/>
            <c:size val="8"/>
            <c:spPr>
              <a:solidFill xmlns:a="http://schemas.openxmlformats.org/drawingml/2006/main">
                <a:srgbClr val="167D80"/>
              </a:solidFill>
            </c:spPr>
          </c:marker>
          <c:cat>
            <c:strRef>
              <c:f>'Chart Data'!$A$2:$A$5</c:f>
              <c:strCache>
                <c:ptCount val="4"/>
                <c:pt idx="0">
                  <c:v>API accepted</c:v>
                </c:pt>
                <c:pt idx="1">
                  <c:v>Ledger confirmed</c:v>
                </c:pt>
                <c:pt idx="2">
                  <c:v>History readable</c:v>
                </c:pt>
                <c:pt idx="3">
                  <c:v>Catalog visible</c:v>
                </c:pt>
              </c:strCache>
            </c:strRef>
          </c:cat>
          <c:val>
            <c:numRef>
              <c:f>'Chart Data'!$B$2:$B$5</c:f>
              <c:numCache>
                <c:formatCode>0.0</c:formatCode>
                <c:ptCount val="4"/>
                <c:pt idx="0">
                  <c:v>0.06</c:v>
                </c:pt>
                <c:pt idx="1">
                  <c:v>2.25</c:v>
                </c:pt>
                <c:pt idx="2">
                  <c:v>2.35</c:v>
                </c:pt>
                <c:pt idx="3">
                  <c:v>2.4</c:v>
                </c:pt>
              </c:numCache>
            </c:numRef>
          </c:val>
        </c:ser>
        <c:ser>
          <c:idx val="1"/>
          <c:order val="1"/>
          <c:tx>
            <c:v>Citizen Science</c:v>
          </c:tx>
          <c:spPr>
            <a:ln xmlns:a="http://schemas.openxmlformats.org/drawingml/2006/main" w="28575">
              <a:solidFill>
                <a:srgbClr val="B87821"/>
              </a:solidFill>
              <a:prstDash val="solid"/>
            </a:ln>
          </c:spPr>
          <c:marker>
            <c:symbol val="square"/>
            <c:size val="8"/>
            <c:spPr>
              <a:solidFill xmlns:a="http://schemas.openxmlformats.org/drawingml/2006/main">
                <a:srgbClr val="B87821"/>
              </a:solidFill>
            </c:spPr>
          </c:marker>
          <c:cat>
            <c:strRef>
              <c:f>'Chart Data'!$C$2:$C$5</c:f>
              <c:strCache>
                <c:ptCount val="4"/>
                <c:pt idx="0">
                  <c:v>API accepted</c:v>
                </c:pt>
                <c:pt idx="1">
                  <c:v>Ledger confirmed</c:v>
                </c:pt>
                <c:pt idx="2">
                  <c:v>History readable</c:v>
                </c:pt>
                <c:pt idx="3">
                  <c:v>Catalog visible</c:v>
                </c:pt>
              </c:strCache>
            </c:strRef>
          </c:cat>
          <c:val>
            <c:numRef>
              <c:f>'Chart Data'!$D$2:$D$5</c:f>
              <c:numCache>
                <c:formatCode>0.0</c:formatCode>
                <c:ptCount val="4"/>
                <c:pt idx="0">
                  <c:v>0.06</c:v>
                </c:pt>
                <c:pt idx="1">
                  <c:v>2.25</c:v>
                </c:pt>
                <c:pt idx="2">
                  <c:v>2.34</c:v>
                </c:pt>
                <c:pt idx="3">
                  <c:v>2.4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crossAx val="48672768"/>
      </c:catAx>
      <c:valAx>
        <c:axId val="48672768"/>
        <c:scaling>
          <c:orientation val="minMax"/>
          <c:max val="2.8"/>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0.5"/>
      </c:valAx>
    </c:plotArea>
    <c:legend>
      <c:legendPos val="t"/>
      <c:overlay val="0"/>
      <c:txPr>
        <a:bodyPr xmlns:a="http://schemas.openxmlformats.org/drawingml/2006/main" anchorCtr="1"/>
        <a:lstStyle xmlns:a="http://schemas.openxmlformats.org/drawingml/2006/main"/>
        <a:p xmlns:a="http://schemas.openxmlformats.org/drawingml/2006/main">
          <a:pPr>
            <a:defRPr sz="1275">
              <a:solidFill>
                <a:srgbClr val="16324B"/>
              </a:solidFill>
              <a:latin typeface="Arial"/>
              <a:ea typeface="Arial"/>
              <a:cs typeface="Arial"/>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NSG</c:v>
          </c:tx>
          <c:spPr>
            <a:ln xmlns:a="http://schemas.openxmlformats.org/drawingml/2006/main" w="28575">
              <a:solidFill>
                <a:srgbClr val="167D80"/>
              </a:solidFill>
              <a:prstDash val="solid"/>
            </a:ln>
          </c:spPr>
          <c:marker>
            <c:symbol val="circle"/>
            <c:size val="8"/>
            <c:spPr>
              <a:solidFill xmlns:a="http://schemas.openxmlformats.org/drawingml/2006/main">
                <a:srgbClr val="167D80"/>
              </a:solidFill>
            </c:spPr>
          </c:marker>
          <c:cat>
            <c:numRef>
              <c:f>'Chart Data'!$A$2:$A$9</c:f>
              <c:numCache>
                <c:formatCode>General</c:formatCode>
                <c:ptCount val="8"/>
                <c:pt idx="0">
                  <c:v>1</c:v>
                </c:pt>
                <c:pt idx="1">
                  <c:v>2</c:v>
                </c:pt>
                <c:pt idx="2">
                  <c:v>3</c:v>
                </c:pt>
                <c:pt idx="3">
                  <c:v>4</c:v>
                </c:pt>
                <c:pt idx="4">
                  <c:v>5</c:v>
                </c:pt>
                <c:pt idx="5">
                  <c:v>6</c:v>
                </c:pt>
                <c:pt idx="6">
                  <c:v>7</c:v>
                </c:pt>
                <c:pt idx="7">
                  <c:v>8</c:v>
                </c:pt>
              </c:numCache>
            </c:numRef>
          </c:cat>
          <c:val>
            <c:numRef>
              <c:f>'Chart Data'!$B$2:$B$9</c:f>
              <c:numCache>
                <c:formatCode>0.0</c:formatCode>
                <c:ptCount val="8"/>
                <c:pt idx="0">
                  <c:v>3.32</c:v>
                </c:pt>
                <c:pt idx="1">
                  <c:v>2.25</c:v>
                </c:pt>
                <c:pt idx="2">
                  <c:v>2.26</c:v>
                </c:pt>
                <c:pt idx="3">
                  <c:v>2.23</c:v>
                </c:pt>
                <c:pt idx="4">
                  <c:v>2.23</c:v>
                </c:pt>
                <c:pt idx="5">
                  <c:v>2.24</c:v>
                </c:pt>
                <c:pt idx="6">
                  <c:v>2.24</c:v>
                </c:pt>
                <c:pt idx="7">
                  <c:v>2.28</c:v>
                </c:pt>
              </c:numCache>
            </c:numRef>
          </c:val>
        </c:ser>
        <c:ser>
          <c:idx val="1"/>
          <c:order val="1"/>
          <c:tx>
            <c:v>Citizen Science</c:v>
          </c:tx>
          <c:spPr>
            <a:ln xmlns:a="http://schemas.openxmlformats.org/drawingml/2006/main" w="28575">
              <a:solidFill>
                <a:srgbClr val="B87821"/>
              </a:solidFill>
              <a:prstDash val="solid"/>
            </a:ln>
          </c:spPr>
          <c:marker>
            <c:symbol val="square"/>
            <c:size val="8"/>
            <c:spPr>
              <a:solidFill xmlns:a="http://schemas.openxmlformats.org/drawingml/2006/main">
                <a:srgbClr val="B87821"/>
              </a:solidFill>
            </c:spPr>
          </c:marker>
          <c:cat>
            <c:numRef>
              <c:f>'Chart Data'!$C$2:$C$9</c:f>
              <c:numCache>
                <c:formatCode>General</c:formatCode>
                <c:ptCount val="8"/>
                <c:pt idx="0">
                  <c:v>1</c:v>
                </c:pt>
                <c:pt idx="1">
                  <c:v>2</c:v>
                </c:pt>
                <c:pt idx="2">
                  <c:v>3</c:v>
                </c:pt>
                <c:pt idx="3">
                  <c:v>4</c:v>
                </c:pt>
                <c:pt idx="4">
                  <c:v>5</c:v>
                </c:pt>
                <c:pt idx="5">
                  <c:v>6</c:v>
                </c:pt>
                <c:pt idx="6">
                  <c:v>7</c:v>
                </c:pt>
                <c:pt idx="7">
                  <c:v>8</c:v>
                </c:pt>
              </c:numCache>
            </c:numRef>
          </c:cat>
          <c:val>
            <c:numRef>
              <c:f>'Chart Data'!$D$2:$D$9</c:f>
              <c:numCache>
                <c:formatCode>0.0</c:formatCode>
                <c:ptCount val="8"/>
                <c:pt idx="0">
                  <c:v>2.26</c:v>
                </c:pt>
                <c:pt idx="1">
                  <c:v>2.25</c:v>
                </c:pt>
                <c:pt idx="2">
                  <c:v>2.25</c:v>
                </c:pt>
                <c:pt idx="3">
                  <c:v>2.25</c:v>
                </c:pt>
                <c:pt idx="4">
                  <c:v>2.25</c:v>
                </c:pt>
                <c:pt idx="5">
                  <c:v>2.25</c:v>
                </c:pt>
                <c:pt idx="6">
                  <c:v>2.24</c:v>
                </c:pt>
                <c:pt idx="7">
                  <c:v>2.27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Probe number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crossAx val="48672768"/>
      </c:catAx>
      <c:valAx>
        <c:axId val="48672768"/>
        <c:scaling>
          <c:orientation val="minMax"/>
          <c:max val="3.6"/>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Observed 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0.5"/>
      </c:valAx>
    </c:plotArea>
    <c:legend>
      <c:legendPos val="t"/>
      <c:overlay val="0"/>
      <c:txPr>
        <a:bodyPr xmlns:a="http://schemas.openxmlformats.org/drawingml/2006/main" anchorCtr="1"/>
        <a:lstStyle xmlns:a="http://schemas.openxmlformats.org/drawingml/2006/main"/>
        <a:p xmlns:a="http://schemas.openxmlformats.org/drawingml/2006/main">
          <a:pPr>
            <a:defRPr sz="1275">
              <a:solidFill>
                <a:srgbClr val="16324B"/>
              </a:solidFill>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First cycle</c:v>
          </c:tx>
          <c:spPr>
            <a:solidFill xmlns:a="http://schemas.openxmlformats.org/drawingml/2006/main">
              <a:srgbClr val="167D80"/>
            </a:solidFill>
          </c:spPr>
          <c:cat>
            <c:strRef>
              <c:f>'Chart Data'!$A$2:$A$3</c:f>
              <c:strCache>
                <c:ptCount val="2"/>
                <c:pt idx="0">
                  <c:v>Ledger gateway</c:v>
                </c:pt>
                <c:pt idx="1">
                  <c:v>RabbitMQ / outbox</c:v>
                </c:pt>
              </c:strCache>
            </c:strRef>
          </c:cat>
          <c:val>
            <c:numRef>
              <c:f>'Chart Data'!$B$2:$B$3</c:f>
              <c:numCache>
                <c:formatCode>General</c:formatCode>
                <c:ptCount val="2"/>
                <c:pt idx="0">
                  <c:v>50</c:v>
                </c:pt>
                <c:pt idx="1">
                  <c:v>225</c:v>
                </c:pt>
              </c:numCache>
            </c:numRef>
          </c:val>
        </c:ser>
        <c:ser>
          <c:idx val="1"/>
          <c:order val="1"/>
          <c:tx>
            <c:v>Repeat</c:v>
          </c:tx>
          <c:spPr>
            <a:solidFill xmlns:a="http://schemas.openxmlformats.org/drawingml/2006/main">
              <a:srgbClr val="B87821"/>
            </a:solidFill>
          </c:spPr>
          <c:cat>
            <c:strRef>
              <c:f>'Chart Data'!$C$2:$C$3</c:f>
              <c:strCache>
                <c:ptCount val="2"/>
                <c:pt idx="0">
                  <c:v>Ledger gateway</c:v>
                </c:pt>
                <c:pt idx="1">
                  <c:v>RabbitMQ / outbox</c:v>
                </c:pt>
              </c:strCache>
            </c:strRef>
          </c:cat>
          <c:val>
            <c:numRef>
              <c:f>'Chart Data'!$D$2:$D$3</c:f>
              <c:numCache>
                <c:formatCode>General</c:formatCode>
                <c:ptCount val="2"/>
                <c:pt idx="0">
                  <c:v>72</c:v>
                </c:pt>
                <c:pt idx="1">
                  <c:v>222</c:v>
                </c:pt>
              </c:numCache>
            </c:numRef>
          </c:val>
        </c:ser>
        <c:dLbls>
          <c:txPr>
            <a:bodyPr xmlns:a="http://schemas.openxmlformats.org/drawingml/2006/main" anchorCtr="1"/>
            <a:lstStyle xmlns:a="http://schemas.openxmlformats.org/drawingml/2006/main"/>
            <a:p xmlns:a="http://schemas.openxmlformats.org/drawingml/2006/main">
              <a:pPr>
                <a:defRPr sz="1200">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16324B"/>
                </a:solidFill>
                <a:latin typeface="Arial"/>
                <a:ea typeface="Arial"/>
                <a:cs typeface="Arial"/>
              </a:defRPr>
            </a:pPr>
          </a:p>
        </c:txPr>
        <c:crossAx val="48650112"/>
        <c:crossBetween val="between"/>
      </c:valAx>
    </c:plotArea>
    <c:legend>
      <c:legendPos val="t"/>
      <c:overlay val="0"/>
      <c:txPr>
        <a:bodyPr xmlns:a="http://schemas.openxmlformats.org/drawingml/2006/main" anchorCtr="1"/>
        <a:lstStyle xmlns:a="http://schemas.openxmlformats.org/drawingml/2006/main"/>
        <a:p xmlns:a="http://schemas.openxmlformats.org/drawingml/2006/main">
          <a:pPr>
            <a:defRPr sz="1275">
              <a:solidFill>
                <a:srgbClr val="16324B"/>
              </a:solidFill>
              <a:latin typeface="Arial"/>
              <a:ea typeface="Arial"/>
              <a:cs typeface="Arial"/>
            </a:defRPr>
          </a:pPr>
        </a:p>
      </c:txPr>
    </c:legend>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Seconds</c:v>
          </c:tx>
          <c:spPr>
            <a:solidFill xmlns:a="http://schemas.openxmlformats.org/drawingml/2006/main">
              <a:srgbClr val="167D80"/>
            </a:solidFill>
          </c:spPr>
          <c:cat>
            <c:strRef>
              <c:f>'Chart Data'!$A$2:$A$5</c:f>
              <c:strCache>
                <c:ptCount val="4"/>
                <c:pt idx="0">
                  <c:v>Earlier run</c:v>
                </c:pt>
                <c:pt idx="1">
                  <c:v>Repeat 1</c:v>
                </c:pt>
                <c:pt idx="2">
                  <c:v>Repeat 2</c:v>
                </c:pt>
                <c:pt idx="3">
                  <c:v>Repeat 3</c:v>
                </c:pt>
              </c:strCache>
            </c:strRef>
          </c:cat>
          <c:val>
            <c:numRef>
              <c:f>'Chart Data'!$B$2:$B$5</c:f>
              <c:numCache>
                <c:formatCode>0</c:formatCode>
                <c:ptCount val="4"/>
                <c:pt idx="0">
                  <c:v>14</c:v>
                </c:pt>
                <c:pt idx="1">
                  <c:v>16</c:v>
                </c:pt>
                <c:pt idx="2">
                  <c:v>25</c:v>
                </c:pt>
                <c:pt idx="3">
                  <c:v>133</c:v>
                </c:pt>
              </c:numCache>
            </c:numRef>
          </c:val>
        </c:ser>
        <c:dLbls>
          <c:txPr>
            <a:bodyPr xmlns:a="http://schemas.openxmlformats.org/drawingml/2006/main" anchorCtr="1"/>
            <a:lstStyle xmlns:a="http://schemas.openxmlformats.org/drawingml/2006/main"/>
            <a:p xmlns:a="http://schemas.openxmlformats.org/drawingml/2006/main">
              <a:pPr>
                <a:defRPr sz="1200">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9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6324B"/>
                </a:solidFill>
                <a:latin typeface="Arial"/>
                <a:ea typeface="Arial"/>
                <a:cs typeface="Arial"/>
              </a:defRPr>
            </a:pPr>
          </a:p>
        </c:txPr>
        <c:crossAx val="48672768"/>
      </c:catAx>
      <c:valAx>
        <c:axId val="48672768"/>
        <c:scaling>
          <c:orientation val="minMax"/>
          <c:max val="150"/>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30"/>
      </c:valAx>
    </c:plotArea>
    <c:plotVisOnly val="1"/>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Ready pods</c:v>
          </c:tx>
          <c:spPr>
            <a:solidFill xmlns:a="http://schemas.openxmlformats.org/drawingml/2006/main">
              <a:srgbClr val="167D80"/>
            </a:solidFill>
          </c:spPr>
          <c:cat>
            <c:strRef>
              <c:f>'Chart Data'!$A$2:$A$8</c:f>
              <c:strCache>
                <c:ptCount val="7"/>
                <c:pt idx="0">
                  <c:v>osc-apps</c:v>
                </c:pt>
                <c:pt idx="1">
                  <c:v>kube-system</c:v>
                </c:pt>
                <c:pt idx="2">
                  <c:v>osc-fabric</c:v>
                </c:pt>
                <c:pt idx="3">
                  <c:v>argocd</c:v>
                </c:pt>
                <c:pt idx="4">
                  <c:v>aws-secrets-manager</c:v>
                </c:pt>
                <c:pt idx="5">
                  <c:v>cert-manager</c:v>
                </c:pt>
                <c:pt idx="6">
                  <c:v>ingress-nginx</c:v>
                </c:pt>
              </c:strCache>
            </c:strRef>
          </c:cat>
          <c:val>
            <c:numRef>
              <c:f>'Chart Data'!$B$2:$B$8</c:f>
              <c:numCache>
                <c:formatCode>General</c:formatCode>
                <c:ptCount val="7"/>
                <c:pt idx="0">
                  <c:v>21</c:v>
                </c:pt>
                <c:pt idx="1">
                  <c:v>18</c:v>
                </c:pt>
                <c:pt idx="2">
                  <c:v>14</c:v>
                </c:pt>
                <c:pt idx="3">
                  <c:v>8</c:v>
                </c:pt>
                <c:pt idx="4">
                  <c:v>6</c:v>
                </c:pt>
                <c:pt idx="5">
                  <c:v>3</c:v>
                </c:pt>
                <c:pt idx="6">
                  <c:v>1</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30"/>
        <c:axId val="48650112"/>
        <c:axId val="48672768"/>
      </c:barChart>
      <c:catAx>
        <c:axId val="48650112"/>
        <c:scaling>
          <c:orientation val="minMax"/>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Pods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6324B"/>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Offered</c:v>
          </c:tx>
          <c:spPr>
            <a:solidFill xmlns:a="http://schemas.openxmlformats.org/drawingml/2006/main">
              <a:srgbClr val="45749A"/>
            </a:solidFill>
          </c:spPr>
          <c:cat>
            <c:numRef>
              <c:f>'Chart Data'!$A$2:$A$6</c:f>
              <c:numCache>
                <c:formatCode>General</c:formatCode>
                <c:ptCount val="5"/>
                <c:pt idx="0">
                  <c:v>1</c:v>
                </c:pt>
                <c:pt idx="1">
                  <c:v>5</c:v>
                </c:pt>
                <c:pt idx="2">
                  <c:v>10</c:v>
                </c:pt>
                <c:pt idx="3">
                  <c:v>20</c:v>
                </c:pt>
                <c:pt idx="4">
                  <c:v>30</c:v>
                </c:pt>
              </c:numCache>
            </c:numRef>
          </c:cat>
          <c:val>
            <c:numRef>
              <c:f>'Chart Data'!$B$2:$B$6</c:f>
              <c:numCache>
                <c:formatCode>0</c:formatCode>
                <c:ptCount val="5"/>
                <c:pt idx="0">
                  <c:v>1</c:v>
                </c:pt>
                <c:pt idx="1">
                  <c:v>5</c:v>
                </c:pt>
                <c:pt idx="2">
                  <c:v>10</c:v>
                </c:pt>
                <c:pt idx="3">
                  <c:v>20</c:v>
                </c:pt>
                <c:pt idx="4">
                  <c:v>30</c:v>
                </c:pt>
              </c:numCache>
            </c:numRef>
          </c:val>
        </c:ser>
        <c:ser>
          <c:idx val="1"/>
          <c:order val="1"/>
          <c:tx>
            <c:v>API accepted</c:v>
          </c:tx>
          <c:spPr>
            <a:solidFill xmlns:a="http://schemas.openxmlformats.org/drawingml/2006/main">
              <a:srgbClr val="167D80"/>
            </a:solidFill>
          </c:spPr>
          <c:cat>
            <c:numRef>
              <c:f>'Chart Data'!$C$2:$C$6</c:f>
              <c:numCache>
                <c:formatCode>General</c:formatCode>
                <c:ptCount val="5"/>
                <c:pt idx="0">
                  <c:v>1</c:v>
                </c:pt>
                <c:pt idx="1">
                  <c:v>5</c:v>
                </c:pt>
                <c:pt idx="2">
                  <c:v>10</c:v>
                </c:pt>
                <c:pt idx="3">
                  <c:v>20</c:v>
                </c:pt>
                <c:pt idx="4">
                  <c:v>30</c:v>
                </c:pt>
              </c:numCache>
            </c:numRef>
          </c:cat>
          <c:val>
            <c:numRef>
              <c:f>'Chart Data'!$D$2:$D$6</c:f>
              <c:numCache>
                <c:formatCode>0</c:formatCode>
                <c:ptCount val="5"/>
                <c:pt idx="0">
                  <c:v>1</c:v>
                </c:pt>
                <c:pt idx="1">
                  <c:v>5</c:v>
                </c:pt>
                <c:pt idx="2">
                  <c:v>10</c:v>
                </c:pt>
                <c:pt idx="3">
                  <c:v>20</c:v>
                </c:pt>
                <c:pt idx="4">
                  <c:v>30</c:v>
                </c:pt>
              </c:numCache>
            </c:numRef>
          </c:val>
        </c:ser>
        <c:ser>
          <c:idx val="2"/>
          <c:order val="2"/>
          <c:tx>
            <c:v>Fabric record time</c:v>
          </c:tx>
          <c:spPr>
            <a:solidFill xmlns:a="http://schemas.openxmlformats.org/drawingml/2006/main">
              <a:srgbClr val="B87821"/>
            </a:solidFill>
          </c:spPr>
          <c:cat>
            <c:numRef>
              <c:f>'Chart Data'!$E$2:$E$6</c:f>
              <c:numCache>
                <c:formatCode>General</c:formatCode>
                <c:ptCount val="5"/>
                <c:pt idx="0">
                  <c:v>1</c:v>
                </c:pt>
                <c:pt idx="1">
                  <c:v>5</c:v>
                </c:pt>
                <c:pt idx="2">
                  <c:v>10</c:v>
                </c:pt>
                <c:pt idx="3">
                  <c:v>20</c:v>
                </c:pt>
                <c:pt idx="4">
                  <c:v>30</c:v>
                </c:pt>
              </c:numCache>
            </c:numRef>
          </c:cat>
          <c:val>
            <c:numRef>
              <c:f>'Chart Data'!$F$2:$F$6</c:f>
              <c:numCache>
                <c:formatCode>0</c:formatCode>
                <c:ptCount val="5"/>
                <c:pt idx="0">
                  <c:v>1</c:v>
                </c:pt>
                <c:pt idx="1">
                  <c:v>2.6</c:v>
                </c:pt>
                <c:pt idx="2">
                  <c:v>1.6</c:v>
                </c:pt>
                <c:pt idx="3">
                  <c:v>1.6</c:v>
                </c:pt>
                <c:pt idx="4">
                  <c:v>2.4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8"/>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Offered submissions / second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crossAx val="48672768"/>
      </c:catAx>
      <c:valAx>
        <c:axId val="48672768"/>
        <c:scaling>
          <c:orientation val="minMax"/>
          <c:max val="32"/>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Records / second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5"/>
      </c:valAx>
    </c:plotArea>
    <c:legend>
      <c:legendPos val="t"/>
      <c:overlay val="0"/>
      <c:txPr>
        <a:bodyPr xmlns:a="http://schemas.openxmlformats.org/drawingml/2006/main" anchorCtr="1"/>
        <a:lstStyle xmlns:a="http://schemas.openxmlformats.org/drawingml/2006/main"/>
        <a:p xmlns:a="http://schemas.openxmlformats.org/drawingml/2006/main">
          <a:pPr>
            <a:defRPr sz="1200">
              <a:solidFill>
                <a:srgbClr val="16324B"/>
              </a:solidFill>
              <a:latin typeface="Arial"/>
              <a:ea typeface="Arial"/>
              <a:cs typeface="Arial"/>
            </a:defRPr>
          </a:pPr>
        </a:p>
      </c:txPr>
    </c:legend>
    <c:plotVisOnly val="1"/>
  </c:chart>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ser>
          <c:idx val="0"/>
          <c:order val="0"/>
          <c:tx>
            <c:v>Median</c:v>
          </c:tx>
          <c:spPr>
            <a:ln xmlns:a="http://schemas.openxmlformats.org/drawingml/2006/main" w="28575">
              <a:solidFill>
                <a:srgbClr val="167D80"/>
              </a:solidFill>
              <a:prstDash val="solid"/>
            </a:ln>
          </c:spPr>
          <c:marker>
            <c:symbol val="circle"/>
            <c:size val="8"/>
            <c:spPr>
              <a:solidFill xmlns:a="http://schemas.openxmlformats.org/drawingml/2006/main">
                <a:srgbClr val="167D80"/>
              </a:solidFill>
            </c:spPr>
          </c:marker>
          <c:cat>
            <c:numRef>
              <c:f>'Chart Data'!$A$2:$A$6</c:f>
              <c:numCache>
                <c:formatCode>General</c:formatCode>
                <c:ptCount val="5"/>
                <c:pt idx="0">
                  <c:v>1</c:v>
                </c:pt>
                <c:pt idx="1">
                  <c:v>5</c:v>
                </c:pt>
                <c:pt idx="2">
                  <c:v>10</c:v>
                </c:pt>
                <c:pt idx="3">
                  <c:v>20</c:v>
                </c:pt>
                <c:pt idx="4">
                  <c:v>30</c:v>
                </c:pt>
              </c:numCache>
            </c:numRef>
          </c:cat>
          <c:val>
            <c:numRef>
              <c:f>'Chart Data'!$B$2:$B$6</c:f>
              <c:numCache>
                <c:formatCode>0</c:formatCode>
                <c:ptCount val="5"/>
                <c:pt idx="0">
                  <c:v>2.08</c:v>
                </c:pt>
                <c:pt idx="1">
                  <c:v>3.09</c:v>
                </c:pt>
                <c:pt idx="2">
                  <c:v>11.13</c:v>
                </c:pt>
                <c:pt idx="3">
                  <c:v>24.24</c:v>
                </c:pt>
                <c:pt idx="4">
                  <c:v>43.4</c:v>
                </c:pt>
              </c:numCache>
            </c:numRef>
          </c:val>
        </c:ser>
        <c:ser>
          <c:idx val="1"/>
          <c:order val="1"/>
          <c:tx>
            <c:v>P95</c:v>
          </c:tx>
          <c:spPr>
            <a:ln xmlns:a="http://schemas.openxmlformats.org/drawingml/2006/main" w="28575">
              <a:solidFill>
                <a:srgbClr val="B87821"/>
              </a:solidFill>
              <a:prstDash val="solid"/>
            </a:ln>
          </c:spPr>
          <c:marker>
            <c:symbol val="square"/>
            <c:size val="8"/>
            <c:spPr>
              <a:solidFill xmlns:a="http://schemas.openxmlformats.org/drawingml/2006/main">
                <a:srgbClr val="B87821"/>
              </a:solidFill>
            </c:spPr>
          </c:marker>
          <c:cat>
            <c:numRef>
              <c:f>'Chart Data'!$C$2:$C$6</c:f>
              <c:numCache>
                <c:formatCode>General</c:formatCode>
                <c:ptCount val="5"/>
                <c:pt idx="0">
                  <c:v>1</c:v>
                </c:pt>
                <c:pt idx="1">
                  <c:v>5</c:v>
                </c:pt>
                <c:pt idx="2">
                  <c:v>10</c:v>
                </c:pt>
                <c:pt idx="3">
                  <c:v>20</c:v>
                </c:pt>
                <c:pt idx="4">
                  <c:v>30</c:v>
                </c:pt>
              </c:numCache>
            </c:numRef>
          </c:cat>
          <c:val>
            <c:numRef>
              <c:f>'Chart Data'!$D$2:$D$6</c:f>
              <c:numCache>
                <c:formatCode>0</c:formatCode>
                <c:ptCount val="5"/>
                <c:pt idx="0">
                  <c:v>3.07</c:v>
                </c:pt>
                <c:pt idx="1">
                  <c:v>5.08</c:v>
                </c:pt>
                <c:pt idx="2">
                  <c:v>13.16</c:v>
                </c:pt>
                <c:pt idx="3">
                  <c:v>25.25</c:v>
                </c:pt>
                <c:pt idx="4">
                  <c:v>45.43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Offered submissions / second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Observed 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10"/>
      </c:valAx>
    </c:plotArea>
    <c:legend>
      <c:legendPos val="t"/>
      <c:overlay val="0"/>
      <c:txPr>
        <a:bodyPr xmlns:a="http://schemas.openxmlformats.org/drawingml/2006/main" anchorCtr="1"/>
        <a:lstStyle xmlns:a="http://schemas.openxmlformats.org/drawingml/2006/main"/>
        <a:p xmlns:a="http://schemas.openxmlformats.org/drawingml/2006/main">
          <a:pPr>
            <a:defRPr sz="1275">
              <a:solidFill>
                <a:srgbClr val="16324B"/>
              </a:solidFill>
              <a:latin typeface="Arial"/>
              <a:ea typeface="Arial"/>
              <a:cs typeface="Arial"/>
            </a:defRPr>
          </a:pPr>
        </a:p>
      </c:txPr>
    </c:legend>
    <c:plotVisOnly val="1"/>
  </c:chart>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ineChart>
        <c:grouping val="standard"/>
        <c:ser>
          <c:idx val="0"/>
          <c:order val="0"/>
          <c:tx>
            <c:v>Unrecorded proxy</c:v>
          </c:tx>
          <c:spPr>
            <a:ln xmlns:a="http://schemas.openxmlformats.org/drawingml/2006/main" w="28575">
              <a:solidFill>
                <a:srgbClr val="167D80"/>
              </a:solidFill>
              <a:prstDash val="solid"/>
            </a:ln>
          </c:spPr>
          <c:marker>
            <c:symbol val="circle"/>
            <c:size val="6"/>
            <c:spPr>
              <a:solidFill xmlns:a="http://schemas.openxmlformats.org/drawingml/2006/main">
                <a:srgbClr val="167D80"/>
              </a:solidFill>
            </c:spPr>
          </c:marker>
          <c:cat>
            <c:numRef>
              <c:f>'Chart Data'!$A$2:$A$16</c:f>
              <c:numCache>
                <c:formatCode>General</c:formatCode>
                <c:ptCount val="15"/>
                <c:pt idx="0">
                  <c:v>0</c:v>
                </c:pt>
                <c:pt idx="1">
                  <c:v>15</c:v>
                </c:pt>
                <c:pt idx="2">
                  <c:v>25</c:v>
                </c:pt>
                <c:pt idx="3">
                  <c:v>30</c:v>
                </c:pt>
                <c:pt idx="4">
                  <c:v>45</c:v>
                </c:pt>
                <c:pt idx="5">
                  <c:v>60</c:v>
                </c:pt>
                <c:pt idx="6">
                  <c:v>75</c:v>
                </c:pt>
                <c:pt idx="7">
                  <c:v>90</c:v>
                </c:pt>
                <c:pt idx="8">
                  <c:v>105</c:v>
                </c:pt>
                <c:pt idx="9">
                  <c:v>120</c:v>
                </c:pt>
                <c:pt idx="10">
                  <c:v>135</c:v>
                </c:pt>
                <c:pt idx="11">
                  <c:v>150</c:v>
                </c:pt>
                <c:pt idx="12">
                  <c:v>165</c:v>
                </c:pt>
                <c:pt idx="13">
                  <c:v>180</c:v>
                </c:pt>
                <c:pt idx="14">
                  <c:v>185</c:v>
                </c:pt>
              </c:numCache>
            </c:numRef>
          </c:cat>
          <c:val>
            <c:numRef>
              <c:f>'Chart Data'!$B$2:$B$16</c:f>
              <c:numCache>
                <c:formatCode>0</c:formatCode>
                <c:ptCount val="15"/>
                <c:pt idx="0">
                  <c:v>0</c:v>
                </c:pt>
                <c:pt idx="1">
                  <c:v>54</c:v>
                </c:pt>
                <c:pt idx="2">
                  <c:v>284</c:v>
                </c:pt>
                <c:pt idx="3">
                  <c:v>276</c:v>
                </c:pt>
                <c:pt idx="4">
                  <c:v>248</c:v>
                </c:pt>
                <c:pt idx="5">
                  <c:v>220</c:v>
                </c:pt>
                <c:pt idx="6">
                  <c:v>192</c:v>
                </c:pt>
                <c:pt idx="7">
                  <c:v>168</c:v>
                </c:pt>
                <c:pt idx="8">
                  <c:v>140</c:v>
                </c:pt>
                <c:pt idx="9">
                  <c:v>112</c:v>
                </c:pt>
                <c:pt idx="10">
                  <c:v>84</c:v>
                </c:pt>
                <c:pt idx="11">
                  <c:v>56</c:v>
                </c:pt>
                <c:pt idx="12">
                  <c:v>29</c:v>
                </c:pt>
                <c:pt idx="13">
                  <c:v>1</c:v>
                </c:pt>
                <c:pt idx="14">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Seconds since first POST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6324B"/>
                </a:solidFill>
                <a:latin typeface="Arial"/>
                <a:ea typeface="Arial"/>
                <a:cs typeface="Arial"/>
              </a:defRPr>
            </a:pPr>
          </a:p>
        </c:txPr>
        <c:crossAx val="48672768"/>
      </c:catAx>
      <c:valAx>
        <c:axId val="48672768"/>
        <c:scaling>
          <c:orientation val="minMax"/>
          <c:max val="300"/>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Records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50"/>
      </c:valAx>
    </c:plotArea>
    <c:plotVisOnly val="1"/>
  </c:chart>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HTTP 403</c:v>
          </c:tx>
          <c:spPr>
            <a:solidFill xmlns:a="http://schemas.openxmlformats.org/drawingml/2006/main">
              <a:srgbClr val="167D80"/>
            </a:solidFill>
          </c:spPr>
          <c:cat>
            <c:numRef>
              <c:f>'Chart Data'!$A$2:$A$6</c:f>
              <c:numCache>
                <c:formatCode>General</c:formatCode>
                <c:ptCount val="5"/>
                <c:pt idx="0">
                  <c:v>1</c:v>
                </c:pt>
                <c:pt idx="1">
                  <c:v>5</c:v>
                </c:pt>
                <c:pt idx="2">
                  <c:v>10</c:v>
                </c:pt>
                <c:pt idx="3">
                  <c:v>20</c:v>
                </c:pt>
                <c:pt idx="4">
                  <c:v>30</c:v>
                </c:pt>
              </c:numCache>
            </c:numRef>
          </c:cat>
          <c:val>
            <c:numRef>
              <c:f>'Chart Data'!$B$2:$B$6</c:f>
              <c:numCache>
                <c:formatCode>0</c:formatCode>
                <c:ptCount val="5"/>
                <c:pt idx="0">
                  <c:v>5</c:v>
                </c:pt>
                <c:pt idx="1">
                  <c:v>5</c:v>
                </c:pt>
                <c:pt idx="2">
                  <c:v>5</c:v>
                </c:pt>
                <c:pt idx="3">
                  <c:v>5</c:v>
                </c:pt>
                <c:pt idx="4">
                  <c:v>5</c:v>
                </c:pt>
              </c:numCache>
            </c:numRef>
          </c:val>
        </c:ser>
        <c:dLbls>
          <c:txPr>
            <a:bodyPr xmlns:a="http://schemas.openxmlformats.org/drawingml/2006/main" anchorCtr="1"/>
            <a:lstStyle xmlns:a="http://schemas.openxmlformats.org/drawingml/2006/main"/>
            <a:p xmlns:a="http://schemas.openxmlformats.org/drawingml/2006/main">
              <a:pPr>
                <a:defRPr sz="1200">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11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Offered submissions / second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crossAx val="48672768"/>
      </c:catAx>
      <c:valAx>
        <c:axId val="48672768"/>
        <c:scaling>
          <c:orientation val="minMax"/>
          <c:max val="6"/>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Denied checks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1"/>
      </c:valAx>
    </c:plotArea>
    <c:plotVisOnly val="1"/>
  </c:chart>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API SHA-256</c:v>
          </c:tx>
          <c:spPr>
            <a:solidFill xmlns:a="http://schemas.openxmlformats.org/drawingml/2006/main">
              <a:srgbClr val="167D80"/>
            </a:solidFill>
          </c:spPr>
          <c:cat>
            <c:strRef>
              <c:f>'Chart Data'!$A$2:$A$4</c:f>
              <c:strCache>
                <c:ptCount val="3"/>
                <c:pt idx="0">
                  <c:v>Normal (330)</c:v>
                </c:pt>
                <c:pt idx="1">
                  <c:v>Gateway fault (90)</c:v>
                </c:pt>
                <c:pt idx="2">
                  <c:v>Timing (155)</c:v>
                </c:pt>
              </c:strCache>
            </c:strRef>
          </c:cat>
          <c:val>
            <c:numRef>
              <c:f>'Chart Data'!$B$2:$B$4</c:f>
              <c:numCache>
                <c:formatCode>0.0</c:formatCode>
                <c:ptCount val="3"/>
                <c:pt idx="0">
                  <c:v>100</c:v>
                </c:pt>
                <c:pt idx="1">
                  <c:v>100</c:v>
                </c:pt>
                <c:pt idx="2">
                  <c:v>100</c:v>
                </c:pt>
              </c:numCache>
            </c:numRef>
          </c:val>
        </c:ser>
        <c:ser>
          <c:idx val="1"/>
          <c:order val="1"/>
          <c:tx>
            <c:v>Fabric SHA-256</c:v>
          </c:tx>
          <c:spPr>
            <a:solidFill xmlns:a="http://schemas.openxmlformats.org/drawingml/2006/main">
              <a:srgbClr val="45749A"/>
            </a:solidFill>
          </c:spPr>
          <c:cat>
            <c:strRef>
              <c:f>'Chart Data'!$C$2:$C$4</c:f>
              <c:strCache>
                <c:ptCount val="3"/>
                <c:pt idx="0">
                  <c:v>Normal (330)</c:v>
                </c:pt>
                <c:pt idx="1">
                  <c:v>Gateway fault (90)</c:v>
                </c:pt>
                <c:pt idx="2">
                  <c:v>Timing (155)</c:v>
                </c:pt>
              </c:strCache>
            </c:strRef>
          </c:cat>
          <c:val>
            <c:numRef>
              <c:f>'Chart Data'!$D$2:$D$4</c:f>
              <c:numCache>
                <c:formatCode>0.0</c:formatCode>
                <c:ptCount val="3"/>
                <c:pt idx="0">
                  <c:v>100</c:v>
                </c:pt>
                <c:pt idx="1">
                  <c:v>100</c:v>
                </c:pt>
                <c:pt idx="2">
                  <c:v>100</c:v>
                </c:pt>
              </c:numCache>
            </c:numRef>
          </c:val>
        </c:ser>
        <c:ser>
          <c:idx val="2"/>
          <c:order val="2"/>
          <c:tx>
            <c:v>API tx pointer</c:v>
          </c:tx>
          <c:spPr>
            <a:solidFill xmlns:a="http://schemas.openxmlformats.org/drawingml/2006/main">
              <a:srgbClr val="B87821"/>
            </a:solidFill>
          </c:spPr>
          <c:cat>
            <c:strRef>
              <c:f>'Chart Data'!$E$2:$E$4</c:f>
              <c:strCache>
                <c:ptCount val="3"/>
                <c:pt idx="0">
                  <c:v>Normal (330)</c:v>
                </c:pt>
                <c:pt idx="1">
                  <c:v>Gateway fault (90)</c:v>
                </c:pt>
                <c:pt idx="2">
                  <c:v>Timing (155)</c:v>
                </c:pt>
              </c:strCache>
            </c:strRef>
          </c:cat>
          <c:val>
            <c:numRef>
              <c:f>'Chart Data'!$F$2:$F$4</c:f>
              <c:numCache>
                <c:formatCode>0.0</c:formatCode>
                <c:ptCount val="3"/>
                <c:pt idx="0">
                  <c:v>100</c:v>
                </c:pt>
                <c:pt idx="1">
                  <c:v>98.9</c:v>
                </c:pt>
                <c:pt idx="2">
                  <c:v>100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7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crossAx val="48672768"/>
      </c:catAx>
      <c:valAx>
        <c:axId val="48672768"/>
        <c:scaling>
          <c:orientation val="minMax"/>
          <c:max val="100"/>
          <c:min val="95"/>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Percent matching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1"/>
      </c:valAx>
    </c:plotArea>
    <c:legend>
      <c:legendPos val="t"/>
      <c:overlay val="0"/>
      <c:txPr>
        <a:bodyPr xmlns:a="http://schemas.openxmlformats.org/drawingml/2006/main" anchorCtr="1"/>
        <a:lstStyle xmlns:a="http://schemas.openxmlformats.org/drawingml/2006/main"/>
        <a:p xmlns:a="http://schemas.openxmlformats.org/drawingml/2006/main">
          <a:pPr>
            <a:defRPr sz="1200">
              <a:solidFill>
                <a:srgbClr val="16324B"/>
              </a:solidFill>
              <a:latin typeface="Arial"/>
              <a:ea typeface="Arial"/>
              <a:cs typeface="Arial"/>
            </a:defRPr>
          </a:pPr>
        </a:p>
      </c:txPr>
    </c:legend>
    <c:plotVisOnly val="1"/>
  </c:chart>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lineChart>
        <c:grouping val="standard"/>
        <c:ser>
          <c:idx val="0"/>
          <c:order val="0"/>
          <c:tx>
            <c:v>API accepted</c:v>
          </c:tx>
          <c:spPr>
            <a:ln xmlns:a="http://schemas.openxmlformats.org/drawingml/2006/main" w="28575">
              <a:solidFill>
                <a:srgbClr val="167D80"/>
              </a:solidFill>
              <a:prstDash val="solid"/>
            </a:ln>
          </c:spPr>
          <c:marker>
            <c:symbol val="circle"/>
            <c:size val="6"/>
            <c:spPr>
              <a:solidFill xmlns:a="http://schemas.openxmlformats.org/drawingml/2006/main">
                <a:srgbClr val="167D80"/>
              </a:solidFill>
            </c:spPr>
          </c:marker>
          <c:cat>
            <c:numRef>
              <c:f>'Chart Data'!$A$2:$A$14</c:f>
              <c:numCache>
                <c:formatCode>General</c:formatCode>
                <c:ptCount val="13"/>
                <c:pt idx="0">
                  <c:v>0</c:v>
                </c:pt>
                <c:pt idx="1">
                  <c:v>4</c:v>
                </c:pt>
                <c:pt idx="2">
                  <c:v>8</c:v>
                </c:pt>
                <c:pt idx="3">
                  <c:v>12</c:v>
                </c:pt>
                <c:pt idx="4">
                  <c:v>16</c:v>
                </c:pt>
                <c:pt idx="5">
                  <c:v>20</c:v>
                </c:pt>
                <c:pt idx="6">
                  <c:v>24</c:v>
                </c:pt>
                <c:pt idx="7">
                  <c:v>28</c:v>
                </c:pt>
                <c:pt idx="8">
                  <c:v>32</c:v>
                </c:pt>
                <c:pt idx="9">
                  <c:v>36</c:v>
                </c:pt>
                <c:pt idx="10">
                  <c:v>40</c:v>
                </c:pt>
                <c:pt idx="11">
                  <c:v>44</c:v>
                </c:pt>
                <c:pt idx="12">
                  <c:v>48</c:v>
                </c:pt>
              </c:numCache>
            </c:numRef>
          </c:cat>
          <c:val>
            <c:numRef>
              <c:f>'Chart Data'!$B$2:$B$14</c:f>
              <c:numCache>
                <c:formatCode>0</c:formatCode>
                <c:ptCount val="13"/>
                <c:pt idx="0">
                  <c:v>0</c:v>
                </c:pt>
                <c:pt idx="1">
                  <c:v>12</c:v>
                </c:pt>
                <c:pt idx="2">
                  <c:v>24</c:v>
                </c:pt>
                <c:pt idx="3">
                  <c:v>36</c:v>
                </c:pt>
                <c:pt idx="4">
                  <c:v>48</c:v>
                </c:pt>
                <c:pt idx="5">
                  <c:v>60</c:v>
                </c:pt>
                <c:pt idx="6">
                  <c:v>72</c:v>
                </c:pt>
                <c:pt idx="7">
                  <c:v>84</c:v>
                </c:pt>
                <c:pt idx="8">
                  <c:v>90</c:v>
                </c:pt>
                <c:pt idx="9">
                  <c:v>90</c:v>
                </c:pt>
                <c:pt idx="10">
                  <c:v>90</c:v>
                </c:pt>
                <c:pt idx="11">
                  <c:v>90</c:v>
                </c:pt>
                <c:pt idx="12">
                  <c:v>90</c:v>
                </c:pt>
              </c:numCache>
            </c:numRef>
          </c:val>
        </c:ser>
        <c:ser>
          <c:idx val="1"/>
          <c:order val="1"/>
          <c:tx>
            <c:v>Fabric record time</c:v>
          </c:tx>
          <c:spPr>
            <a:ln xmlns:a="http://schemas.openxmlformats.org/drawingml/2006/main" w="28575">
              <a:solidFill>
                <a:srgbClr val="B87821"/>
              </a:solidFill>
              <a:prstDash val="solid"/>
            </a:ln>
          </c:spPr>
          <c:marker>
            <c:symbol val="square"/>
            <c:size val="6"/>
            <c:spPr>
              <a:solidFill xmlns:a="http://schemas.openxmlformats.org/drawingml/2006/main">
                <a:srgbClr val="B87821"/>
              </a:solidFill>
            </c:spPr>
          </c:marker>
          <c:cat>
            <c:numRef>
              <c:f>'Chart Data'!$C$2:$C$14</c:f>
              <c:numCache>
                <c:formatCode>General</c:formatCode>
                <c:ptCount val="13"/>
                <c:pt idx="0">
                  <c:v>0</c:v>
                </c:pt>
                <c:pt idx="1">
                  <c:v>4</c:v>
                </c:pt>
                <c:pt idx="2">
                  <c:v>8</c:v>
                </c:pt>
                <c:pt idx="3">
                  <c:v>12</c:v>
                </c:pt>
                <c:pt idx="4">
                  <c:v>16</c:v>
                </c:pt>
                <c:pt idx="5">
                  <c:v>20</c:v>
                </c:pt>
                <c:pt idx="6">
                  <c:v>24</c:v>
                </c:pt>
                <c:pt idx="7">
                  <c:v>28</c:v>
                </c:pt>
                <c:pt idx="8">
                  <c:v>32</c:v>
                </c:pt>
                <c:pt idx="9">
                  <c:v>36</c:v>
                </c:pt>
                <c:pt idx="10">
                  <c:v>40</c:v>
                </c:pt>
                <c:pt idx="11">
                  <c:v>44</c:v>
                </c:pt>
                <c:pt idx="12">
                  <c:v>48</c:v>
                </c:pt>
              </c:numCache>
            </c:numRef>
          </c:cat>
          <c:val>
            <c:numRef>
              <c:f>'Chart Data'!$D$2:$D$14</c:f>
              <c:numCache>
                <c:formatCode>0</c:formatCode>
                <c:ptCount val="13"/>
                <c:pt idx="0">
                  <c:v>0</c:v>
                </c:pt>
                <c:pt idx="1">
                  <c:v>8</c:v>
                </c:pt>
                <c:pt idx="2">
                  <c:v>16</c:v>
                </c:pt>
                <c:pt idx="3">
                  <c:v>24</c:v>
                </c:pt>
                <c:pt idx="4">
                  <c:v>32</c:v>
                </c:pt>
                <c:pt idx="5">
                  <c:v>40</c:v>
                </c:pt>
                <c:pt idx="6">
                  <c:v>48</c:v>
                </c:pt>
                <c:pt idx="7">
                  <c:v>52</c:v>
                </c:pt>
                <c:pt idx="8">
                  <c:v>60</c:v>
                </c:pt>
                <c:pt idx="9">
                  <c:v>68</c:v>
                </c:pt>
                <c:pt idx="10">
                  <c:v>77</c:v>
                </c:pt>
                <c:pt idx="11">
                  <c:v>85</c:v>
                </c:pt>
                <c:pt idx="12">
                  <c:v>90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Seconds since first POST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6324B"/>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Cumulative records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20"/>
      </c:valAx>
    </c:plotArea>
    <c:legend>
      <c:legendPos val="t"/>
      <c:overlay val="0"/>
      <c:txPr>
        <a:bodyPr xmlns:a="http://schemas.openxmlformats.org/drawingml/2006/main" anchorCtr="1"/>
        <a:lstStyle xmlns:a="http://schemas.openxmlformats.org/drawingml/2006/main"/>
        <a:p xmlns:a="http://schemas.openxmlformats.org/drawingml/2006/main">
          <a:pPr>
            <a:defRPr sz="1275">
              <a:solidFill>
                <a:srgbClr val="16324B"/>
              </a:solidFill>
              <a:latin typeface="Arial"/>
              <a:ea typeface="Arial"/>
              <a:cs typeface="Arial"/>
            </a:defRPr>
          </a:pPr>
        </a:p>
      </c:txPr>
    </c:legend>
    <c:plotVisOnly val="1"/>
  </c:chart>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lineChart>
        <c:grouping val="standard"/>
        <c:ser>
          <c:idx val="0"/>
          <c:order val="0"/>
          <c:tx>
            <c:v>Accepted sample</c:v>
          </c:tx>
          <c:spPr>
            <a:ln xmlns:a="http://schemas.openxmlformats.org/drawingml/2006/main" w="28575">
              <a:solidFill>
                <a:srgbClr val="45749A"/>
              </a:solidFill>
              <a:prstDash val="solid"/>
            </a:ln>
          </c:spPr>
          <c:marker>
            <c:symbol val="circle"/>
            <c:size val="6"/>
            <c:spPr>
              <a:solidFill xmlns:a="http://schemas.openxmlformats.org/drawingml/2006/main">
                <a:srgbClr val="45749A"/>
              </a:solidFill>
            </c:spPr>
          </c:marker>
          <c:cat>
            <c:numRef>
              <c:f>'Chart Data'!$A$2:$A$12</c:f>
              <c:numCache>
                <c:formatCode>General</c:formatCode>
                <c:ptCount val="11"/>
                <c:pt idx="0">
                  <c:v>0</c:v>
                </c:pt>
                <c:pt idx="1">
                  <c:v>6</c:v>
                </c:pt>
                <c:pt idx="2">
                  <c:v>12</c:v>
                </c:pt>
                <c:pt idx="3">
                  <c:v>18</c:v>
                </c:pt>
                <c:pt idx="4">
                  <c:v>24</c:v>
                </c:pt>
                <c:pt idx="5">
                  <c:v>30</c:v>
                </c:pt>
                <c:pt idx="6">
                  <c:v>36</c:v>
                </c:pt>
                <c:pt idx="7">
                  <c:v>42</c:v>
                </c:pt>
                <c:pt idx="8">
                  <c:v>48</c:v>
                </c:pt>
                <c:pt idx="9">
                  <c:v>54</c:v>
                </c:pt>
                <c:pt idx="10">
                  <c:v>60</c:v>
                </c:pt>
              </c:numCache>
            </c:numRef>
          </c:cat>
          <c:val>
            <c:numRef>
              <c:f>'Chart Data'!$B$2:$B$12</c:f>
              <c:numCache>
                <c:formatCode>0</c:formatCode>
                <c:ptCount val="11"/>
                <c:pt idx="0">
                  <c:v>0</c:v>
                </c:pt>
                <c:pt idx="1">
                  <c:v>10</c:v>
                </c:pt>
                <c:pt idx="2">
                  <c:v>25</c:v>
                </c:pt>
                <c:pt idx="3">
                  <c:v>45</c:v>
                </c:pt>
                <c:pt idx="4">
                  <c:v>45</c:v>
                </c:pt>
                <c:pt idx="5">
                  <c:v>45</c:v>
                </c:pt>
                <c:pt idx="6">
                  <c:v>45</c:v>
                </c:pt>
                <c:pt idx="7">
                  <c:v>45</c:v>
                </c:pt>
                <c:pt idx="8">
                  <c:v>45</c:v>
                </c:pt>
                <c:pt idx="9">
                  <c:v>45</c:v>
                </c:pt>
                <c:pt idx="10">
                  <c:v>45</c:v>
                </c:pt>
              </c:numCache>
            </c:numRef>
          </c:val>
        </c:ser>
        <c:ser>
          <c:idx val="1"/>
          <c:order val="1"/>
          <c:tx>
            <c:v>Still pending</c:v>
          </c:tx>
          <c:spPr>
            <a:ln xmlns:a="http://schemas.openxmlformats.org/drawingml/2006/main" w="28575">
              <a:solidFill>
                <a:srgbClr val="B87821"/>
              </a:solidFill>
              <a:prstDash val="solid"/>
            </a:ln>
          </c:spPr>
          <c:marker>
            <c:symbol val="square"/>
            <c:size val="6"/>
            <c:spPr>
              <a:solidFill xmlns:a="http://schemas.openxmlformats.org/drawingml/2006/main">
                <a:srgbClr val="B87821"/>
              </a:solidFill>
            </c:spPr>
          </c:marker>
          <c:cat>
            <c:numRef>
              <c:f>'Chart Data'!$C$2:$C$12</c:f>
              <c:numCache>
                <c:formatCode>General</c:formatCode>
                <c:ptCount val="11"/>
                <c:pt idx="0">
                  <c:v>0</c:v>
                </c:pt>
                <c:pt idx="1">
                  <c:v>6</c:v>
                </c:pt>
                <c:pt idx="2">
                  <c:v>12</c:v>
                </c:pt>
                <c:pt idx="3">
                  <c:v>18</c:v>
                </c:pt>
                <c:pt idx="4">
                  <c:v>24</c:v>
                </c:pt>
                <c:pt idx="5">
                  <c:v>30</c:v>
                </c:pt>
                <c:pt idx="6">
                  <c:v>36</c:v>
                </c:pt>
                <c:pt idx="7">
                  <c:v>42</c:v>
                </c:pt>
                <c:pt idx="8">
                  <c:v>48</c:v>
                </c:pt>
                <c:pt idx="9">
                  <c:v>54</c:v>
                </c:pt>
                <c:pt idx="10">
                  <c:v>60</c:v>
                </c:pt>
              </c:numCache>
            </c:numRef>
          </c:cat>
          <c:val>
            <c:numRef>
              <c:f>'Chart Data'!$D$2:$D$12</c:f>
              <c:numCache>
                <c:formatCode>0</c:formatCode>
                <c:ptCount val="11"/>
                <c:pt idx="0">
                  <c:v>0</c:v>
                </c:pt>
                <c:pt idx="1">
                  <c:v>5</c:v>
                </c:pt>
                <c:pt idx="2">
                  <c:v>10</c:v>
                </c:pt>
                <c:pt idx="3">
                  <c:v>30</c:v>
                </c:pt>
                <c:pt idx="4">
                  <c:v>20</c:v>
                </c:pt>
                <c:pt idx="5">
                  <c:v>20</c:v>
                </c:pt>
                <c:pt idx="6">
                  <c:v>16</c:v>
                </c:pt>
                <c:pt idx="7">
                  <c:v>10</c:v>
                </c:pt>
                <c:pt idx="8">
                  <c:v>10</c:v>
                </c:pt>
                <c:pt idx="9">
                  <c:v>10</c:v>
                </c:pt>
                <c:pt idx="10">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Seconds since first POST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6324B"/>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Sampled records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10"/>
      </c:valAx>
    </c:plotArea>
    <c:legend>
      <c:legendPos val="t"/>
      <c:overlay val="0"/>
      <c:txPr>
        <a:bodyPr xmlns:a="http://schemas.openxmlformats.org/drawingml/2006/main" anchorCtr="1"/>
        <a:lstStyle xmlns:a="http://schemas.openxmlformats.org/drawingml/2006/main"/>
        <a:p xmlns:a="http://schemas.openxmlformats.org/drawingml/2006/main">
          <a:pPr>
            <a:defRPr sz="1275">
              <a:solidFill>
                <a:srgbClr val="16324B"/>
              </a:solidFill>
              <a:latin typeface="Arial"/>
              <a:ea typeface="Arial"/>
              <a:cs typeface="Arial"/>
            </a:defRPr>
          </a:pPr>
        </a:p>
      </c:txPr>
    </c:legend>
    <c:plotVisOnly val="1"/>
  </c:chart>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lineChart>
        <c:grouping val="standard"/>
        <c:ser>
          <c:idx val="0"/>
          <c:order val="0"/>
          <c:tx>
            <c:v>NSG</c:v>
          </c:tx>
          <c:spPr>
            <a:ln xmlns:a="http://schemas.openxmlformats.org/drawingml/2006/main" w="28575">
              <a:solidFill>
                <a:srgbClr val="167D80"/>
              </a:solidFill>
              <a:prstDash val="solid"/>
            </a:ln>
          </c:spPr>
          <c:marker>
            <c:symbol val="circle"/>
            <c:size val="8"/>
            <c:spPr>
              <a:solidFill xmlns:a="http://schemas.openxmlformats.org/drawingml/2006/main">
                <a:srgbClr val="167D80"/>
              </a:solidFill>
            </c:spPr>
          </c:marker>
          <c:cat>
            <c:numRef>
              <c:f>'Chart Data'!$A$2:$A$6</c:f>
              <c:numCache>
                <c:formatCode>General</c:formatCode>
                <c:ptCount val="5"/>
                <c:pt idx="0">
                  <c:v>1</c:v>
                </c:pt>
                <c:pt idx="1">
                  <c:v>5</c:v>
                </c:pt>
                <c:pt idx="2">
                  <c:v>10</c:v>
                </c:pt>
                <c:pt idx="3">
                  <c:v>20</c:v>
                </c:pt>
                <c:pt idx="4">
                  <c:v>30</c:v>
                </c:pt>
              </c:numCache>
            </c:numRef>
          </c:cat>
          <c:val>
            <c:numRef>
              <c:f>'Chart Data'!$B$2:$B$6</c:f>
              <c:numCache>
                <c:formatCode>0</c:formatCode>
                <c:ptCount val="5"/>
                <c:pt idx="0">
                  <c:v>3.06</c:v>
                </c:pt>
                <c:pt idx="1">
                  <c:v>3.05</c:v>
                </c:pt>
                <c:pt idx="2">
                  <c:v>11.13</c:v>
                </c:pt>
                <c:pt idx="3">
                  <c:v>24.24</c:v>
                </c:pt>
                <c:pt idx="4">
                  <c:v>43.4</c:v>
                </c:pt>
              </c:numCache>
            </c:numRef>
          </c:val>
        </c:ser>
        <c:ser>
          <c:idx val="1"/>
          <c:order val="1"/>
          <c:tx>
            <c:v>Citizen Science</c:v>
          </c:tx>
          <c:spPr>
            <a:ln xmlns:a="http://schemas.openxmlformats.org/drawingml/2006/main" w="28575">
              <a:solidFill>
                <a:srgbClr val="B87821"/>
              </a:solidFill>
              <a:prstDash val="solid"/>
            </a:ln>
          </c:spPr>
          <c:marker>
            <c:symbol val="square"/>
            <c:size val="8"/>
            <c:spPr>
              <a:solidFill xmlns:a="http://schemas.openxmlformats.org/drawingml/2006/main">
                <a:srgbClr val="B87821"/>
              </a:solidFill>
            </c:spPr>
          </c:marker>
          <c:cat>
            <c:numRef>
              <c:f>'Chart Data'!$C$2:$C$6</c:f>
              <c:numCache>
                <c:formatCode>General</c:formatCode>
                <c:ptCount val="5"/>
                <c:pt idx="0">
                  <c:v>1</c:v>
                </c:pt>
                <c:pt idx="1">
                  <c:v>5</c:v>
                </c:pt>
                <c:pt idx="2">
                  <c:v>10</c:v>
                </c:pt>
                <c:pt idx="3">
                  <c:v>20</c:v>
                </c:pt>
                <c:pt idx="4">
                  <c:v>30</c:v>
                </c:pt>
              </c:numCache>
            </c:numRef>
          </c:cat>
          <c:val>
            <c:numRef>
              <c:f>'Chart Data'!$D$2:$D$6</c:f>
              <c:numCache>
                <c:formatCode>0</c:formatCode>
                <c:ptCount val="5"/>
                <c:pt idx="0">
                  <c:v>2.06</c:v>
                </c:pt>
                <c:pt idx="1">
                  <c:v>4.06</c:v>
                </c:pt>
                <c:pt idx="2">
                  <c:v>11.13</c:v>
                </c:pt>
                <c:pt idx="3">
                  <c:v>24.25</c:v>
                </c:pt>
                <c:pt idx="4">
                  <c:v>43.41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Offered submissions / second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Observed 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10"/>
      </c:valAx>
    </c:plotArea>
    <c:legend>
      <c:legendPos val="t"/>
      <c:overlay val="0"/>
      <c:txPr>
        <a:bodyPr xmlns:a="http://schemas.openxmlformats.org/drawingml/2006/main" anchorCtr="1"/>
        <a:lstStyle xmlns:a="http://schemas.openxmlformats.org/drawingml/2006/main"/>
        <a:p xmlns:a="http://schemas.openxmlformats.org/drawingml/2006/main">
          <a:pPr>
            <a:defRPr sz="1275">
              <a:solidFill>
                <a:srgbClr val="16324B"/>
              </a:solidFill>
              <a:latin typeface="Arial"/>
              <a:ea typeface="Arial"/>
              <a:cs typeface="Arial"/>
            </a:defRPr>
          </a:pPr>
        </a:p>
      </c:txPr>
    </c:legend>
    <c:plotVisOnly val="1"/>
  </c:chart>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One revision</c:v>
          </c:tx>
          <c:spPr>
            <a:solidFill xmlns:a="http://schemas.openxmlformats.org/drawingml/2006/main">
              <a:srgbClr val="167D80"/>
            </a:solidFill>
          </c:spPr>
          <c:cat>
            <c:strRef>
              <c:f>'Chart Data'!$A$2:$A$4</c:f>
              <c:strCache>
                <c:ptCount val="3"/>
                <c:pt idx="0">
                  <c:v>normal</c:v>
                </c:pt>
                <c:pt idx="1">
                  <c:v>fault</c:v>
                </c:pt>
                <c:pt idx="2">
                  <c:v>timing</c:v>
                </c:pt>
              </c:strCache>
            </c:strRef>
          </c:cat>
          <c:val>
            <c:numRef>
              <c:f>'Chart Data'!$B$2:$B$4</c:f>
              <c:numCache>
                <c:formatCode>0</c:formatCode>
                <c:ptCount val="3"/>
                <c:pt idx="0">
                  <c:v>330</c:v>
                </c:pt>
                <c:pt idx="1">
                  <c:v>90</c:v>
                </c:pt>
                <c:pt idx="2">
                  <c:v>155</c:v>
                </c:pt>
              </c:numCache>
            </c:numRef>
          </c:val>
        </c:ser>
        <c:ser>
          <c:idx val="1"/>
          <c:order val="1"/>
          <c:tx>
            <c:v>More than one</c:v>
          </c:tx>
          <c:spPr>
            <a:solidFill xmlns:a="http://schemas.openxmlformats.org/drawingml/2006/main">
              <a:srgbClr val="B87821"/>
            </a:solidFill>
          </c:spPr>
          <c:cat>
            <c:strRef>
              <c:f>'Chart Data'!$C$2:$C$4</c:f>
              <c:strCache>
                <c:ptCount val="3"/>
                <c:pt idx="0">
                  <c:v>normal</c:v>
                </c:pt>
                <c:pt idx="1">
                  <c:v>fault</c:v>
                </c:pt>
                <c:pt idx="2">
                  <c:v>timing</c:v>
                </c:pt>
              </c:strCache>
            </c:strRef>
          </c:cat>
          <c:val>
            <c:numRef>
              <c:f>'Chart Data'!$D$2:$D$4</c:f>
              <c:numCache>
                <c:formatCode>0</c:formatCode>
                <c:ptCount val="3"/>
                <c:pt idx="0">
                  <c:v>0</c:v>
                </c:pt>
                <c:pt idx="1">
                  <c:v>0</c:v>
                </c:pt>
                <c:pt idx="2">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6324B"/>
                </a:solidFill>
                <a:latin typeface="Arial"/>
                <a:ea typeface="Arial"/>
                <a:cs typeface="Arial"/>
              </a:defRPr>
            </a:pPr>
          </a:p>
        </c:txPr>
        <c:crossAx val="48672768"/>
      </c:catAx>
      <c:valAx>
        <c:axId val="48672768"/>
        <c:scaling>
          <c:orientation val="minMax"/>
          <c:max val="350"/>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Artifacts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50"/>
      </c:valAx>
    </c:plotArea>
    <c:legend>
      <c:legendPos val="t"/>
      <c:overlay val="0"/>
      <c:txPr>
        <a:bodyPr xmlns:a="http://schemas.openxmlformats.org/drawingml/2006/main" anchorCtr="1"/>
        <a:lstStyle xmlns:a="http://schemas.openxmlformats.org/drawingml/2006/main"/>
        <a:p xmlns:a="http://schemas.openxmlformats.org/drawingml/2006/main">
          <a:pPr>
            <a:defRPr sz="1275">
              <a:solidFill>
                <a:srgbClr val="16324B"/>
              </a:solidFill>
              <a:latin typeface="Arial"/>
              <a:ea typeface="Arial"/>
              <a:cs typeface="Arial"/>
            </a:defRPr>
          </a:pPr>
        </a:p>
      </c:txPr>
    </c:legend>
    <c:plotVisOnly val="1"/>
  </c:chart>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POST JSON bytes</c:v>
          </c:tx>
          <c:spPr>
            <a:solidFill xmlns:a="http://schemas.openxmlformats.org/drawingml/2006/main">
              <a:srgbClr val="167D80"/>
            </a:solidFill>
          </c:spPr>
          <c:cat>
            <c:strRef>
              <c:f>'Chart Data'!$A$2:$A$5</c:f>
              <c:strCache>
                <c:ptCount val="4"/>
                <c:pt idx="0">
                  <c:v>1 KiB file</c:v>
                </c:pt>
                <c:pt idx="1">
                  <c:v>1 MiB file</c:v>
                </c:pt>
                <c:pt idx="2">
                  <c:v>10 MiB file</c:v>
                </c:pt>
                <c:pt idx="3">
                  <c:v>40 MiB file</c:v>
                </c:pt>
              </c:strCache>
            </c:strRef>
          </c:cat>
          <c:val>
            <c:numRef>
              <c:f>'Chart Data'!$B$2:$B$5</c:f>
              <c:numCache>
                <c:formatCode>0</c:formatCode>
                <c:ptCount val="4"/>
                <c:pt idx="0">
                  <c:v>450</c:v>
                </c:pt>
                <c:pt idx="1">
                  <c:v>453</c:v>
                </c:pt>
                <c:pt idx="2">
                  <c:v>454</c:v>
                </c:pt>
                <c:pt idx="3">
                  <c:v>454</c:v>
                </c:pt>
              </c:numCache>
            </c:numRef>
          </c:val>
        </c:ser>
        <c:dLbls>
          <c:txPr>
            <a:bodyPr xmlns:a="http://schemas.openxmlformats.org/drawingml/2006/main" anchorCtr="1"/>
            <a:lstStyle xmlns:a="http://schemas.openxmlformats.org/drawingml/2006/main"/>
            <a:p xmlns:a="http://schemas.openxmlformats.org/drawingml/2006/main">
              <a:pPr>
                <a:defRPr sz="1200">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crossAx val="48672768"/>
      </c:catAx>
      <c:valAx>
        <c:axId val="48672768"/>
        <c:scaling>
          <c:orientation val="minMax"/>
          <c:max val="500"/>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Request bytes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100"/>
      </c:valAx>
    </c:plotArea>
    <c:plotVisOnly val="1"/>
  </c:chart>
  <c:externalData r:id="rIdChartSnapshot1">
    <c:autoUpdate val="0"/>
  </c:externalData>
</c:chartSpace>
</file>

<file path=ppt/slides/charts/chart16.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Mean millicores</c:v>
          </c:tx>
          <c:spPr>
            <a:solidFill xmlns:a="http://schemas.openxmlformats.org/drawingml/2006/main">
              <a:srgbClr val="167D80"/>
            </a:solidFill>
          </c:spPr>
          <c:cat>
            <c:strRef>
              <c:f>'Chart Data'!$A$2:$A$9</c:f>
              <c:strCache>
                <c:ptCount val="8"/>
                <c:pt idx="0">
                  <c:v>API gateway</c:v>
                </c:pt>
                <c:pt idx="1">
                  <c:v>Fabric peers</c:v>
                </c:pt>
                <c:pt idx="2">
                  <c:v>PostgreSQL</c:v>
                </c:pt>
                <c:pt idx="3">
                  <c:v>Ledger gateways</c:v>
                </c:pt>
                <c:pt idx="4">
                  <c:v>History workers</c:v>
                </c:pt>
                <c:pt idx="5">
                  <c:v>Submission listeners</c:v>
                </c:pt>
                <c:pt idx="6">
                  <c:v>Fabric orderers</c:v>
                </c:pt>
                <c:pt idx="7">
                  <c:v>Submission workers</c:v>
                </c:pt>
              </c:strCache>
            </c:strRef>
          </c:cat>
          <c:val>
            <c:numRef>
              <c:f>'Chart Data'!$B$2:$B$9</c:f>
              <c:numCache>
                <c:formatCode>General</c:formatCode>
                <c:ptCount val="8"/>
                <c:pt idx="0">
                  <c:v>235.2</c:v>
                </c:pt>
                <c:pt idx="1">
                  <c:v>166.9</c:v>
                </c:pt>
                <c:pt idx="2">
                  <c:v>159</c:v>
                </c:pt>
                <c:pt idx="3">
                  <c:v>21.8</c:v>
                </c:pt>
                <c:pt idx="4">
                  <c:v>13.8</c:v>
                </c:pt>
                <c:pt idx="5">
                  <c:v>5.6</c:v>
                </c:pt>
                <c:pt idx="6">
                  <c:v>5.5</c:v>
                </c:pt>
                <c:pt idx="7">
                  <c:v>4.3</c:v>
                </c:pt>
              </c:numCache>
            </c:numRef>
          </c:val>
        </c:ser>
        <c:dLbls>
          <c:txPr>
            <a:bodyPr xmlns:a="http://schemas.openxmlformats.org/drawingml/2006/main" anchorCtr="1"/>
            <a:lstStyle xmlns:a="http://schemas.openxmlformats.org/drawingml/2006/main"/>
            <a:p xmlns:a="http://schemas.openxmlformats.org/drawingml/2006/main">
              <a:pPr>
                <a:defRPr sz="1050">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millicores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D6B75"/>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6324B"/>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17.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Mean working-set MiB</c:v>
          </c:tx>
          <c:spPr>
            <a:solidFill xmlns:a="http://schemas.openxmlformats.org/drawingml/2006/main">
              <a:srgbClr val="167D80"/>
            </a:solidFill>
          </c:spPr>
          <c:cat>
            <c:strRef>
              <c:f>'Chart Data'!$A$2:$A$9</c:f>
              <c:strCache>
                <c:ptCount val="8"/>
                <c:pt idx="0">
                  <c:v>Fabric peers</c:v>
                </c:pt>
                <c:pt idx="1">
                  <c:v>History workers</c:v>
                </c:pt>
                <c:pt idx="2">
                  <c:v>API gateway</c:v>
                </c:pt>
                <c:pt idx="3">
                  <c:v>Ledger gateways</c:v>
                </c:pt>
                <c:pt idx="4">
                  <c:v>Submission workers</c:v>
                </c:pt>
                <c:pt idx="5">
                  <c:v>Fabric orderers</c:v>
                </c:pt>
                <c:pt idx="6">
                  <c:v>PostgreSQL</c:v>
                </c:pt>
                <c:pt idx="7">
                  <c:v>Submission listeners</c:v>
                </c:pt>
              </c:strCache>
            </c:strRef>
          </c:cat>
          <c:val>
            <c:numRef>
              <c:f>'Chart Data'!$B$2:$B$9</c:f>
              <c:numCache>
                <c:formatCode>General</c:formatCode>
                <c:ptCount val="8"/>
                <c:pt idx="0">
                  <c:v>572.3</c:v>
                </c:pt>
                <c:pt idx="1">
                  <c:v>308.9</c:v>
                </c:pt>
                <c:pt idx="2">
                  <c:v>205.2</c:v>
                </c:pt>
                <c:pt idx="3">
                  <c:v>194.3</c:v>
                </c:pt>
                <c:pt idx="4">
                  <c:v>92.2</c:v>
                </c:pt>
                <c:pt idx="5">
                  <c:v>91.3</c:v>
                </c:pt>
                <c:pt idx="6">
                  <c:v>73.2</c:v>
                </c:pt>
                <c:pt idx="7">
                  <c:v>51.3</c:v>
                </c:pt>
              </c:numCache>
            </c:numRef>
          </c:val>
        </c:ser>
        <c:dLbls>
          <c:txPr>
            <a:bodyPr xmlns:a="http://schemas.openxmlformats.org/drawingml/2006/main" anchorCtr="1"/>
            <a:lstStyle xmlns:a="http://schemas.openxmlformats.org/drawingml/2006/main"/>
            <a:p xmlns:a="http://schemas.openxmlformats.org/drawingml/2006/main">
              <a:pPr>
                <a:defRPr sz="1050">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32"/>
        <c:axId val="48650112"/>
        <c:axId val="48672768"/>
      </c:barChart>
      <c:catAx>
        <c:axId val="48650112"/>
        <c:scaling>
          <c:orientation val="minMax"/>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working-set MiB</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D6B75"/>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6324B"/>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18.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Elapsed minutes</c:v>
          </c:tx>
          <c:spPr>
            <a:solidFill xmlns:a="http://schemas.openxmlformats.org/drawingml/2006/main">
              <a:srgbClr val="167D80"/>
            </a:solidFill>
          </c:spPr>
          <c:cat>
            <c:strRef>
              <c:f>'Chart Data'!$A$2:$A$9</c:f>
              <c:strCache>
                <c:ptCount val="8"/>
                <c:pt idx="0">
                  <c:v>identity ready</c:v>
                </c:pt>
                <c:pt idx="1">
                  <c:v>peer pod ready</c:v>
                </c:pt>
                <c:pt idx="2">
                  <c:v>Channel includes org three</c:v>
                </c:pt>
                <c:pt idx="3">
                  <c:v>Peer joined channel</c:v>
                </c:pt>
                <c:pt idx="4">
                  <c:v>Chaincode ready</c:v>
                </c:pt>
                <c:pt idx="5">
                  <c:v>App services ready</c:v>
                </c:pt>
                <c:pt idx="6">
                  <c:v>First artifact confirmed</c:v>
                </c:pt>
                <c:pt idx="7">
                  <c:v>First workflow confirmed</c:v>
                </c:pt>
              </c:strCache>
            </c:strRef>
          </c:cat>
          <c:val>
            <c:numRef>
              <c:f>'Chart Data'!$B$2:$B$9</c:f>
              <c:numCache>
                <c:formatCode>General</c:formatCode>
                <c:ptCount val="8"/>
                <c:pt idx="0">
                  <c:v>4.7</c:v>
                </c:pt>
                <c:pt idx="1">
                  <c:v>6.1</c:v>
                </c:pt>
                <c:pt idx="2">
                  <c:v>9.7</c:v>
                </c:pt>
                <c:pt idx="3">
                  <c:v>11.4</c:v>
                </c:pt>
                <c:pt idx="4">
                  <c:v>12.6</c:v>
                </c:pt>
                <c:pt idx="5">
                  <c:v>25.6</c:v>
                </c:pt>
                <c:pt idx="6">
                  <c:v>28.8</c:v>
                </c:pt>
                <c:pt idx="7">
                  <c:v>28.8</c:v>
                </c:pt>
              </c:numCache>
            </c:numRef>
          </c:val>
        </c:ser>
        <c:dLbls>
          <c:txPr>
            <a:bodyPr xmlns:a="http://schemas.openxmlformats.org/drawingml/2006/main" anchorCtr="1"/>
            <a:lstStyle xmlns:a="http://schemas.openxmlformats.org/drawingml/2006/main"/>
            <a:p xmlns:a="http://schemas.openxmlformats.org/drawingml/2006/main">
              <a:pPr>
                <a:defRPr sz="975">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35"/>
        <c:axId val="48650112"/>
        <c:axId val="48672768"/>
      </c:barChart>
      <c:catAx>
        <c:axId val="48650112"/>
        <c:scaling>
          <c:orientation val="minMax"/>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Minutes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D6B75"/>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6324B"/>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19.xml><?xml version="1.0" encoding="utf-8"?>
<c:chartSpace xmlns:c="http://schemas.openxmlformats.org/drawingml/2006/chart" xmlns:r="http://schemas.openxmlformats.org/officeDocument/2006/relationships">
  <c:lang val="en-US"/>
  <c:chart>
    <c:plotArea>
      <c:lineChart>
        <c:grouping val="standard"/>
        <c:ser>
          <c:idx val="0"/>
          <c:order val="0"/>
          <c:tx>
            <c:v>Fabric ready / 3</c:v>
          </c:tx>
          <c:spPr>
            <a:ln xmlns:a="http://schemas.openxmlformats.org/drawingml/2006/main" w="28575">
              <a:solidFill>
                <a:srgbClr val="167D80"/>
              </a:solidFill>
              <a:prstDash val="solid"/>
            </a:ln>
          </c:spPr>
          <c:marker>
            <c:symbol val="circle"/>
            <c:size val="6"/>
            <c:spPr>
              <a:solidFill xmlns:a="http://schemas.openxmlformats.org/drawingml/2006/main">
                <a:srgbClr val="167D80"/>
              </a:solidFill>
            </c:spPr>
          </c:marker>
          <c:cat>
            <c:numRef>
              <c:f>'Chart Data'!$A$2:$A$17</c:f>
              <c:numCache>
                <c:formatCode>General</c:formatCode>
                <c:ptCount val="16"/>
                <c:pt idx="0">
                  <c:v>0</c:v>
                </c:pt>
                <c:pt idx="1">
                  <c:v>2.1</c:v>
                </c:pt>
                <c:pt idx="2">
                  <c:v>4.2</c:v>
                </c:pt>
                <c:pt idx="3">
                  <c:v>6.1</c:v>
                </c:pt>
                <c:pt idx="4">
                  <c:v>8.2</c:v>
                </c:pt>
                <c:pt idx="5">
                  <c:v>10.1</c:v>
                </c:pt>
                <c:pt idx="6">
                  <c:v>12</c:v>
                </c:pt>
                <c:pt idx="7">
                  <c:v>14.1</c:v>
                </c:pt>
                <c:pt idx="8">
                  <c:v>16</c:v>
                </c:pt>
                <c:pt idx="9">
                  <c:v>18</c:v>
                </c:pt>
                <c:pt idx="10">
                  <c:v>20</c:v>
                </c:pt>
                <c:pt idx="11">
                  <c:v>22</c:v>
                </c:pt>
                <c:pt idx="12">
                  <c:v>24</c:v>
                </c:pt>
                <c:pt idx="13">
                  <c:v>26.1</c:v>
                </c:pt>
                <c:pt idx="14">
                  <c:v>28</c:v>
                </c:pt>
                <c:pt idx="15">
                  <c:v>30</c:v>
                </c:pt>
              </c:numCache>
            </c:numRef>
          </c:cat>
          <c:val>
            <c:numRef>
              <c:f>'Chart Data'!$B$2:$B$17</c:f>
              <c:numCache>
                <c:formatCode>0</c:formatCode>
                <c:ptCount val="16"/>
                <c:pt idx="0">
                  <c:v>0</c:v>
                </c:pt>
                <c:pt idx="1">
                  <c:v>1</c:v>
                </c:pt>
                <c:pt idx="2">
                  <c:v>1</c:v>
                </c:pt>
                <c:pt idx="3">
                  <c:v>1</c:v>
                </c:pt>
                <c:pt idx="4">
                  <c:v>2</c:v>
                </c:pt>
                <c:pt idx="5">
                  <c:v>2</c:v>
                </c:pt>
                <c:pt idx="6">
                  <c:v>2</c:v>
                </c:pt>
                <c:pt idx="7">
                  <c:v>3</c:v>
                </c:pt>
                <c:pt idx="8">
                  <c:v>3</c:v>
                </c:pt>
                <c:pt idx="9">
                  <c:v>3</c:v>
                </c:pt>
                <c:pt idx="10">
                  <c:v>3</c:v>
                </c:pt>
                <c:pt idx="11">
                  <c:v>3</c:v>
                </c:pt>
                <c:pt idx="12">
                  <c:v>3</c:v>
                </c:pt>
                <c:pt idx="13">
                  <c:v>3</c:v>
                </c:pt>
                <c:pt idx="14">
                  <c:v>3</c:v>
                </c:pt>
                <c:pt idx="15">
                  <c:v>3</c:v>
                </c:pt>
              </c:numCache>
            </c:numRef>
          </c:val>
        </c:ser>
        <c:ser>
          <c:idx val="1"/>
          <c:order val="1"/>
          <c:tx>
            <c:v>App ready / 2</c:v>
          </c:tx>
          <c:spPr>
            <a:ln xmlns:a="http://schemas.openxmlformats.org/drawingml/2006/main" w="28575">
              <a:solidFill>
                <a:srgbClr val="45749A"/>
              </a:solidFill>
              <a:prstDash val="solid"/>
            </a:ln>
          </c:spPr>
          <c:marker>
            <c:symbol val="square"/>
            <c:size val="6"/>
            <c:spPr>
              <a:solidFill xmlns:a="http://schemas.openxmlformats.org/drawingml/2006/main">
                <a:srgbClr val="45749A"/>
              </a:solidFill>
            </c:spPr>
          </c:marker>
          <c:cat>
            <c:numRef>
              <c:f>'Chart Data'!$C$2:$C$17</c:f>
              <c:numCache>
                <c:formatCode>General</c:formatCode>
                <c:ptCount val="16"/>
                <c:pt idx="0">
                  <c:v>0</c:v>
                </c:pt>
                <c:pt idx="1">
                  <c:v>2.1</c:v>
                </c:pt>
                <c:pt idx="2">
                  <c:v>4.2</c:v>
                </c:pt>
                <c:pt idx="3">
                  <c:v>6.1</c:v>
                </c:pt>
                <c:pt idx="4">
                  <c:v>8.2</c:v>
                </c:pt>
                <c:pt idx="5">
                  <c:v>10.1</c:v>
                </c:pt>
                <c:pt idx="6">
                  <c:v>12</c:v>
                </c:pt>
                <c:pt idx="7">
                  <c:v>14.1</c:v>
                </c:pt>
                <c:pt idx="8">
                  <c:v>16</c:v>
                </c:pt>
                <c:pt idx="9">
                  <c:v>18</c:v>
                </c:pt>
                <c:pt idx="10">
                  <c:v>20</c:v>
                </c:pt>
                <c:pt idx="11">
                  <c:v>22</c:v>
                </c:pt>
                <c:pt idx="12">
                  <c:v>24</c:v>
                </c:pt>
                <c:pt idx="13">
                  <c:v>26.1</c:v>
                </c:pt>
                <c:pt idx="14">
                  <c:v>28</c:v>
                </c:pt>
                <c:pt idx="15">
                  <c:v>30</c:v>
                </c:pt>
              </c:numCache>
            </c:numRef>
          </c:cat>
          <c:val>
            <c:numRef>
              <c:f>'Chart Data'!$D$2:$D$17</c:f>
              <c:numCache>
                <c:formatCode>0</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2</c:v>
                </c:pt>
                <c:pt idx="14">
                  <c:v>2</c:v>
                </c:pt>
                <c:pt idx="15">
                  <c:v>2</c:v>
                </c:pt>
              </c:numCache>
            </c:numRef>
          </c:val>
        </c:ser>
        <c:ser>
          <c:idx val="2"/>
          <c:order val="2"/>
          <c:tx>
            <c:v>Argo healthy / 1</c:v>
          </c:tx>
          <c:spPr>
            <a:ln xmlns:a="http://schemas.openxmlformats.org/drawingml/2006/main" w="28575">
              <a:solidFill>
                <a:srgbClr val="B87821"/>
              </a:solidFill>
              <a:prstDash val="solid"/>
            </a:ln>
          </c:spPr>
          <c:marker>
            <c:symbol val="diamond"/>
            <c:size val="6"/>
            <c:spPr>
              <a:solidFill xmlns:a="http://schemas.openxmlformats.org/drawingml/2006/main">
                <a:srgbClr val="B87821"/>
              </a:solidFill>
            </c:spPr>
          </c:marker>
          <c:cat>
            <c:numRef>
              <c:f>'Chart Data'!$E$2:$E$17</c:f>
              <c:numCache>
                <c:formatCode>General</c:formatCode>
                <c:ptCount val="16"/>
                <c:pt idx="0">
                  <c:v>0</c:v>
                </c:pt>
                <c:pt idx="1">
                  <c:v>2.1</c:v>
                </c:pt>
                <c:pt idx="2">
                  <c:v>4.2</c:v>
                </c:pt>
                <c:pt idx="3">
                  <c:v>6.1</c:v>
                </c:pt>
                <c:pt idx="4">
                  <c:v>8.2</c:v>
                </c:pt>
                <c:pt idx="5">
                  <c:v>10.1</c:v>
                </c:pt>
                <c:pt idx="6">
                  <c:v>12</c:v>
                </c:pt>
                <c:pt idx="7">
                  <c:v>14.1</c:v>
                </c:pt>
                <c:pt idx="8">
                  <c:v>16</c:v>
                </c:pt>
                <c:pt idx="9">
                  <c:v>18</c:v>
                </c:pt>
                <c:pt idx="10">
                  <c:v>20</c:v>
                </c:pt>
                <c:pt idx="11">
                  <c:v>22</c:v>
                </c:pt>
                <c:pt idx="12">
                  <c:v>24</c:v>
                </c:pt>
                <c:pt idx="13">
                  <c:v>26.1</c:v>
                </c:pt>
                <c:pt idx="14">
                  <c:v>28</c:v>
                </c:pt>
                <c:pt idx="15">
                  <c:v>30</c:v>
                </c:pt>
              </c:numCache>
            </c:numRef>
          </c:cat>
          <c:val>
            <c:numRef>
              <c:f>'Chart Data'!$F$2:$F$17</c:f>
              <c:numCache>
                <c:formatCode>0</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1</c:v>
                </c:pt>
                <c:pt idx="14">
                  <c:v>1</c:v>
                </c:pt>
                <c:pt idx="15">
                  <c:v>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Minutes since first snapshot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16324B"/>
                </a:solidFill>
                <a:latin typeface="Arial"/>
                <a:ea typeface="Arial"/>
                <a:cs typeface="Arial"/>
              </a:defRPr>
            </a:pPr>
          </a:p>
        </c:txPr>
        <c:crossAx val="48672768"/>
      </c:catAx>
      <c:valAx>
        <c:axId val="48672768"/>
        <c:scaling>
          <c:orientation val="minMax"/>
          <c:max val="3.2"/>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Ready components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D6B75"/>
                </a:solidFill>
                <a:latin typeface="Arial"/>
                <a:ea typeface="Arial"/>
                <a:cs typeface="Arial"/>
              </a:defRPr>
            </a:pPr>
          </a:p>
        </c:txPr>
        <c:crossAx val="48650112"/>
        <c:crossBetween val="between"/>
        <c:majorUnit val="1"/>
      </c:valAx>
    </c:plotArea>
    <c:legend>
      <c:legendPos val="t"/>
      <c:overlay val="0"/>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legend>
    <c:plotVisOnly val="1"/>
  </c:chart>
  <c:externalData r:id="rIdChartSnapshot1">
    <c:autoUpdate val="0"/>
  </c:externalData>
</c:chartSpace>
</file>

<file path=ppt/slides/charts/chart2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Seconds</c:v>
          </c:tx>
          <c:spPr>
            <a:solidFill xmlns:a="http://schemas.openxmlformats.org/drawingml/2006/main">
              <a:srgbClr val="167D80"/>
            </a:solidFill>
          </c:spPr>
          <c:cat>
            <c:strRef>
              <c:f>'Chart Data'!$A$2:$A$5</c:f>
              <c:strCache>
                <c:ptCount val="4"/>
                <c:pt idx="0">
                  <c:v>API accepted</c:v>
                </c:pt>
                <c:pt idx="1">
                  <c:v>Ledger confirmed</c:v>
                </c:pt>
                <c:pt idx="2">
                  <c:v>History readable</c:v>
                </c:pt>
                <c:pt idx="3">
                  <c:v>Catalog visible</c:v>
                </c:pt>
              </c:strCache>
            </c:strRef>
          </c:cat>
          <c:val>
            <c:numRef>
              <c:f>'Chart Data'!$B$2:$B$5</c:f>
              <c:numCache>
                <c:formatCode>0.0</c:formatCode>
                <c:ptCount val="4"/>
                <c:pt idx="0">
                  <c:v>0.08</c:v>
                </c:pt>
                <c:pt idx="1">
                  <c:v>3.33</c:v>
                </c:pt>
                <c:pt idx="2">
                  <c:v>3.69</c:v>
                </c:pt>
                <c:pt idx="3">
                  <c:v>3.74</c:v>
                </c:pt>
              </c:numCache>
            </c:numRef>
          </c:val>
        </c:ser>
        <c:dLbls>
          <c:txPr>
            <a:bodyPr xmlns:a="http://schemas.openxmlformats.org/drawingml/2006/main" anchorCtr="1"/>
            <a:lstStyle xmlns:a="http://schemas.openxmlformats.org/drawingml/2006/main"/>
            <a:p xmlns:a="http://schemas.openxmlformats.org/drawingml/2006/main">
              <a:pPr>
                <a:defRPr sz="1050">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6324B"/>
                </a:solidFill>
                <a:latin typeface="Arial"/>
                <a:ea typeface="Arial"/>
                <a:cs typeface="Arial"/>
              </a:defRPr>
            </a:pPr>
          </a:p>
        </c:txPr>
        <c:crossAx val="48672768"/>
      </c:catAx>
      <c:valAx>
        <c:axId val="48672768"/>
        <c:scaling>
          <c:orientation val="minMax"/>
          <c:max val="4.2"/>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D6B75"/>
                </a:solidFill>
                <a:latin typeface="Arial"/>
                <a:ea typeface="Arial"/>
                <a:cs typeface="Arial"/>
              </a:defRPr>
            </a:pPr>
          </a:p>
        </c:txPr>
        <c:crossAx val="48650112"/>
        <c:crossBetween val="between"/>
        <c:majorUnit val="1"/>
      </c:valAx>
    </c:plotArea>
    <c:plotVisOnly val="1"/>
  </c:chart>
  <c:externalData r:id="rIdChartSnapshot1">
    <c:autoUpdate val="0"/>
  </c:externalData>
</c:chartSpace>
</file>

<file path=ppt/slides/charts/chart2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Confirmation seconds</c:v>
          </c:tx>
          <c:spPr>
            <a:solidFill xmlns:a="http://schemas.openxmlformats.org/drawingml/2006/main">
              <a:srgbClr val="167D80"/>
            </a:solidFill>
          </c:spPr>
          <c:cat>
            <c:strRef>
              <c:f>'Chart Data'!$A$2:$A$4</c:f>
              <c:strCache>
                <c:ptCount val="3"/>
                <c:pt idx="0">
                  <c:v>NSG</c:v>
                </c:pt>
                <c:pt idx="1">
                  <c:v>Citizen Science</c:v>
                </c:pt>
                <c:pt idx="2">
                  <c:v>Magnetic Arch</c:v>
                </c:pt>
              </c:strCache>
            </c:strRef>
          </c:cat>
          <c:val>
            <c:numRef>
              <c:f>'Chart Data'!$B$2:$B$4</c:f>
              <c:numCache>
                <c:formatCode>0.0</c:formatCode>
                <c:ptCount val="3"/>
                <c:pt idx="0">
                  <c:v>3.33</c:v>
                </c:pt>
                <c:pt idx="1">
                  <c:v>2.27</c:v>
                </c:pt>
                <c:pt idx="2">
                  <c:v>3.33</c:v>
                </c:pt>
              </c:numCache>
            </c:numRef>
          </c:val>
        </c:ser>
        <c:dLbls>
          <c:txPr>
            <a:bodyPr xmlns:a="http://schemas.openxmlformats.org/drawingml/2006/main" anchorCtr="1"/>
            <a:lstStyle xmlns:a="http://schemas.openxmlformats.org/drawingml/2006/main"/>
            <a:p xmlns:a="http://schemas.openxmlformats.org/drawingml/2006/main">
              <a:pPr>
                <a:defRPr sz="1050">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crossAx val="48672768"/>
      </c:catAx>
      <c:valAx>
        <c:axId val="48672768"/>
        <c:scaling>
          <c:orientation val="minMax"/>
          <c:max val="4"/>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D6B75"/>
                </a:solidFill>
                <a:latin typeface="Arial"/>
                <a:ea typeface="Arial"/>
                <a:cs typeface="Arial"/>
              </a:defRPr>
            </a:pPr>
          </a:p>
        </c:txPr>
        <c:crossAx val="48650112"/>
        <c:crossBetween val="between"/>
        <c:majorUnit val="1"/>
      </c:valAx>
    </c:plotArea>
    <c:plotVisOnly val="1"/>
  </c:chart>
  <c:externalData r:id="rIdChartSnapshot1">
    <c:autoUpdate val="0"/>
  </c:externalData>
</c:chartSpace>
</file>

<file path=ppt/slides/charts/chart2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Before</c:v>
          </c:tx>
          <c:spPr>
            <a:solidFill xmlns:a="http://schemas.openxmlformats.org/drawingml/2006/main">
              <a:srgbClr val="45749A"/>
            </a:solidFill>
          </c:spPr>
          <c:cat>
            <c:strRef>
              <c:f>'Chart Data'!$A$2:$A$4</c:f>
              <c:strCache>
                <c:ptCount val="3"/>
                <c:pt idx="0">
                  <c:v>Fabric</c:v>
                </c:pt>
                <c:pt idx="1">
                  <c:v>Application</c:v>
                </c:pt>
                <c:pt idx="2">
                  <c:v>Other</c:v>
                </c:pt>
              </c:strCache>
            </c:strRef>
          </c:cat>
          <c:val>
            <c:numRef>
              <c:f>'Chart Data'!$B$2:$B$4</c:f>
              <c:numCache>
                <c:formatCode>0</c:formatCode>
                <c:ptCount val="3"/>
                <c:pt idx="0">
                  <c:v>14</c:v>
                </c:pt>
                <c:pt idx="1">
                  <c:v>21</c:v>
                </c:pt>
                <c:pt idx="2">
                  <c:v>36</c:v>
                </c:pt>
              </c:numCache>
            </c:numRef>
          </c:val>
        </c:ser>
        <c:ser>
          <c:idx val="1"/>
          <c:order val="1"/>
          <c:tx>
            <c:v>After</c:v>
          </c:tx>
          <c:spPr>
            <a:solidFill xmlns:a="http://schemas.openxmlformats.org/drawingml/2006/main">
              <a:srgbClr val="167D80"/>
            </a:solidFill>
          </c:spPr>
          <c:cat>
            <c:strRef>
              <c:f>'Chart Data'!$C$2:$C$4</c:f>
              <c:strCache>
                <c:ptCount val="3"/>
                <c:pt idx="0">
                  <c:v>Fabric</c:v>
                </c:pt>
                <c:pt idx="1">
                  <c:v>Application</c:v>
                </c:pt>
                <c:pt idx="2">
                  <c:v>Other</c:v>
                </c:pt>
              </c:strCache>
            </c:strRef>
          </c:cat>
          <c:val>
            <c:numRef>
              <c:f>'Chart Data'!$D$2:$D$4</c:f>
              <c:numCache>
                <c:formatCode>0</c:formatCode>
                <c:ptCount val="3"/>
                <c:pt idx="0">
                  <c:v>17</c:v>
                </c:pt>
                <c:pt idx="1">
                  <c:v>23</c:v>
                </c:pt>
                <c:pt idx="2">
                  <c:v>36</c:v>
                </c:pt>
              </c:numCache>
            </c:numRef>
          </c:val>
        </c:ser>
        <c:dLbls>
          <c:txPr>
            <a:bodyPr xmlns:a="http://schemas.openxmlformats.org/drawingml/2006/main" anchorCtr="1"/>
            <a:lstStyle xmlns:a="http://schemas.openxmlformats.org/drawingml/2006/main"/>
            <a:p xmlns:a="http://schemas.openxmlformats.org/drawingml/2006/main">
              <a:pPr>
                <a:defRPr sz="1050">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crossAx val="48672768"/>
      </c:catAx>
      <c:valAx>
        <c:axId val="48672768"/>
        <c:scaling>
          <c:orientation val="minMax"/>
          <c:max val="40"/>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Ready pods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D6B75"/>
                </a:solidFill>
                <a:latin typeface="Arial"/>
                <a:ea typeface="Arial"/>
                <a:cs typeface="Arial"/>
              </a:defRPr>
            </a:pPr>
          </a:p>
        </c:txPr>
        <c:crossAx val="48650112"/>
        <c:crossBetween val="between"/>
        <c:majorUnit val="10"/>
      </c:valAx>
    </c:plotArea>
    <c:legend>
      <c:legendPos val="t"/>
      <c:overlay val="0"/>
      <c:txPr>
        <a:bodyPr xmlns:a="http://schemas.openxmlformats.org/drawingml/2006/main" anchorCtr="1"/>
        <a:lstStyle xmlns:a="http://schemas.openxmlformats.org/drawingml/2006/main"/>
        <a:p xmlns:a="http://schemas.openxmlformats.org/drawingml/2006/main">
          <a:pPr>
            <a:defRPr sz="1200">
              <a:solidFill>
                <a:srgbClr val="16324B"/>
              </a:solidFill>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4B58E2C-A160-46C5-B3AC-8EAD07119707}"/>
              </a:ext>
            </a:extLst>
          </p:cNvPr>
          <p:cNvSpPr>
            <a:spLocks xmlns:a="http://schemas.openxmlformats.org/drawingml/2006/main" noGrp="1"/>
          </p:cNvSpPr>
          <p:nvPr/>
        </p:nvSpPr>
        <p:spPr>
          <a:xfrm xmlns:a="http://schemas.openxmlformats.org/drawingml/2006/main">
            <a:off x="704850" y="13716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6324B"/>
                </a:solidFill>
                <a:latin typeface="Arial"/>
                <a:ea typeface="Arial"/>
                <a:cs typeface="Arial"/>
              </a:defRPr>
            </a:pPr>
            <a:r>
              <a:rPr sz="3600" b="1">
                <a:solidFill>
                  <a:srgbClr val="16324B"/>
                </a:solidFill>
                <a:latin typeface="Arial"/>
                <a:ea typeface="Arial"/>
                <a:cs typeface="Arial"/>
              </a:rPr>
              <a:t>AWS evidence: two to three organizations</a:t>
            </a:r>
          </a:p>
        </p:txBody>
      </p:sp>
      <p:sp>
        <p:nvSpPr>
          <p:cNvPr id="2" name="">
            <a:extLst xmlns:a="http://schemas.openxmlformats.org/drawingml/2006/main">
              <a:ext uri="{FF2B5EF4-FFF2-40B4-BE49-F238E27FC236}">
                <a16:creationId xmlns:a16="http://schemas.microsoft.com/office/drawing/2014/main" id="{DCBF6834-5626-4B99-8B1A-016A48364C5A}"/>
              </a:ext>
            </a:extLst>
          </p:cNvPr>
          <p:cNvSpPr>
            <a:spLocks xmlns:a="http://schemas.openxmlformats.org/drawingml/2006/main" noGrp="1"/>
          </p:cNvSpPr>
          <p:nvPr/>
        </p:nvSpPr>
        <p:spPr>
          <a:xfrm xmlns:a="http://schemas.openxmlformats.org/drawingml/2006/main">
            <a:off x="723900" y="22383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7D80"/>
                </a:solidFill>
                <a:latin typeface="Arial"/>
                <a:ea typeface="Arial"/>
                <a:cs typeface="Arial"/>
              </a:defRPr>
            </a:pPr>
            <a:r>
              <a:rPr sz="1875" b="0">
                <a:solidFill>
                  <a:srgbClr val="167D80"/>
                </a:solidFill>
                <a:latin typeface="Arial"/>
                <a:ea typeface="Arial"/>
                <a:cs typeface="Arial"/>
              </a:rPr>
              <a:t>Open Science Chain  |  US-RSE 2026</a:t>
            </a:r>
          </a:p>
        </p:txBody>
      </p:sp>
      <p:sp>
        <p:nvSpPr>
          <p:cNvPr id="3" name="">
            <a:extLst xmlns:a="http://schemas.openxmlformats.org/drawingml/2006/main">
              <a:ext uri="{FF2B5EF4-FFF2-40B4-BE49-F238E27FC236}">
                <a16:creationId xmlns:a16="http://schemas.microsoft.com/office/drawing/2014/main" id="{904E777E-CB3F-4651-848E-4A927A0C5155}"/>
              </a:ext>
            </a:extLst>
          </p:cNvPr>
          <p:cNvSpPr>
            <a:spLocks xmlns:a="http://schemas.openxmlformats.org/drawingml/2006/main" noGrp="1"/>
          </p:cNvSpPr>
          <p:nvPr/>
        </p:nvSpPr>
        <p:spPr>
          <a:xfrm xmlns:a="http://schemas.openxmlformats.org/drawingml/2006/main">
            <a:off x="723900" y="328612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324B"/>
                </a:solidFill>
                <a:latin typeface="Arial"/>
                <a:ea typeface="Arial"/>
                <a:cs typeface="Arial"/>
              </a:defRPr>
            </a:pPr>
            <a:r>
              <a:rPr sz="1950" b="0">
                <a:solidFill>
                  <a:srgbClr val="16324B"/>
                </a:solidFill>
                <a:latin typeface="Arial"/>
                <a:ea typeface="Arial"/>
                <a:cs typeface="Arial"/>
              </a:rPr>
              <a:t>575 load submissions across Neuroscience Gateway and Citizen Science</a:t>
            </a:r>
          </a:p>
        </p:txBody>
      </p:sp>
      <p:sp>
        <p:nvSpPr>
          <p:cNvPr id="4" name="">
            <a:extLst xmlns:a="http://schemas.openxmlformats.org/drawingml/2006/main">
              <a:ext uri="{FF2B5EF4-FFF2-40B4-BE49-F238E27FC236}">
                <a16:creationId xmlns:a16="http://schemas.microsoft.com/office/drawing/2014/main" id="{F8DDB0DD-6085-443A-92F0-EBDC6E90E9E3}"/>
              </a:ext>
            </a:extLst>
          </p:cNvPr>
          <p:cNvSpPr>
            <a:spLocks xmlns:a="http://schemas.openxmlformats.org/drawingml/2006/main" noGrp="1"/>
          </p:cNvSpPr>
          <p:nvPr/>
        </p:nvSpPr>
        <p:spPr>
          <a:xfrm xmlns:a="http://schemas.openxmlformats.org/drawingml/2006/main">
            <a:off x="723900" y="3914775"/>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D6B75"/>
                </a:solidFill>
                <a:latin typeface="Arial"/>
                <a:ea typeface="Arial"/>
                <a:cs typeface="Arial"/>
              </a:defRPr>
            </a:pPr>
            <a:r>
              <a:rPr sz="1575" b="0">
                <a:solidFill>
                  <a:srgbClr val="5D6B75"/>
                </a:solidFill>
                <a:latin typeface="Arial"/>
                <a:ea typeface="Arial"/>
                <a:cs typeface="Arial"/>
              </a:rPr>
              <a:t>Added privacy and resource checks. One transaction-pointer discrepancy remains.</a:t>
            </a:r>
          </a:p>
        </p:txBody>
      </p:sp>
      <p:sp>
        <p:nvSpPr>
          <p:cNvPr id="5" name="">
            <a:extLst xmlns:a="http://schemas.openxmlformats.org/drawingml/2006/main">
              <a:ext uri="{FF2B5EF4-FFF2-40B4-BE49-F238E27FC236}">
                <a16:creationId xmlns:a16="http://schemas.microsoft.com/office/drawing/2014/main" id="{94234E37-FB14-45CE-B4BA-A6AA3E220F60}"/>
              </a:ext>
            </a:extLst>
          </p:cNvPr>
          <p:cNvSpPr>
            <a:spLocks xmlns:a="http://schemas.openxmlformats.org/drawingml/2006/main" noGrp="1"/>
          </p:cNvSpPr>
          <p:nvPr/>
        </p:nvSpPr>
        <p:spPr>
          <a:xfrm xmlns:a="http://schemas.openxmlformats.org/drawingml/2006/main">
            <a:off x="723900" y="64674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Tree>
    <p:extLst>
      <p:ext uri="{BB962C8B-B14F-4D97-AF65-F5344CB8AC3E}">
        <p14:creationId xmlns:p14="http://schemas.microsoft.com/office/powerpoint/2010/main" val="6532313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9E04A5B-7DAE-4EA6-A372-7639B98C5BB1}"/>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Submission to visible provenance</a:t>
            </a:r>
          </a:p>
        </p:txBody>
      </p:sp>
      <p:sp>
        <p:nvSpPr>
          <p:cNvPr id="2" name="">
            <a:extLst xmlns:a="http://schemas.openxmlformats.org/drawingml/2006/main">
              <a:ext uri="{FF2B5EF4-FFF2-40B4-BE49-F238E27FC236}">
                <a16:creationId xmlns:a16="http://schemas.microsoft.com/office/drawing/2014/main" id="{CBF7FA55-C276-4F53-985E-E8C8AC739DD8}"/>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Elapsed since POST start, one public artifact probe per organization</a:t>
            </a:r>
          </a:p>
        </p:txBody>
      </p:sp>
      <p:sp>
        <p:nvSpPr>
          <p:cNvPr id="3" name="">
            <a:extLst xmlns:a="http://schemas.openxmlformats.org/drawingml/2006/main">
              <a:ext uri="{FF2B5EF4-FFF2-40B4-BE49-F238E27FC236}">
                <a16:creationId xmlns:a16="http://schemas.microsoft.com/office/drawing/2014/main" id="{3E262930-11DF-4DD5-949B-AF158B937A2D}"/>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A407BE11-6861-4483-A755-DD9265795213}"/>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02</a:t>
            </a:r>
          </a:p>
        </p:txBody>
      </p:sp>
      <p:graphicFrame>
        <p:nvGraphicFramePr>
          <p:cNvPr id="11" name="Chart"/>
          <p:cNvGraphicFramePr/>
          <p:nvPr/>
        </p:nvGraphicFramePr>
        <p:xfrm>
          <a:off xmlns:a="http://schemas.openxmlformats.org/drawingml/2006/main" x="990600" y="1809750"/>
          <a:ext xmlns:a="http://schemas.openxmlformats.org/drawingml/2006/main" cx="10191750" cy="3524250"/>
        </p:xfrm>
        <a:graphic xmlns:a="http://schemas.openxmlformats.org/drawingml/2006/main">
          <a:graphicData uri="http://schemas.openxmlformats.org/drawingml/2006/chart">
            <c:chart xmlns:r="http://schemas.openxmlformats.org/officeDocument/2006/relationships" xmlns:c="http://schemas.openxmlformats.org/drawingml/2006/chart" r:id="R8cf9d667cf9a44b8"/>
          </a:graphicData>
        </a:graphic>
      </p:graphicFrame>
      <p:sp>
        <p:nvSpPr>
          <p:cNvPr id="6" name="">
            <a:extLst xmlns:a="http://schemas.openxmlformats.org/drawingml/2006/main">
              <a:ext uri="{FF2B5EF4-FFF2-40B4-BE49-F238E27FC236}">
                <a16:creationId xmlns:a16="http://schemas.microsoft.com/office/drawing/2014/main" id="{EE29C1DF-CD4E-4590-8158-4B2B706C9945}"/>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The API accepted both requests in 60 ms. Ledger, history and catalog checks succeeded by about 2.4 seconds.</a:t>
            </a:r>
          </a:p>
        </p:txBody>
      </p:sp>
    </p:spTree>
    <p:extLst>
      <p:ext uri="{BB962C8B-B14F-4D97-AF65-F5344CB8AC3E}">
        <p14:creationId xmlns:p14="http://schemas.microsoft.com/office/powerpoint/2010/main" val="18656969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32F363-A02C-4DDA-BA2D-A863D770ACBB}"/>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Sequential artifact confirmation</a:t>
            </a:r>
          </a:p>
        </p:txBody>
      </p:sp>
      <p:sp>
        <p:nvSpPr>
          <p:cNvPr id="2" name="">
            <a:extLst xmlns:a="http://schemas.openxmlformats.org/drawingml/2006/main">
              <a:ext uri="{FF2B5EF4-FFF2-40B4-BE49-F238E27FC236}">
                <a16:creationId xmlns:a16="http://schemas.microsoft.com/office/drawing/2014/main" id="{11229CEF-9F88-4E05-BDF1-FC28028433DE}"/>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Eight private artifact probes per organization, in submission order</a:t>
            </a:r>
          </a:p>
        </p:txBody>
      </p:sp>
      <p:sp>
        <p:nvSpPr>
          <p:cNvPr id="3" name="">
            <a:extLst xmlns:a="http://schemas.openxmlformats.org/drawingml/2006/main">
              <a:ext uri="{FF2B5EF4-FFF2-40B4-BE49-F238E27FC236}">
                <a16:creationId xmlns:a16="http://schemas.microsoft.com/office/drawing/2014/main" id="{811AE7AB-D753-47BF-921B-919B9B6A8514}"/>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5508B42E-7B12-4B28-8DB2-E739A532F551}"/>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03</a:t>
            </a:r>
          </a:p>
        </p:txBody>
      </p:sp>
      <p:graphicFrame>
        <p:nvGraphicFramePr>
          <p:cNvPr id="11" name="Chart"/>
          <p:cNvGraphicFramePr/>
          <p:nvPr/>
        </p:nvGraphicFramePr>
        <p:xfrm>
          <a:off xmlns:a="http://schemas.openxmlformats.org/drawingml/2006/main" x="1000125" y="1733550"/>
          <a:ext xmlns:a="http://schemas.openxmlformats.org/drawingml/2006/main" cx="10144125" cy="3714750"/>
        </p:xfrm>
        <a:graphic xmlns:a="http://schemas.openxmlformats.org/drawingml/2006/main">
          <a:graphicData uri="http://schemas.openxmlformats.org/drawingml/2006/chart">
            <c:chart xmlns:r="http://schemas.openxmlformats.org/officeDocument/2006/relationships" xmlns:c="http://schemas.openxmlformats.org/drawingml/2006/chart" r:id="R69fac7e255c44725"/>
          </a:graphicData>
        </a:graphic>
      </p:graphicFrame>
      <p:sp>
        <p:nvSpPr>
          <p:cNvPr id="6" name="">
            <a:extLst xmlns:a="http://schemas.openxmlformats.org/drawingml/2006/main">
              <a:ext uri="{FF2B5EF4-FFF2-40B4-BE49-F238E27FC236}">
                <a16:creationId xmlns:a16="http://schemas.microsoft.com/office/drawing/2014/main" id="{D9E42ACC-0792-4365-99A6-AAE153B52459}"/>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All 16 confirmed. NSG’s first probe took 3.32 seconds; later observations clustered near 2.2 seconds.</a:t>
            </a:r>
          </a:p>
        </p:txBody>
      </p:sp>
    </p:spTree>
    <p:extLst>
      <p:ext uri="{BB962C8B-B14F-4D97-AF65-F5344CB8AC3E}">
        <p14:creationId xmlns:p14="http://schemas.microsoft.com/office/powerpoint/2010/main" val="9665159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A96A6CA-D09B-48DA-9770-F2BDAC1D01A5}"/>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Organization boundaries</a:t>
            </a:r>
          </a:p>
        </p:txBody>
      </p:sp>
      <p:sp>
        <p:nvSpPr>
          <p:cNvPr id="2" name="">
            <a:extLst xmlns:a="http://schemas.openxmlformats.org/drawingml/2006/main">
              <a:ext uri="{FF2B5EF4-FFF2-40B4-BE49-F238E27FC236}">
                <a16:creationId xmlns:a16="http://schemas.microsoft.com/office/drawing/2014/main" id="{F4A57B03-F45C-49A2-A736-1FCE73CDA950}"/>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Ten access checks against private, confirmed records</a:t>
            </a:r>
          </a:p>
        </p:txBody>
      </p:sp>
      <p:sp>
        <p:nvSpPr>
          <p:cNvPr id="3" name="">
            <a:extLst xmlns:a="http://schemas.openxmlformats.org/drawingml/2006/main">
              <a:ext uri="{FF2B5EF4-FFF2-40B4-BE49-F238E27FC236}">
                <a16:creationId xmlns:a16="http://schemas.microsoft.com/office/drawing/2014/main" id="{AFEF125A-F0E5-4E70-BCDE-553EEE5D0DE4}"/>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D143409A-A097-46E4-9E9E-116D06407EA5}"/>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86C7246C-C747-4BA3-8A9E-D71E9B2BA01B}"/>
              </a:ext>
            </a:extLst>
          </p:cNvPr>
          <p:cNvSpPr>
            <a:spLocks xmlns:a="http://schemas.openxmlformats.org/drawingml/2006/main" noGrp="1"/>
          </p:cNvSpPr>
          <p:nvPr/>
        </p:nvSpPr>
        <p:spPr>
          <a:xfrm xmlns:a="http://schemas.openxmlformats.org/drawingml/2006/main">
            <a:off x="904875" y="17526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6324B"/>
                </a:solidFill>
                <a:latin typeface="Arial"/>
                <a:ea typeface="Arial"/>
                <a:cs typeface="Arial"/>
              </a:defRPr>
            </a:pPr>
            <a:r>
              <a:rPr sz="1650" b="0">
                <a:solidFill>
                  <a:srgbClr val="16324B"/>
                </a:solidFill>
                <a:latin typeface="Arial"/>
                <a:ea typeface="Arial"/>
                <a:cs typeface="Arial"/>
              </a:rPr>
              <a:t>Own private artifact reads</a:t>
            </a:r>
          </a:p>
        </p:txBody>
      </p:sp>
      <p:sp>
        <p:nvSpPr>
          <p:cNvPr id="6" name="">
            <a:extLst xmlns:a="http://schemas.openxmlformats.org/drawingml/2006/main">
              <a:ext uri="{FF2B5EF4-FFF2-40B4-BE49-F238E27FC236}">
                <a16:creationId xmlns:a16="http://schemas.microsoft.com/office/drawing/2014/main" id="{D4D1B243-448F-4DD7-B26A-E98771B68874}"/>
              </a:ext>
            </a:extLst>
          </p:cNvPr>
          <p:cNvSpPr>
            <a:spLocks xmlns:a="http://schemas.openxmlformats.org/drawingml/2006/main" noGrp="1"/>
          </p:cNvSpPr>
          <p:nvPr/>
        </p:nvSpPr>
        <p:spPr>
          <a:xfrm xmlns:a="http://schemas.openxmlformats.org/drawingml/2006/main">
            <a:off x="7477125" y="175260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0"/>
                </a:solidFill>
                <a:latin typeface="Arial"/>
                <a:ea typeface="Arial"/>
                <a:cs typeface="Arial"/>
              </a:defRPr>
            </a:pPr>
            <a:r>
              <a:rPr sz="1650" b="1">
                <a:solidFill>
                  <a:srgbClr val="167D80"/>
                </a:solidFill>
                <a:latin typeface="Arial"/>
                <a:ea typeface="Arial"/>
                <a:cs typeface="Arial"/>
              </a:rPr>
              <a:t>2 of 2 returned HTTP 200</a:t>
            </a:r>
          </a:p>
        </p:txBody>
      </p:sp>
      <p:sp>
        <p:nvSpPr>
          <p:cNvPr id="7" name="">
            <a:extLst xmlns:a="http://schemas.openxmlformats.org/drawingml/2006/main">
              <a:ext uri="{FF2B5EF4-FFF2-40B4-BE49-F238E27FC236}">
                <a16:creationId xmlns:a16="http://schemas.microsoft.com/office/drawing/2014/main" id="{D584664A-556E-4B14-90BC-2DD9B26A2B69}"/>
              </a:ext>
            </a:extLst>
          </p:cNvPr>
          <p:cNvSpPr>
            <a:spLocks xmlns:a="http://schemas.openxmlformats.org/drawingml/2006/main" noGrp="1"/>
          </p:cNvSpPr>
          <p:nvPr/>
        </p:nvSpPr>
        <p:spPr>
          <a:xfrm xmlns:a="http://schemas.openxmlformats.org/drawingml/2006/main">
            <a:off x="904875" y="239077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6324B"/>
                </a:solidFill>
                <a:latin typeface="Arial"/>
                <a:ea typeface="Arial"/>
                <a:cs typeface="Arial"/>
              </a:defRPr>
            </a:pPr>
            <a:r>
              <a:rPr sz="1650" b="0">
                <a:solidFill>
                  <a:srgbClr val="16324B"/>
                </a:solidFill>
                <a:latin typeface="Arial"/>
                <a:ea typeface="Arial"/>
                <a:cs typeface="Arial"/>
              </a:rPr>
              <a:t>Cross-org private artifact reads</a:t>
            </a:r>
          </a:p>
        </p:txBody>
      </p:sp>
      <p:sp>
        <p:nvSpPr>
          <p:cNvPr id="8" name="">
            <a:extLst xmlns:a="http://schemas.openxmlformats.org/drawingml/2006/main">
              <a:ext uri="{FF2B5EF4-FFF2-40B4-BE49-F238E27FC236}">
                <a16:creationId xmlns:a16="http://schemas.microsoft.com/office/drawing/2014/main" id="{C31A07C2-106E-413E-AA39-D777CCFF05B5}"/>
              </a:ext>
            </a:extLst>
          </p:cNvPr>
          <p:cNvSpPr>
            <a:spLocks xmlns:a="http://schemas.openxmlformats.org/drawingml/2006/main" noGrp="1"/>
          </p:cNvSpPr>
          <p:nvPr/>
        </p:nvSpPr>
        <p:spPr>
          <a:xfrm xmlns:a="http://schemas.openxmlformats.org/drawingml/2006/main">
            <a:off x="7477125" y="2390775"/>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0"/>
                </a:solidFill>
                <a:latin typeface="Arial"/>
                <a:ea typeface="Arial"/>
                <a:cs typeface="Arial"/>
              </a:defRPr>
            </a:pPr>
            <a:r>
              <a:rPr sz="1650" b="1">
                <a:solidFill>
                  <a:srgbClr val="167D80"/>
                </a:solidFill>
                <a:latin typeface="Arial"/>
                <a:ea typeface="Arial"/>
                <a:cs typeface="Arial"/>
              </a:rPr>
              <a:t>2 of 2 returned HTTP 403</a:t>
            </a:r>
          </a:p>
        </p:txBody>
      </p:sp>
      <p:sp>
        <p:nvSpPr>
          <p:cNvPr id="9" name="">
            <a:extLst xmlns:a="http://schemas.openxmlformats.org/drawingml/2006/main">
              <a:ext uri="{FF2B5EF4-FFF2-40B4-BE49-F238E27FC236}">
                <a16:creationId xmlns:a16="http://schemas.microsoft.com/office/drawing/2014/main" id="{E6571CDE-16B6-4A39-9A72-579A5FA19D88}"/>
              </a:ext>
            </a:extLst>
          </p:cNvPr>
          <p:cNvSpPr>
            <a:spLocks xmlns:a="http://schemas.openxmlformats.org/drawingml/2006/main" noGrp="1"/>
          </p:cNvSpPr>
          <p:nvPr/>
        </p:nvSpPr>
        <p:spPr>
          <a:xfrm xmlns:a="http://schemas.openxmlformats.org/drawingml/2006/main">
            <a:off x="904875" y="30289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6324B"/>
                </a:solidFill>
                <a:latin typeface="Arial"/>
                <a:ea typeface="Arial"/>
                <a:cs typeface="Arial"/>
              </a:defRPr>
            </a:pPr>
            <a:r>
              <a:rPr sz="1650" b="0">
                <a:solidFill>
                  <a:srgbClr val="16324B"/>
                </a:solidFill>
                <a:latin typeface="Arial"/>
                <a:ea typeface="Arial"/>
                <a:cs typeface="Arial"/>
              </a:rPr>
              <a:t>Cross-org artifact update and history</a:t>
            </a:r>
          </a:p>
        </p:txBody>
      </p:sp>
      <p:sp>
        <p:nvSpPr>
          <p:cNvPr id="10" name="">
            <a:extLst xmlns:a="http://schemas.openxmlformats.org/drawingml/2006/main">
              <a:ext uri="{FF2B5EF4-FFF2-40B4-BE49-F238E27FC236}">
                <a16:creationId xmlns:a16="http://schemas.microsoft.com/office/drawing/2014/main" id="{5D5569E9-D49D-4731-B8A2-5FA1C0713CCB}"/>
              </a:ext>
            </a:extLst>
          </p:cNvPr>
          <p:cNvSpPr>
            <a:spLocks xmlns:a="http://schemas.openxmlformats.org/drawingml/2006/main" noGrp="1"/>
          </p:cNvSpPr>
          <p:nvPr/>
        </p:nvSpPr>
        <p:spPr>
          <a:xfrm xmlns:a="http://schemas.openxmlformats.org/drawingml/2006/main">
            <a:off x="7477125" y="302895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0"/>
                </a:solidFill>
                <a:latin typeface="Arial"/>
                <a:ea typeface="Arial"/>
                <a:cs typeface="Arial"/>
              </a:defRPr>
            </a:pPr>
            <a:r>
              <a:rPr sz="1650" b="1">
                <a:solidFill>
                  <a:srgbClr val="167D80"/>
                </a:solidFill>
                <a:latin typeface="Arial"/>
                <a:ea typeface="Arial"/>
                <a:cs typeface="Arial"/>
              </a:rPr>
              <a:t>2 of 2 returned HTTP 403</a:t>
            </a:r>
          </a:p>
        </p:txBody>
      </p:sp>
      <p:sp>
        <p:nvSpPr>
          <p:cNvPr id="11" name="">
            <a:extLst xmlns:a="http://schemas.openxmlformats.org/drawingml/2006/main">
              <a:ext uri="{FF2B5EF4-FFF2-40B4-BE49-F238E27FC236}">
                <a16:creationId xmlns:a16="http://schemas.microsoft.com/office/drawing/2014/main" id="{E3687792-E3C1-4B53-BBE2-A07E42542C5F}"/>
              </a:ext>
            </a:extLst>
          </p:cNvPr>
          <p:cNvSpPr>
            <a:spLocks xmlns:a="http://schemas.openxmlformats.org/drawingml/2006/main" noGrp="1"/>
          </p:cNvSpPr>
          <p:nvPr/>
        </p:nvSpPr>
        <p:spPr>
          <a:xfrm xmlns:a="http://schemas.openxmlformats.org/drawingml/2006/main">
            <a:off x="904875" y="36671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6324B"/>
                </a:solidFill>
                <a:latin typeface="Arial"/>
                <a:ea typeface="Arial"/>
                <a:cs typeface="Arial"/>
              </a:defRPr>
            </a:pPr>
            <a:r>
              <a:rPr sz="1650" b="0">
                <a:solidFill>
                  <a:srgbClr val="16324B"/>
                </a:solidFill>
                <a:latin typeface="Arial"/>
                <a:ea typeface="Arial"/>
                <a:cs typeface="Arial"/>
              </a:rPr>
              <a:t>Own private workflow reads</a:t>
            </a:r>
          </a:p>
        </p:txBody>
      </p:sp>
      <p:sp>
        <p:nvSpPr>
          <p:cNvPr id="12" name="">
            <a:extLst xmlns:a="http://schemas.openxmlformats.org/drawingml/2006/main">
              <a:ext uri="{FF2B5EF4-FFF2-40B4-BE49-F238E27FC236}">
                <a16:creationId xmlns:a16="http://schemas.microsoft.com/office/drawing/2014/main" id="{2B22C84A-CA56-441B-9B3E-0B1DF913FEFA}"/>
              </a:ext>
            </a:extLst>
          </p:cNvPr>
          <p:cNvSpPr>
            <a:spLocks xmlns:a="http://schemas.openxmlformats.org/drawingml/2006/main" noGrp="1"/>
          </p:cNvSpPr>
          <p:nvPr/>
        </p:nvSpPr>
        <p:spPr>
          <a:xfrm xmlns:a="http://schemas.openxmlformats.org/drawingml/2006/main">
            <a:off x="7477125" y="3667125"/>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0"/>
                </a:solidFill>
                <a:latin typeface="Arial"/>
                <a:ea typeface="Arial"/>
                <a:cs typeface="Arial"/>
              </a:defRPr>
            </a:pPr>
            <a:r>
              <a:rPr sz="1650" b="1">
                <a:solidFill>
                  <a:srgbClr val="167D80"/>
                </a:solidFill>
                <a:latin typeface="Arial"/>
                <a:ea typeface="Arial"/>
                <a:cs typeface="Arial"/>
              </a:rPr>
              <a:t>2 of 2 returned HTTP 200</a:t>
            </a:r>
          </a:p>
        </p:txBody>
      </p:sp>
      <p:sp>
        <p:nvSpPr>
          <p:cNvPr id="13" name="">
            <a:extLst xmlns:a="http://schemas.openxmlformats.org/drawingml/2006/main">
              <a:ext uri="{FF2B5EF4-FFF2-40B4-BE49-F238E27FC236}">
                <a16:creationId xmlns:a16="http://schemas.microsoft.com/office/drawing/2014/main" id="{1EC70100-E021-4F01-B26C-B32D383E7D15}"/>
              </a:ext>
            </a:extLst>
          </p:cNvPr>
          <p:cNvSpPr>
            <a:spLocks xmlns:a="http://schemas.openxmlformats.org/drawingml/2006/main" noGrp="1"/>
          </p:cNvSpPr>
          <p:nvPr/>
        </p:nvSpPr>
        <p:spPr>
          <a:xfrm xmlns:a="http://schemas.openxmlformats.org/drawingml/2006/main">
            <a:off x="904875" y="43053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6324B"/>
                </a:solidFill>
                <a:latin typeface="Arial"/>
                <a:ea typeface="Arial"/>
                <a:cs typeface="Arial"/>
              </a:defRPr>
            </a:pPr>
            <a:r>
              <a:rPr sz="1650" b="0">
                <a:solidFill>
                  <a:srgbClr val="16324B"/>
                </a:solidFill>
                <a:latin typeface="Arial"/>
                <a:ea typeface="Arial"/>
                <a:cs typeface="Arial"/>
              </a:rPr>
              <a:t>Cross-org workflow read and update</a:t>
            </a:r>
          </a:p>
        </p:txBody>
      </p:sp>
      <p:sp>
        <p:nvSpPr>
          <p:cNvPr id="14" name="">
            <a:extLst xmlns:a="http://schemas.openxmlformats.org/drawingml/2006/main">
              <a:ext uri="{FF2B5EF4-FFF2-40B4-BE49-F238E27FC236}">
                <a16:creationId xmlns:a16="http://schemas.microsoft.com/office/drawing/2014/main" id="{19B53B7A-9832-4697-8633-4C4C6C412B9A}"/>
              </a:ext>
            </a:extLst>
          </p:cNvPr>
          <p:cNvSpPr>
            <a:spLocks xmlns:a="http://schemas.openxmlformats.org/drawingml/2006/main" noGrp="1"/>
          </p:cNvSpPr>
          <p:nvPr/>
        </p:nvSpPr>
        <p:spPr>
          <a:xfrm xmlns:a="http://schemas.openxmlformats.org/drawingml/2006/main">
            <a:off x="7477125" y="430530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0"/>
                </a:solidFill>
                <a:latin typeface="Arial"/>
                <a:ea typeface="Arial"/>
                <a:cs typeface="Arial"/>
              </a:defRPr>
            </a:pPr>
            <a:r>
              <a:rPr sz="1650" b="1">
                <a:solidFill>
                  <a:srgbClr val="167D80"/>
                </a:solidFill>
                <a:latin typeface="Arial"/>
                <a:ea typeface="Arial"/>
                <a:cs typeface="Arial"/>
              </a:rPr>
              <a:t>2 of 2 returned HTTP 403</a:t>
            </a:r>
          </a:p>
        </p:txBody>
      </p:sp>
      <p:sp>
        <p:nvSpPr>
          <p:cNvPr id="15" name="">
            <a:extLst xmlns:a="http://schemas.openxmlformats.org/drawingml/2006/main">
              <a:ext uri="{FF2B5EF4-FFF2-40B4-BE49-F238E27FC236}">
                <a16:creationId xmlns:a16="http://schemas.microsoft.com/office/drawing/2014/main" id="{ED25AB61-E006-4008-8FF1-35D36FCBAF47}"/>
              </a:ext>
            </a:extLst>
          </p:cNvPr>
          <p:cNvSpPr>
            <a:spLocks xmlns:a="http://schemas.openxmlformats.org/drawingml/2006/main" noGrp="1"/>
          </p:cNvSpPr>
          <p:nvPr/>
        </p:nvSpPr>
        <p:spPr>
          <a:xfrm xmlns:a="http://schemas.openxmlformats.org/drawingml/2006/main">
            <a:off x="714375" y="532447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Post-recovery Postman smoke also passed: six requests, zero failed assertions.</a:t>
            </a:r>
          </a:p>
        </p:txBody>
      </p:sp>
    </p:spTree>
    <p:extLst>
      <p:ext uri="{BB962C8B-B14F-4D97-AF65-F5344CB8AC3E}">
        <p14:creationId xmlns:p14="http://schemas.microsoft.com/office/powerpoint/2010/main" val="15576333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4190460-0B43-46E1-8DAC-1965A1CB1AC4}"/>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Controlled dependency recovery</a:t>
            </a:r>
          </a:p>
        </p:txBody>
      </p:sp>
      <p:sp>
        <p:nvSpPr>
          <p:cNvPr id="2" name="">
            <a:extLst xmlns:a="http://schemas.openxmlformats.org/drawingml/2006/main">
              <a:ext uri="{FF2B5EF4-FFF2-40B4-BE49-F238E27FC236}">
                <a16:creationId xmlns:a16="http://schemas.microsoft.com/office/drawing/2014/main" id="{7230514C-8820-4FBD-89BA-31A15234FA82}"/>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Elapsed through disruption and confirmed probe, seconds; two cycles per scenario</a:t>
            </a:r>
          </a:p>
        </p:txBody>
      </p:sp>
      <p:sp>
        <p:nvSpPr>
          <p:cNvPr id="3" name="">
            <a:extLst xmlns:a="http://schemas.openxmlformats.org/drawingml/2006/main">
              <a:ext uri="{FF2B5EF4-FFF2-40B4-BE49-F238E27FC236}">
                <a16:creationId xmlns:a16="http://schemas.microsoft.com/office/drawing/2014/main" id="{1FF2D868-A9F3-4452-B628-34C8A5B56328}"/>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94AE0129-853C-4DB0-85FB-977472134042}"/>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05</a:t>
            </a:r>
          </a:p>
        </p:txBody>
      </p:sp>
      <p:graphicFrame>
        <p:nvGraphicFramePr>
          <p:cNvPr id="11" name="Chart"/>
          <p:cNvGraphicFramePr/>
          <p:nvPr/>
        </p:nvGraphicFramePr>
        <p:xfrm>
          <a:off xmlns:a="http://schemas.openxmlformats.org/drawingml/2006/main" x="1190625" y="1809750"/>
          <a:ext xmlns:a="http://schemas.openxmlformats.org/drawingml/2006/main" cx="9810750" cy="3143250"/>
        </p:xfrm>
        <a:graphic xmlns:a="http://schemas.openxmlformats.org/drawingml/2006/main">
          <a:graphicData uri="http://schemas.openxmlformats.org/drawingml/2006/chart">
            <c:chart xmlns:r="http://schemas.openxmlformats.org/officeDocument/2006/relationships" xmlns:c="http://schemas.openxmlformats.org/drawingml/2006/chart" r:id="Re4d52e3c68494c19"/>
          </a:graphicData>
        </a:graphic>
      </p:graphicFrame>
      <p:sp>
        <p:nvSpPr>
          <p:cNvPr id="6" name="">
            <a:extLst xmlns:a="http://schemas.openxmlformats.org/drawingml/2006/main">
              <a:ext uri="{FF2B5EF4-FFF2-40B4-BE49-F238E27FC236}">
                <a16:creationId xmlns:a16="http://schemas.microsoft.com/office/drawing/2014/main" id="{DD794431-7621-4790-ABFB-C9011EB90458}"/>
              </a:ext>
            </a:extLst>
          </p:cNvPr>
          <p:cNvSpPr>
            <a:spLocks xmlns:a="http://schemas.openxmlformats.org/drawingml/2006/main" noGrp="1"/>
          </p:cNvSpPr>
          <p:nvPr/>
        </p:nvSpPr>
        <p:spPr>
          <a:xfrm xmlns:a="http://schemas.openxmlformats.org/drawingml/2006/main">
            <a:off x="714375" y="524827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With one NSG peer down, the alternate path accepted a transaction in 8 and 5 seconds. Each probe had one ledger revision.</a:t>
            </a:r>
          </a:p>
        </p:txBody>
      </p:sp>
    </p:spTree>
    <p:extLst>
      <p:ext uri="{BB962C8B-B14F-4D97-AF65-F5344CB8AC3E}">
        <p14:creationId xmlns:p14="http://schemas.microsoft.com/office/powerpoint/2010/main" val="8948220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D67B34-C299-4465-B030-ECA44762140E}"/>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GitOps drift correction</a:t>
            </a:r>
          </a:p>
        </p:txBody>
      </p:sp>
      <p:sp>
        <p:nvSpPr>
          <p:cNvPr id="2" name="">
            <a:extLst xmlns:a="http://schemas.openxmlformats.org/drawingml/2006/main">
              <a:ext uri="{FF2B5EF4-FFF2-40B4-BE49-F238E27FC236}">
                <a16:creationId xmlns:a16="http://schemas.microsoft.com/office/drawing/2014/main" id="{F0D41FF8-D173-4849-91B0-BF177F57790B}"/>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Seconds from deliberate API replica drift to Argo Synced/Healthy</a:t>
            </a:r>
          </a:p>
        </p:txBody>
      </p:sp>
      <p:sp>
        <p:nvSpPr>
          <p:cNvPr id="3" name="">
            <a:extLst xmlns:a="http://schemas.openxmlformats.org/drawingml/2006/main">
              <a:ext uri="{FF2B5EF4-FFF2-40B4-BE49-F238E27FC236}">
                <a16:creationId xmlns:a16="http://schemas.microsoft.com/office/drawing/2014/main" id="{EDE9D54C-275A-476F-832D-89254A544286}"/>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A9059F3D-6BAE-4BF1-96BF-2DE7ED543DD8}"/>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06</a:t>
            </a:r>
          </a:p>
        </p:txBody>
      </p:sp>
      <p:graphicFrame>
        <p:nvGraphicFramePr>
          <p:cNvPr id="11" name="Chart"/>
          <p:cNvGraphicFramePr/>
          <p:nvPr/>
        </p:nvGraphicFramePr>
        <p:xfrm>
          <a:off xmlns:a="http://schemas.openxmlformats.org/drawingml/2006/main" x="1238250" y="1762125"/>
          <a:ext xmlns:a="http://schemas.openxmlformats.org/drawingml/2006/main" cx="9620250" cy="3571875"/>
        </p:xfrm>
        <a:graphic xmlns:a="http://schemas.openxmlformats.org/drawingml/2006/main">
          <a:graphicData uri="http://schemas.openxmlformats.org/drawingml/2006/chart">
            <c:chart xmlns:r="http://schemas.openxmlformats.org/officeDocument/2006/relationships" xmlns:c="http://schemas.openxmlformats.org/drawingml/2006/chart" r:id="R30149279cff541d9"/>
          </a:graphicData>
        </a:graphic>
      </p:graphicFrame>
      <p:sp>
        <p:nvSpPr>
          <p:cNvPr id="6" name="">
            <a:extLst xmlns:a="http://schemas.openxmlformats.org/drawingml/2006/main">
              <a:ext uri="{FF2B5EF4-FFF2-40B4-BE49-F238E27FC236}">
                <a16:creationId xmlns:a16="http://schemas.microsoft.com/office/drawing/2014/main" id="{E396BE3B-58CA-42CE-897E-D9A0DBCABE41}"/>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All four self-healed. The 133-second observation shows why one fast screenshot should not be presented as a guarantee.</a:t>
            </a:r>
          </a:p>
        </p:txBody>
      </p:sp>
    </p:spTree>
    <p:extLst>
      <p:ext uri="{BB962C8B-B14F-4D97-AF65-F5344CB8AC3E}">
        <p14:creationId xmlns:p14="http://schemas.microsoft.com/office/powerpoint/2010/main" val="179804979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2BBFA71-AE4B-45BD-90E3-13465AB3B41B}"/>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Two-org footprint</a:t>
            </a:r>
          </a:p>
        </p:txBody>
      </p:sp>
      <p:sp>
        <p:nvSpPr>
          <p:cNvPr id="2" name="">
            <a:extLst xmlns:a="http://schemas.openxmlformats.org/drawingml/2006/main">
              <a:ext uri="{FF2B5EF4-FFF2-40B4-BE49-F238E27FC236}">
                <a16:creationId xmlns:a16="http://schemas.microsoft.com/office/drawing/2014/main" id="{0BFC4E53-DD85-4487-B0E8-C409CF780E77}"/>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Ready pods by namespace, after restoration</a:t>
            </a:r>
          </a:p>
        </p:txBody>
      </p:sp>
      <p:sp>
        <p:nvSpPr>
          <p:cNvPr id="3" name="">
            <a:extLst xmlns:a="http://schemas.openxmlformats.org/drawingml/2006/main">
              <a:ext uri="{FF2B5EF4-FFF2-40B4-BE49-F238E27FC236}">
                <a16:creationId xmlns:a16="http://schemas.microsoft.com/office/drawing/2014/main" id="{05E0AD77-D181-4278-BB5B-607AF051E67E}"/>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E35F5BF7-47EE-47EE-BA7A-236594D5CE18}"/>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07</a:t>
            </a:r>
          </a:p>
        </p:txBody>
      </p:sp>
      <p:graphicFrame>
        <p:nvGraphicFramePr>
          <p:cNvPr id="11" name="Chart"/>
          <p:cNvGraphicFramePr/>
          <p:nvPr/>
        </p:nvGraphicFramePr>
        <p:xfrm>
          <a:off xmlns:a="http://schemas.openxmlformats.org/drawingml/2006/main" x="1476375" y="1695450"/>
          <a:ext xmlns:a="http://schemas.openxmlformats.org/drawingml/2006/main" cx="9334500" cy="3714750"/>
        </p:xfrm>
        <a:graphic xmlns:a="http://schemas.openxmlformats.org/drawingml/2006/main">
          <a:graphicData uri="http://schemas.openxmlformats.org/drawingml/2006/chart">
            <c:chart xmlns:r="http://schemas.openxmlformats.org/officeDocument/2006/relationships" xmlns:c="http://schemas.openxmlformats.org/drawingml/2006/chart" r:id="Rab4af307cd6041cc"/>
          </a:graphicData>
        </a:graphic>
      </p:graphicFrame>
      <p:sp>
        <p:nvSpPr>
          <p:cNvPr id="6" name="">
            <a:extLst xmlns:a="http://schemas.openxmlformats.org/drawingml/2006/main">
              <a:ext uri="{FF2B5EF4-FFF2-40B4-BE49-F238E27FC236}">
                <a16:creationId xmlns:a16="http://schemas.microsoft.com/office/drawing/2014/main" id="{BB05CF65-AEDF-46FC-8DA4-188460EF92B5}"/>
              </a:ext>
            </a:extLst>
          </p:cNvPr>
          <p:cNvSpPr>
            <a:spLocks xmlns:a="http://schemas.openxmlformats.org/drawingml/2006/main" noGrp="1"/>
          </p:cNvSpPr>
          <p:nvPr/>
        </p:nvSpPr>
        <p:spPr>
          <a:xfrm xmlns:a="http://schemas.openxmlformats.org/drawingml/2006/main">
            <a:off x="714375" y="55054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Three worker nodes across three zones; 71 of 71 pods ready. Estimated run rate: $0.94/hour, before actual billing.</a:t>
            </a:r>
          </a:p>
        </p:txBody>
      </p:sp>
    </p:spTree>
    <p:extLst>
      <p:ext uri="{BB962C8B-B14F-4D97-AF65-F5344CB8AC3E}">
        <p14:creationId xmlns:p14="http://schemas.microsoft.com/office/powerpoint/2010/main" val="9869111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4227D90-F23A-41D8-B455-E79B7F6086EE}"/>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Offered, accepted, and recorded</a:t>
            </a:r>
          </a:p>
        </p:txBody>
      </p:sp>
      <p:sp>
        <p:nvSpPr>
          <p:cNvPr id="2" name="">
            <a:extLst xmlns:a="http://schemas.openxmlformats.org/drawingml/2006/main">
              <a:ext uri="{FF2B5EF4-FFF2-40B4-BE49-F238E27FC236}">
                <a16:creationId xmlns:a16="http://schemas.microsoft.com/office/drawing/2014/main" id="{FF465A37-F5B6-4493-AD25-005F5D33C619}"/>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Per-second rate during five 5-second load stages; both organizations combined</a:t>
            </a:r>
          </a:p>
        </p:txBody>
      </p:sp>
      <p:sp>
        <p:nvSpPr>
          <p:cNvPr id="3" name="">
            <a:extLst xmlns:a="http://schemas.openxmlformats.org/drawingml/2006/main">
              <a:ext uri="{FF2B5EF4-FFF2-40B4-BE49-F238E27FC236}">
                <a16:creationId xmlns:a16="http://schemas.microsoft.com/office/drawing/2014/main" id="{32E01EBA-81E8-4E29-891A-8EA7A605BE41}"/>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B6052AF7-8C6C-4E70-AD19-3B107DB31F4C}"/>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08</a:t>
            </a:r>
          </a:p>
        </p:txBody>
      </p:sp>
      <p:graphicFrame>
        <p:nvGraphicFramePr>
          <p:cNvPr id="11" name="Chart"/>
          <p:cNvGraphicFramePr/>
          <p:nvPr/>
        </p:nvGraphicFramePr>
        <p:xfrm>
          <a:off xmlns:a="http://schemas.openxmlformats.org/drawingml/2006/main" x="1095375" y="1762125"/>
          <a:ext xmlns:a="http://schemas.openxmlformats.org/drawingml/2006/main" cx="10001250" cy="3476625"/>
        </p:xfrm>
        <a:graphic xmlns:a="http://schemas.openxmlformats.org/drawingml/2006/main">
          <a:graphicData uri="http://schemas.openxmlformats.org/drawingml/2006/chart">
            <c:chart xmlns:r="http://schemas.openxmlformats.org/officeDocument/2006/relationships" xmlns:c="http://schemas.openxmlformats.org/drawingml/2006/chart" r:id="R49add57f87ba4cc5"/>
          </a:graphicData>
        </a:graphic>
      </p:graphicFrame>
      <p:sp>
        <p:nvSpPr>
          <p:cNvPr id="6" name="">
            <a:extLst xmlns:a="http://schemas.openxmlformats.org/drawingml/2006/main">
              <a:ext uri="{FF2B5EF4-FFF2-40B4-BE49-F238E27FC236}">
                <a16:creationId xmlns:a16="http://schemas.microsoft.com/office/drawing/2014/main" id="{510AEC6B-FF25-4FB0-8C9D-18E3A2E3AF74}"/>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At 30/s, the API accepted 30/s; record timestamps averaged 2.4/s in that stage. This is not sustained ledger throughput.</a:t>
            </a:r>
          </a:p>
        </p:txBody>
      </p:sp>
    </p:spTree>
    <p:extLst>
      <p:ext uri="{BB962C8B-B14F-4D97-AF65-F5344CB8AC3E}">
        <p14:creationId xmlns:p14="http://schemas.microsoft.com/office/powerpoint/2010/main" val="183135218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647E8B9-5B12-4F46-A27F-75F29C4DEBB6}"/>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Confirmation slows under load</a:t>
            </a:r>
          </a:p>
        </p:txBody>
      </p:sp>
      <p:sp>
        <p:nvSpPr>
          <p:cNvPr id="2" name="">
            <a:extLst xmlns:a="http://schemas.openxmlformats.org/drawingml/2006/main">
              <a:ext uri="{FF2B5EF4-FFF2-40B4-BE49-F238E27FC236}">
                <a16:creationId xmlns:a16="http://schemas.microsoft.com/office/drawing/2014/main" id="{9EE82FAA-0ECD-4B76-B679-7A792907C75F}"/>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First observed API SUCCESS with transaction ID; 45 sampled submissions</a:t>
            </a:r>
          </a:p>
        </p:txBody>
      </p:sp>
      <p:sp>
        <p:nvSpPr>
          <p:cNvPr id="3" name="">
            <a:extLst xmlns:a="http://schemas.openxmlformats.org/drawingml/2006/main">
              <a:ext uri="{FF2B5EF4-FFF2-40B4-BE49-F238E27FC236}">
                <a16:creationId xmlns:a16="http://schemas.microsoft.com/office/drawing/2014/main" id="{D0FD788B-2A1B-47D3-961A-EBC8A21DE8EA}"/>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8EB88967-5D84-45A4-A01A-F0E7FA5CCDD7}"/>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09</a:t>
            </a:r>
          </a:p>
        </p:txBody>
      </p:sp>
      <p:graphicFrame>
        <p:nvGraphicFramePr>
          <p:cNvPr id="11" name="Chart"/>
          <p:cNvGraphicFramePr/>
          <p:nvPr/>
        </p:nvGraphicFramePr>
        <p:xfrm>
          <a:off xmlns:a="http://schemas.openxmlformats.org/drawingml/2006/main" x="1047750" y="1733550"/>
          <a:ext xmlns:a="http://schemas.openxmlformats.org/drawingml/2006/main" cx="10096500" cy="3619500"/>
        </p:xfrm>
        <a:graphic xmlns:a="http://schemas.openxmlformats.org/drawingml/2006/main">
          <a:graphicData uri="http://schemas.openxmlformats.org/drawingml/2006/chart">
            <c:chart xmlns:r="http://schemas.openxmlformats.org/officeDocument/2006/relationships" xmlns:c="http://schemas.openxmlformats.org/drawingml/2006/chart" r:id="R15005f1da4f94944"/>
          </a:graphicData>
        </a:graphic>
      </p:graphicFrame>
      <p:sp>
        <p:nvSpPr>
          <p:cNvPr id="6" name="">
            <a:extLst xmlns:a="http://schemas.openxmlformats.org/drawingml/2006/main">
              <a:ext uri="{FF2B5EF4-FFF2-40B4-BE49-F238E27FC236}">
                <a16:creationId xmlns:a16="http://schemas.microsoft.com/office/drawing/2014/main" id="{E5F829AE-6C1C-4B2B-BAE3-A80F6A75339B}"/>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P95 rose from 3.1s at 1/s to 45.4s at 30/s. The 30/s stage has only ten sampled records.</a:t>
            </a:r>
          </a:p>
        </p:txBody>
      </p:sp>
    </p:spTree>
    <p:extLst>
      <p:ext uri="{BB962C8B-B14F-4D97-AF65-F5344CB8AC3E}">
        <p14:creationId xmlns:p14="http://schemas.microsoft.com/office/powerpoint/2010/main" val="125556536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29904D5-0B3D-4CF6-97DA-E71EC8B5D54F}"/>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Time to clear the backlog</a:t>
            </a:r>
          </a:p>
        </p:txBody>
      </p:sp>
      <p:sp>
        <p:nvSpPr>
          <p:cNvPr id="2" name="">
            <a:extLst xmlns:a="http://schemas.openxmlformats.org/drawingml/2006/main">
              <a:ext uri="{FF2B5EF4-FFF2-40B4-BE49-F238E27FC236}">
                <a16:creationId xmlns:a16="http://schemas.microsoft.com/office/drawing/2014/main" id="{32D06F65-B73C-40DB-8E24-4EC40FBAA23E}"/>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Accepted minus Fabric record timestamps, selected timeline samples</a:t>
            </a:r>
          </a:p>
        </p:txBody>
      </p:sp>
      <p:sp>
        <p:nvSpPr>
          <p:cNvPr id="3" name="">
            <a:extLst xmlns:a="http://schemas.openxmlformats.org/drawingml/2006/main">
              <a:ext uri="{FF2B5EF4-FFF2-40B4-BE49-F238E27FC236}">
                <a16:creationId xmlns:a16="http://schemas.microsoft.com/office/drawing/2014/main" id="{71B054C9-2D20-4279-8227-DB71EDCB37E7}"/>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7EFAACE5-9FA9-4DFE-A91A-3AAED762F853}"/>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10</a:t>
            </a:r>
          </a:p>
        </p:txBody>
      </p:sp>
      <p:graphicFrame>
        <p:nvGraphicFramePr>
          <p:cNvPr id="11" name="Chart"/>
          <p:cNvGraphicFramePr/>
          <p:nvPr/>
        </p:nvGraphicFramePr>
        <p:xfrm>
          <a:off xmlns:a="http://schemas.openxmlformats.org/drawingml/2006/main" x="1047750" y="1752600"/>
          <a:ext xmlns:a="http://schemas.openxmlformats.org/drawingml/2006/main" cx="10001250" cy="3571875"/>
        </p:xfrm>
        <a:graphic xmlns:a="http://schemas.openxmlformats.org/drawingml/2006/main">
          <a:graphicData uri="http://schemas.openxmlformats.org/drawingml/2006/chart">
            <c:chart xmlns:r="http://schemas.openxmlformats.org/officeDocument/2006/relationships" xmlns:c="http://schemas.openxmlformats.org/drawingml/2006/chart" r:id="R3cf32bfbc7134566"/>
          </a:graphicData>
        </a:graphic>
      </p:graphicFrame>
      <p:sp>
        <p:nvSpPr>
          <p:cNvPr id="6" name="">
            <a:extLst xmlns:a="http://schemas.openxmlformats.org/drawingml/2006/main">
              <a:ext uri="{FF2B5EF4-FFF2-40B4-BE49-F238E27FC236}">
                <a16:creationId xmlns:a16="http://schemas.microsoft.com/office/drawing/2014/main" id="{5AD84F1F-2358-4381-A655-71FD5820DA00}"/>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Peak proxy: 284. All API records were observed SUCCESS 158.6s after the last POST.</a:t>
            </a:r>
          </a:p>
        </p:txBody>
      </p:sp>
    </p:spTree>
    <p:extLst>
      <p:ext uri="{BB962C8B-B14F-4D97-AF65-F5344CB8AC3E}">
        <p14:creationId xmlns:p14="http://schemas.microsoft.com/office/powerpoint/2010/main" val="73782504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F330B7-F969-446D-B5A7-4F70E1FE6747}"/>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Cross-org isolation under load</a:t>
            </a:r>
          </a:p>
        </p:txBody>
      </p:sp>
      <p:sp>
        <p:nvSpPr>
          <p:cNvPr id="2" name="">
            <a:extLst xmlns:a="http://schemas.openxmlformats.org/drawingml/2006/main">
              <a:ext uri="{FF2B5EF4-FFF2-40B4-BE49-F238E27FC236}">
                <a16:creationId xmlns:a16="http://schemas.microsoft.com/office/drawing/2014/main" id="{8495696E-72EE-4EAB-895E-6F243A65A67E}"/>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Forbidden cross-organization checks during the normal staged run</a:t>
            </a:r>
          </a:p>
        </p:txBody>
      </p:sp>
      <p:sp>
        <p:nvSpPr>
          <p:cNvPr id="3" name="">
            <a:extLst xmlns:a="http://schemas.openxmlformats.org/drawingml/2006/main">
              <a:ext uri="{FF2B5EF4-FFF2-40B4-BE49-F238E27FC236}">
                <a16:creationId xmlns:a16="http://schemas.microsoft.com/office/drawing/2014/main" id="{7A3DE0BD-725D-4B17-AE41-D84A93DE5B4E}"/>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7BB7905C-2003-4BFC-B8CD-5508196A4C80}"/>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11</a:t>
            </a:r>
          </a:p>
        </p:txBody>
      </p:sp>
      <p:graphicFrame>
        <p:nvGraphicFramePr>
          <p:cNvPr id="11" name="Chart"/>
          <p:cNvGraphicFramePr/>
          <p:nvPr/>
        </p:nvGraphicFramePr>
        <p:xfrm>
          <a:off xmlns:a="http://schemas.openxmlformats.org/drawingml/2006/main" x="1190625" y="1790700"/>
          <a:ext xmlns:a="http://schemas.openxmlformats.org/drawingml/2006/main" cx="9715500" cy="3381375"/>
        </p:xfrm>
        <a:graphic xmlns:a="http://schemas.openxmlformats.org/drawingml/2006/main">
          <a:graphicData uri="http://schemas.openxmlformats.org/drawingml/2006/chart">
            <c:chart xmlns:r="http://schemas.openxmlformats.org/officeDocument/2006/relationships" xmlns:c="http://schemas.openxmlformats.org/drawingml/2006/chart" r:id="R1b3f889249a14eb9"/>
          </a:graphicData>
        </a:graphic>
      </p:graphicFrame>
      <p:sp>
        <p:nvSpPr>
          <p:cNvPr id="6" name="">
            <a:extLst xmlns:a="http://schemas.openxmlformats.org/drawingml/2006/main">
              <a:ext uri="{FF2B5EF4-FFF2-40B4-BE49-F238E27FC236}">
                <a16:creationId xmlns:a16="http://schemas.microsoft.com/office/drawing/2014/main" id="{8E0A6EA1-AC21-43B7-AF8C-81147B5E6B0C}"/>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Normal: 25/25 denied. Timing: 16/16 denied. Gateway interruption: 30/30 denied.</a:t>
            </a:r>
          </a:p>
        </p:txBody>
      </p:sp>
    </p:spTree>
    <p:extLst>
      <p:ext uri="{BB962C8B-B14F-4D97-AF65-F5344CB8AC3E}">
        <p14:creationId xmlns:p14="http://schemas.microsoft.com/office/powerpoint/2010/main" val="40153623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56C3490-433B-4195-8B8F-9D29E018CC41}"/>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Hash integrity and pointer check</a:t>
            </a:r>
          </a:p>
        </p:txBody>
      </p:sp>
      <p:sp>
        <p:nvSpPr>
          <p:cNvPr id="2" name="">
            <a:extLst xmlns:a="http://schemas.openxmlformats.org/drawingml/2006/main">
              <a:ext uri="{FF2B5EF4-FFF2-40B4-BE49-F238E27FC236}">
                <a16:creationId xmlns:a16="http://schemas.microsoft.com/office/drawing/2014/main" id="{1D17BB8B-6789-435A-A1D6-6BE8F937BCCA}"/>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Share of records matching the Fabric history result in each load run</a:t>
            </a:r>
          </a:p>
        </p:txBody>
      </p:sp>
      <p:sp>
        <p:nvSpPr>
          <p:cNvPr id="3" name="">
            <a:extLst xmlns:a="http://schemas.openxmlformats.org/drawingml/2006/main">
              <a:ext uri="{FF2B5EF4-FFF2-40B4-BE49-F238E27FC236}">
                <a16:creationId xmlns:a16="http://schemas.microsoft.com/office/drawing/2014/main" id="{8D5EF994-64C9-4C87-AA0A-CB0EC4036381}"/>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FDDC2A5F-E335-4BB6-9068-F4B68631FF9B}"/>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12</a:t>
            </a:r>
          </a:p>
        </p:txBody>
      </p:sp>
      <p:graphicFrame>
        <p:nvGraphicFramePr>
          <p:cNvPr id="11" name="Chart"/>
          <p:cNvGraphicFramePr/>
          <p:nvPr/>
        </p:nvGraphicFramePr>
        <p:xfrm>
          <a:off xmlns:a="http://schemas.openxmlformats.org/drawingml/2006/main" x="1095375" y="1733550"/>
          <a:ext xmlns:a="http://schemas.openxmlformats.org/drawingml/2006/main" cx="10001250" cy="3571875"/>
        </p:xfrm>
        <a:graphic xmlns:a="http://schemas.openxmlformats.org/drawingml/2006/main">
          <a:graphicData uri="http://schemas.openxmlformats.org/drawingml/2006/chart">
            <c:chart xmlns:r="http://schemas.openxmlformats.org/officeDocument/2006/relationships" xmlns:c="http://schemas.openxmlformats.org/drawingml/2006/chart" r:id="R3538ed7094ba404b"/>
          </a:graphicData>
        </a:graphic>
      </p:graphicFrame>
      <p:sp>
        <p:nvSpPr>
          <p:cNvPr id="6" name="">
            <a:extLst xmlns:a="http://schemas.openxmlformats.org/drawingml/2006/main">
              <a:ext uri="{FF2B5EF4-FFF2-40B4-BE49-F238E27FC236}">
                <a16:creationId xmlns:a16="http://schemas.microsoft.com/office/drawing/2014/main" id="{DCB2A2C1-7F34-45B9-B10C-BEBEDF0ABB87}"/>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Hashes: 575/575 matched; one revision each. Fault-run tx pointer: 89/90 matched. This needs a fix.</a:t>
            </a:r>
          </a:p>
        </p:txBody>
      </p:sp>
    </p:spTree>
    <p:extLst>
      <p:ext uri="{BB962C8B-B14F-4D97-AF65-F5344CB8AC3E}">
        <p14:creationId xmlns:p14="http://schemas.microsoft.com/office/powerpoint/2010/main" val="9400634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CCDBE2-FFF4-4894-B134-642CF4F3A519}"/>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Gateway interruption during submissions</a:t>
            </a:r>
          </a:p>
        </p:txBody>
      </p:sp>
      <p:sp>
        <p:nvSpPr>
          <p:cNvPr id="2" name="">
            <a:extLst xmlns:a="http://schemas.openxmlformats.org/drawingml/2006/main">
              <a:ext uri="{FF2B5EF4-FFF2-40B4-BE49-F238E27FC236}">
                <a16:creationId xmlns:a16="http://schemas.microsoft.com/office/drawing/2014/main" id="{01C79B61-4A45-4883-891A-3BB80043B632}"/>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Cumulative accepted and Fabric record timestamps, 3 offered writes/s</a:t>
            </a:r>
          </a:p>
        </p:txBody>
      </p:sp>
      <p:sp>
        <p:nvSpPr>
          <p:cNvPr id="3" name="">
            <a:extLst xmlns:a="http://schemas.openxmlformats.org/drawingml/2006/main">
              <a:ext uri="{FF2B5EF4-FFF2-40B4-BE49-F238E27FC236}">
                <a16:creationId xmlns:a16="http://schemas.microsoft.com/office/drawing/2014/main" id="{E920E9D7-A519-436D-9C9B-26C44B2288FA}"/>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7B8E9D2B-685A-463B-853F-5546F0A44E98}"/>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13</a:t>
            </a:r>
          </a:p>
        </p:txBody>
      </p:sp>
      <p:graphicFrame>
        <p:nvGraphicFramePr>
          <p:cNvPr id="11" name="Chart"/>
          <p:cNvGraphicFramePr/>
          <p:nvPr/>
        </p:nvGraphicFramePr>
        <p:xfrm>
          <a:off xmlns:a="http://schemas.openxmlformats.org/drawingml/2006/main" x="1028700" y="1733550"/>
          <a:ext xmlns:a="http://schemas.openxmlformats.org/drawingml/2006/main" cx="10144125" cy="3524250"/>
        </p:xfrm>
        <a:graphic xmlns:a="http://schemas.openxmlformats.org/drawingml/2006/main">
          <a:graphicData uri="http://schemas.openxmlformats.org/drawingml/2006/chart">
            <c:chart xmlns:r="http://schemas.openxmlformats.org/officeDocument/2006/relationships" xmlns:c="http://schemas.openxmlformats.org/drawingml/2006/chart" r:id="R49d5e22ebb034123"/>
          </a:graphicData>
        </a:graphic>
      </p:graphicFrame>
      <p:sp>
        <p:nvSpPr>
          <p:cNvPr id="6" name="">
            <a:extLst xmlns:a="http://schemas.openxmlformats.org/drawingml/2006/main">
              <a:ext uri="{FF2B5EF4-FFF2-40B4-BE49-F238E27FC236}">
                <a16:creationId xmlns:a16="http://schemas.microsoft.com/office/drawing/2014/main" id="{A0FF661E-EE1D-463C-8221-CEC417206B4B}"/>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Gateway scale-down +7.5s; scale-up +18.5s. 90/90 confirmed, but one API tx pointer differed from history.</a:t>
            </a:r>
          </a:p>
        </p:txBody>
      </p:sp>
    </p:spTree>
    <p:extLst>
      <p:ext uri="{BB962C8B-B14F-4D97-AF65-F5344CB8AC3E}">
        <p14:creationId xmlns:p14="http://schemas.microsoft.com/office/powerpoint/2010/main" val="150660017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7FE3AD-9C8B-410D-A1D8-74251C2922C5}"/>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Pending sampled records</a:t>
            </a:r>
          </a:p>
        </p:txBody>
      </p:sp>
      <p:sp>
        <p:nvSpPr>
          <p:cNvPr id="2" name="">
            <a:extLst xmlns:a="http://schemas.openxmlformats.org/drawingml/2006/main">
              <a:ext uri="{FF2B5EF4-FFF2-40B4-BE49-F238E27FC236}">
                <a16:creationId xmlns:a16="http://schemas.microsoft.com/office/drawing/2014/main" id="{7BA1C4A8-B501-4A3D-976E-2A4BA933CA00}"/>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Accepted minus first-observed SUCCESS among 45 live-polled timing records</a:t>
            </a:r>
          </a:p>
        </p:txBody>
      </p:sp>
      <p:sp>
        <p:nvSpPr>
          <p:cNvPr id="3" name="">
            <a:extLst xmlns:a="http://schemas.openxmlformats.org/drawingml/2006/main">
              <a:ext uri="{FF2B5EF4-FFF2-40B4-BE49-F238E27FC236}">
                <a16:creationId xmlns:a16="http://schemas.microsoft.com/office/drawing/2014/main" id="{76346C19-EF5C-43A1-B50E-129208F4C3E2}"/>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B8C6FA59-CCAC-47B5-993E-CFA9EEB251A9}"/>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14</a:t>
            </a:r>
          </a:p>
        </p:txBody>
      </p:sp>
      <p:graphicFrame>
        <p:nvGraphicFramePr>
          <p:cNvPr id="11" name="Chart"/>
          <p:cNvGraphicFramePr/>
          <p:nvPr/>
        </p:nvGraphicFramePr>
        <p:xfrm>
          <a:off xmlns:a="http://schemas.openxmlformats.org/drawingml/2006/main" x="1047750" y="1752600"/>
          <a:ext xmlns:a="http://schemas.openxmlformats.org/drawingml/2006/main" cx="10001250" cy="3571875"/>
        </p:xfrm>
        <a:graphic xmlns:a="http://schemas.openxmlformats.org/drawingml/2006/main">
          <a:graphicData uri="http://schemas.openxmlformats.org/drawingml/2006/chart">
            <c:chart xmlns:r="http://schemas.openxmlformats.org/officeDocument/2006/relationships" xmlns:c="http://schemas.openxmlformats.org/drawingml/2006/chart" r:id="R473972e875444a6d"/>
          </a:graphicData>
        </a:graphic>
      </p:graphicFrame>
      <p:sp>
        <p:nvSpPr>
          <p:cNvPr id="6" name="">
            <a:extLst xmlns:a="http://schemas.openxmlformats.org/drawingml/2006/main">
              <a:ext uri="{FF2B5EF4-FFF2-40B4-BE49-F238E27FC236}">
                <a16:creationId xmlns:a16="http://schemas.microsoft.com/office/drawing/2014/main" id="{34A3BBA4-C8AC-493E-A61D-3D67C52705F3}"/>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The sampled pending count peaked at 30; all 45 were later observed SUCCESS.</a:t>
            </a:r>
          </a:p>
        </p:txBody>
      </p:sp>
    </p:spTree>
    <p:extLst>
      <p:ext uri="{BB962C8B-B14F-4D97-AF65-F5344CB8AC3E}">
        <p14:creationId xmlns:p14="http://schemas.microsoft.com/office/powerpoint/2010/main" val="69248091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EE5CFD5-8D30-46AF-8781-F218F82CC75B}"/>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Latency by organization</a:t>
            </a:r>
          </a:p>
        </p:txBody>
      </p:sp>
      <p:sp>
        <p:nvSpPr>
          <p:cNvPr id="2" name="">
            <a:extLst xmlns:a="http://schemas.openxmlformats.org/drawingml/2006/main">
              <a:ext uri="{FF2B5EF4-FFF2-40B4-BE49-F238E27FC236}">
                <a16:creationId xmlns:a16="http://schemas.microsoft.com/office/drawing/2014/main" id="{E7E0044E-1A25-40A3-BB75-EAC2CEC6E759}"/>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Median first-observed SUCCESS time; 2-5 sampled writes per org and rate</a:t>
            </a:r>
          </a:p>
        </p:txBody>
      </p:sp>
      <p:sp>
        <p:nvSpPr>
          <p:cNvPr id="3" name="">
            <a:extLst xmlns:a="http://schemas.openxmlformats.org/drawingml/2006/main">
              <a:ext uri="{FF2B5EF4-FFF2-40B4-BE49-F238E27FC236}">
                <a16:creationId xmlns:a16="http://schemas.microsoft.com/office/drawing/2014/main" id="{F8B7821A-8D36-4AB4-8D86-5EFB9AA5C263}"/>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60A7F65D-D7BD-4B3E-9580-B3E0D629B58D}"/>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15</a:t>
            </a:r>
          </a:p>
        </p:txBody>
      </p:sp>
      <p:graphicFrame>
        <p:nvGraphicFramePr>
          <p:cNvPr id="11" name="Chart"/>
          <p:cNvGraphicFramePr/>
          <p:nvPr/>
        </p:nvGraphicFramePr>
        <p:xfrm>
          <a:off xmlns:a="http://schemas.openxmlformats.org/drawingml/2006/main" x="1047750" y="1752600"/>
          <a:ext xmlns:a="http://schemas.openxmlformats.org/drawingml/2006/main" cx="10001250" cy="3571875"/>
        </p:xfrm>
        <a:graphic xmlns:a="http://schemas.openxmlformats.org/drawingml/2006/main">
          <a:graphicData uri="http://schemas.openxmlformats.org/drawingml/2006/chart">
            <c:chart xmlns:r="http://schemas.openxmlformats.org/officeDocument/2006/relationships" xmlns:c="http://schemas.openxmlformats.org/drawingml/2006/chart" r:id="R0d09d52ad2c84fae"/>
          </a:graphicData>
        </a:graphic>
      </p:graphicFrame>
      <p:sp>
        <p:nvSpPr>
          <p:cNvPr id="6" name="">
            <a:extLst xmlns:a="http://schemas.openxmlformats.org/drawingml/2006/main">
              <a:ext uri="{FF2B5EF4-FFF2-40B4-BE49-F238E27FC236}">
                <a16:creationId xmlns:a16="http://schemas.microsoft.com/office/drawing/2014/main" id="{6B768B69-515A-4C32-8475-18888AF85631}"/>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Both orgs remained active at every stage. This small sample cannot establish an org-level performance difference.</a:t>
            </a:r>
          </a:p>
        </p:txBody>
      </p:sp>
    </p:spTree>
    <p:extLst>
      <p:ext uri="{BB962C8B-B14F-4D97-AF65-F5344CB8AC3E}">
        <p14:creationId xmlns:p14="http://schemas.microsoft.com/office/powerpoint/2010/main" val="55653545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F8E5CE-46D4-408C-AE5F-DDAFB73B27A6}"/>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No duplicate ledger revisions observed</a:t>
            </a:r>
          </a:p>
        </p:txBody>
      </p:sp>
      <p:sp>
        <p:nvSpPr>
          <p:cNvPr id="2" name="">
            <a:extLst xmlns:a="http://schemas.openxmlformats.org/drawingml/2006/main">
              <a:ext uri="{FF2B5EF4-FFF2-40B4-BE49-F238E27FC236}">
                <a16:creationId xmlns:a16="http://schemas.microsoft.com/office/drawing/2014/main" id="{DDD2D566-4DF1-4BA4-B9AC-29A0E26C145C}"/>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New artifact history entries across three bounded runs</a:t>
            </a:r>
          </a:p>
        </p:txBody>
      </p:sp>
      <p:sp>
        <p:nvSpPr>
          <p:cNvPr id="3" name="">
            <a:extLst xmlns:a="http://schemas.openxmlformats.org/drawingml/2006/main">
              <a:ext uri="{FF2B5EF4-FFF2-40B4-BE49-F238E27FC236}">
                <a16:creationId xmlns:a16="http://schemas.microsoft.com/office/drawing/2014/main" id="{CE07A1C2-0E0E-40C8-951C-D7E1FF77B571}"/>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B740B294-D198-402A-8CAD-3950FC2D5120}"/>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16</a:t>
            </a:r>
          </a:p>
        </p:txBody>
      </p:sp>
      <p:graphicFrame>
        <p:nvGraphicFramePr>
          <p:cNvPr id="11" name="Chart"/>
          <p:cNvGraphicFramePr/>
          <p:nvPr/>
        </p:nvGraphicFramePr>
        <p:xfrm>
          <a:off xmlns:a="http://schemas.openxmlformats.org/drawingml/2006/main" x="1190625" y="1790700"/>
          <a:ext xmlns:a="http://schemas.openxmlformats.org/drawingml/2006/main" cx="9715500" cy="3381375"/>
        </p:xfrm>
        <a:graphic xmlns:a="http://schemas.openxmlformats.org/drawingml/2006/main">
          <a:graphicData uri="http://schemas.openxmlformats.org/drawingml/2006/chart">
            <c:chart xmlns:r="http://schemas.openxmlformats.org/officeDocument/2006/relationships" xmlns:c="http://schemas.openxmlformats.org/drawingml/2006/chart" r:id="R83b1150d02484968"/>
          </a:graphicData>
        </a:graphic>
      </p:graphicFrame>
      <p:sp>
        <p:nvSpPr>
          <p:cNvPr id="6" name="">
            <a:extLst xmlns:a="http://schemas.openxmlformats.org/drawingml/2006/main">
              <a:ext uri="{FF2B5EF4-FFF2-40B4-BE49-F238E27FC236}">
                <a16:creationId xmlns:a16="http://schemas.microsoft.com/office/drawing/2014/main" id="{2590D70C-C789-4028-A869-88929483DB60}"/>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575 of 575 had one ledger history revision. No duplicate revision was seen, including the gateway fault run.</a:t>
            </a:r>
          </a:p>
        </p:txBody>
      </p:sp>
    </p:spTree>
    <p:extLst>
      <p:ext uri="{BB962C8B-B14F-4D97-AF65-F5344CB8AC3E}">
        <p14:creationId xmlns:p14="http://schemas.microsoft.com/office/powerpoint/2010/main" val="204368585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33B57F3-38C3-4093-BA14-59445F5AF95E}"/>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File bytes stay in the browser</a:t>
            </a:r>
          </a:p>
        </p:txBody>
      </p:sp>
      <p:sp>
        <p:nvSpPr>
          <p:cNvPr id="2" name="">
            <a:extLst xmlns:a="http://schemas.openxmlformats.org/drawingml/2006/main">
              <a:ext uri="{FF2B5EF4-FFF2-40B4-BE49-F238E27FC236}">
                <a16:creationId xmlns:a16="http://schemas.microsoft.com/office/drawing/2014/main" id="{7F53EC4B-4D1C-44C2-A939-DA3BE6C8770A}"/>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Actual intercepted request size after selecting synthetic local files</a:t>
            </a:r>
          </a:p>
        </p:txBody>
      </p:sp>
      <p:sp>
        <p:nvSpPr>
          <p:cNvPr id="3" name="">
            <a:extLst xmlns:a="http://schemas.openxmlformats.org/drawingml/2006/main">
              <a:ext uri="{FF2B5EF4-FFF2-40B4-BE49-F238E27FC236}">
                <a16:creationId xmlns:a16="http://schemas.microsoft.com/office/drawing/2014/main" id="{3AB01F58-67A9-421D-860E-CA7677620ADE}"/>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C1680455-FE4B-47CB-B452-D40C6858CD33}"/>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17</a:t>
            </a:r>
          </a:p>
        </p:txBody>
      </p:sp>
      <p:graphicFrame>
        <p:nvGraphicFramePr>
          <p:cNvPr id="11" name="Chart"/>
          <p:cNvGraphicFramePr/>
          <p:nvPr/>
        </p:nvGraphicFramePr>
        <p:xfrm>
          <a:off xmlns:a="http://schemas.openxmlformats.org/drawingml/2006/main" x="1285875" y="1790700"/>
          <a:ext xmlns:a="http://schemas.openxmlformats.org/drawingml/2006/main" cx="9525000" cy="3429000"/>
        </p:xfrm>
        <a:graphic xmlns:a="http://schemas.openxmlformats.org/drawingml/2006/main">
          <a:graphicData uri="http://schemas.openxmlformats.org/drawingml/2006/chart">
            <c:chart xmlns:r="http://schemas.openxmlformats.org/officeDocument/2006/relationships" xmlns:c="http://schemas.openxmlformats.org/drawingml/2006/chart" r:id="R15fb8dbf97904ce4"/>
          </a:graphicData>
        </a:graphic>
      </p:graphicFrame>
      <p:sp>
        <p:nvSpPr>
          <p:cNvPr id="6" name="">
            <a:extLst xmlns:a="http://schemas.openxmlformats.org/drawingml/2006/main">
              <a:ext uri="{FF2B5EF4-FFF2-40B4-BE49-F238E27FC236}">
                <a16:creationId xmlns:a16="http://schemas.microsoft.com/office/drawing/2014/main" id="{AE224485-9890-4A0F-8CCD-AB4E77D067D5}"/>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POST stayed at 450-454 bytes; no selected file bytes or original filename appeared in it. Local browser test.</a:t>
            </a:r>
          </a:p>
        </p:txBody>
      </p:sp>
    </p:spTree>
    <p:extLst>
      <p:ext uri="{BB962C8B-B14F-4D97-AF65-F5344CB8AC3E}">
        <p14:creationId xmlns:p14="http://schemas.microsoft.com/office/powerpoint/2010/main" val="39903844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05B99B8-0CAA-4898-848D-F69F476DAC47}"/>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CPU by service</a:t>
            </a:r>
          </a:p>
        </p:txBody>
      </p:sp>
      <p:sp>
        <p:nvSpPr>
          <p:cNvPr id="2" name="">
            <a:extLst xmlns:a="http://schemas.openxmlformats.org/drawingml/2006/main">
              <a:ext uri="{FF2B5EF4-FFF2-40B4-BE49-F238E27FC236}">
                <a16:creationId xmlns:a16="http://schemas.microsoft.com/office/drawing/2014/main" id="{8ACDB584-4842-4AB3-A55C-0B59E6535891}"/>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Twelve read-only kubelet snapshots during an additional 330-write staged run</a:t>
            </a:r>
          </a:p>
        </p:txBody>
      </p:sp>
      <p:sp>
        <p:nvSpPr>
          <p:cNvPr id="3" name="">
            <a:extLst xmlns:a="http://schemas.openxmlformats.org/drawingml/2006/main">
              <a:ext uri="{FF2B5EF4-FFF2-40B4-BE49-F238E27FC236}">
                <a16:creationId xmlns:a16="http://schemas.microsoft.com/office/drawing/2014/main" id="{98B30390-DD33-44D1-AB9C-2DF20710D71B}"/>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36600CCF-A8E9-4387-AE52-ACE3F325B13E}"/>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18</a:t>
            </a:r>
          </a:p>
        </p:txBody>
      </p:sp>
      <p:graphicFrame>
        <p:nvGraphicFramePr>
          <p:cNvPr id="11" name="Chart"/>
          <p:cNvGraphicFramePr/>
          <p:nvPr/>
        </p:nvGraphicFramePr>
        <p:xfrm>
          <a:off xmlns:a="http://schemas.openxmlformats.org/drawingml/2006/main" x="1714500" y="1685925"/>
          <a:ext xmlns:a="http://schemas.openxmlformats.org/drawingml/2006/main" cx="8763000" cy="3905250"/>
        </p:xfrm>
        <a:graphic xmlns:a="http://schemas.openxmlformats.org/drawingml/2006/main">
          <a:graphicData uri="http://schemas.openxmlformats.org/drawingml/2006/chart">
            <c:chart xmlns:r="http://schemas.openxmlformats.org/officeDocument/2006/relationships" xmlns:c="http://schemas.openxmlformats.org/drawingml/2006/chart" r:id="R7253911712274853"/>
          </a:graphicData>
        </a:graphic>
      </p:graphicFrame>
      <p:sp>
        <p:nvSpPr>
          <p:cNvPr id="6" name="">
            <a:extLst xmlns:a="http://schemas.openxmlformats.org/drawingml/2006/main">
              <a:ext uri="{FF2B5EF4-FFF2-40B4-BE49-F238E27FC236}">
                <a16:creationId xmlns:a16="http://schemas.microsoft.com/office/drawing/2014/main" id="{5678E7FC-B0A9-4848-90F5-8D10DF93C64C}"/>
              </a:ext>
            </a:extLst>
          </p:cNvPr>
          <p:cNvSpPr>
            <a:spLocks xmlns:a="http://schemas.openxmlformats.org/drawingml/2006/main" noGrp="1"/>
          </p:cNvSpPr>
          <p:nvPr/>
        </p:nvSpPr>
        <p:spPr>
          <a:xfrm xmlns:a="http://schemas.openxmlformats.org/drawingml/2006/main">
            <a:off x="714375" y="57340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Observed usage during a bounded run; no Metrics Server or new collector was installed.</a:t>
            </a:r>
          </a:p>
        </p:txBody>
      </p:sp>
    </p:spTree>
    <p:extLst>
      <p:ext uri="{BB962C8B-B14F-4D97-AF65-F5344CB8AC3E}">
        <p14:creationId xmlns:p14="http://schemas.microsoft.com/office/powerpoint/2010/main" val="175375591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56C5CEC-5A6A-4530-9198-60A8F424BEF4}"/>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Memory by service</a:t>
            </a:r>
          </a:p>
        </p:txBody>
      </p:sp>
      <p:sp>
        <p:nvSpPr>
          <p:cNvPr id="2" name="">
            <a:extLst xmlns:a="http://schemas.openxmlformats.org/drawingml/2006/main">
              <a:ext uri="{FF2B5EF4-FFF2-40B4-BE49-F238E27FC236}">
                <a16:creationId xmlns:a16="http://schemas.microsoft.com/office/drawing/2014/main" id="{EA83AC15-8FDF-4C7E-B3AC-B2EDCB9E5CE5}"/>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Twelve read-only kubelet snapshots during an additional 330-write staged run</a:t>
            </a:r>
          </a:p>
        </p:txBody>
      </p:sp>
      <p:sp>
        <p:nvSpPr>
          <p:cNvPr id="3" name="">
            <a:extLst xmlns:a="http://schemas.openxmlformats.org/drawingml/2006/main">
              <a:ext uri="{FF2B5EF4-FFF2-40B4-BE49-F238E27FC236}">
                <a16:creationId xmlns:a16="http://schemas.microsoft.com/office/drawing/2014/main" id="{2820D2E8-38A2-4B68-B76F-DEDEBC2695A2}"/>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70CA342A-74C9-45BF-B8FE-47355CB02754}"/>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19</a:t>
            </a:r>
          </a:p>
        </p:txBody>
      </p:sp>
      <p:graphicFrame>
        <p:nvGraphicFramePr>
          <p:cNvPr id="11" name="Chart"/>
          <p:cNvGraphicFramePr/>
          <p:nvPr/>
        </p:nvGraphicFramePr>
        <p:xfrm>
          <a:off xmlns:a="http://schemas.openxmlformats.org/drawingml/2006/main" x="1714500" y="1685925"/>
          <a:ext xmlns:a="http://schemas.openxmlformats.org/drawingml/2006/main" cx="8763000" cy="3905250"/>
        </p:xfrm>
        <a:graphic xmlns:a="http://schemas.openxmlformats.org/drawingml/2006/main">
          <a:graphicData uri="http://schemas.openxmlformats.org/drawingml/2006/chart">
            <c:chart xmlns:r="http://schemas.openxmlformats.org/officeDocument/2006/relationships" xmlns:c="http://schemas.openxmlformats.org/drawingml/2006/chart" r:id="Rc1e296b5331f4068"/>
          </a:graphicData>
        </a:graphic>
      </p:graphicFrame>
      <p:sp>
        <p:nvSpPr>
          <p:cNvPr id="6" name="">
            <a:extLst xmlns:a="http://schemas.openxmlformats.org/drawingml/2006/main">
              <a:ext uri="{FF2B5EF4-FFF2-40B4-BE49-F238E27FC236}">
                <a16:creationId xmlns:a16="http://schemas.microsoft.com/office/drawing/2014/main" id="{B6D6CE17-6BA3-4876-9F1E-66F9E3E92B8C}"/>
              </a:ext>
            </a:extLst>
          </p:cNvPr>
          <p:cNvSpPr>
            <a:spLocks xmlns:a="http://schemas.openxmlformats.org/drawingml/2006/main" noGrp="1"/>
          </p:cNvSpPr>
          <p:nvPr/>
        </p:nvSpPr>
        <p:spPr>
          <a:xfrm xmlns:a="http://schemas.openxmlformats.org/drawingml/2006/main">
            <a:off x="714375" y="57340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Observed usage during a bounded run; no Metrics Server or new collector was installed.</a:t>
            </a:r>
          </a:p>
        </p:txBody>
      </p:sp>
    </p:spTree>
    <p:extLst>
      <p:ext uri="{BB962C8B-B14F-4D97-AF65-F5344CB8AC3E}">
        <p14:creationId xmlns:p14="http://schemas.microsoft.com/office/powerpoint/2010/main" val="34995989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E2582A-6BD6-450C-A100-C1C228A41187}"/>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Adding a real third Fabric organization</a:t>
            </a:r>
          </a:p>
        </p:txBody>
      </p:sp>
      <p:sp>
        <p:nvSpPr>
          <p:cNvPr id="2" name="">
            <a:extLst xmlns:a="http://schemas.openxmlformats.org/drawingml/2006/main">
              <a:ext uri="{FF2B5EF4-FFF2-40B4-BE49-F238E27FC236}">
                <a16:creationId xmlns:a16="http://schemas.microsoft.com/office/drawing/2014/main" id="{9672342D-9C6F-40AF-9D9F-433D7FBE51CB}"/>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Observed elapsed time from first onboarding snapshot; manual work included</a:t>
            </a:r>
          </a:p>
        </p:txBody>
      </p:sp>
      <p:sp>
        <p:nvSpPr>
          <p:cNvPr id="3" name="">
            <a:extLst xmlns:a="http://schemas.openxmlformats.org/drawingml/2006/main">
              <a:ext uri="{FF2B5EF4-FFF2-40B4-BE49-F238E27FC236}">
                <a16:creationId xmlns:a16="http://schemas.microsoft.com/office/drawing/2014/main" id="{E73DFCA5-A43A-4CDE-9120-A0F70682F920}"/>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5559F719-FDB9-479E-840B-D23CEC1D342F}"/>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20</a:t>
            </a:r>
          </a:p>
        </p:txBody>
      </p:sp>
      <p:graphicFrame>
        <p:nvGraphicFramePr>
          <p:cNvPr id="11" name="Chart"/>
          <p:cNvGraphicFramePr/>
          <p:nvPr/>
        </p:nvGraphicFramePr>
        <p:xfrm>
          <a:off xmlns:a="http://schemas.openxmlformats.org/drawingml/2006/main" x="1952625" y="1666875"/>
          <a:ext xmlns:a="http://schemas.openxmlformats.org/drawingml/2006/main" cx="8334375" cy="3857625"/>
        </p:xfrm>
        <a:graphic xmlns:a="http://schemas.openxmlformats.org/drawingml/2006/main">
          <a:graphicData uri="http://schemas.openxmlformats.org/drawingml/2006/chart">
            <c:chart xmlns:r="http://schemas.openxmlformats.org/officeDocument/2006/relationships" xmlns:c="http://schemas.openxmlformats.org/drawingml/2006/chart" r:id="R2c25c2c7eb1b43a5"/>
          </a:graphicData>
        </a:graphic>
      </p:graphicFrame>
      <p:sp>
        <p:nvSpPr>
          <p:cNvPr id="6" name="">
            <a:extLst xmlns:a="http://schemas.openxmlformats.org/drawingml/2006/main">
              <a:ext uri="{FF2B5EF4-FFF2-40B4-BE49-F238E27FC236}">
                <a16:creationId xmlns:a16="http://schemas.microsoft.com/office/drawing/2014/main" id="{62E5BEC1-DBCB-4403-B627-A6C3FD74B298}"/>
              </a:ext>
            </a:extLst>
          </p:cNvPr>
          <p:cNvSpPr>
            <a:spLocks xmlns:a="http://schemas.openxmlformats.org/drawingml/2006/main" noGrp="1"/>
          </p:cNvSpPr>
          <p:nvPr/>
        </p:nvSpPr>
        <p:spPr>
          <a:xfrm xmlns:a="http://schemas.openxmlformats.org/drawingml/2006/main">
            <a:off x="714375" y="5753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First confirmed workflow at 28.8 minutes. This includes operator checks and a corrected peer-join step.</a:t>
            </a:r>
          </a:p>
        </p:txBody>
      </p:sp>
    </p:spTree>
    <p:extLst>
      <p:ext uri="{BB962C8B-B14F-4D97-AF65-F5344CB8AC3E}">
        <p14:creationId xmlns:p14="http://schemas.microsoft.com/office/powerpoint/2010/main" val="181860329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AEDFA2-6C3C-4FEC-B09E-97EE2F45C4DF}"/>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Pods ready, then GitOps converged</a:t>
            </a:r>
          </a:p>
        </p:txBody>
      </p:sp>
      <p:sp>
        <p:nvSpPr>
          <p:cNvPr id="2" name="">
            <a:extLst xmlns:a="http://schemas.openxmlformats.org/drawingml/2006/main">
              <a:ext uri="{FF2B5EF4-FFF2-40B4-BE49-F238E27FC236}">
                <a16:creationId xmlns:a16="http://schemas.microsoft.com/office/drawing/2014/main" id="{4B16B3A5-39E0-429F-A4D0-1A06DB946FC3}"/>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Third-organization pods observed by Kubernetes, sampled about every 10-14 seconds</a:t>
            </a:r>
          </a:p>
        </p:txBody>
      </p:sp>
      <p:sp>
        <p:nvSpPr>
          <p:cNvPr id="3" name="">
            <a:extLst xmlns:a="http://schemas.openxmlformats.org/drawingml/2006/main">
              <a:ext uri="{FF2B5EF4-FFF2-40B4-BE49-F238E27FC236}">
                <a16:creationId xmlns:a16="http://schemas.microsoft.com/office/drawing/2014/main" id="{917F9272-F55D-47B8-B7BA-F3A323B1F514}"/>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C69156CF-85D9-4579-8983-4450F4855C99}"/>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21</a:t>
            </a:r>
          </a:p>
        </p:txBody>
      </p:sp>
      <p:graphicFrame>
        <p:nvGraphicFramePr>
          <p:cNvPr id="11" name="Chart"/>
          <p:cNvGraphicFramePr/>
          <p:nvPr/>
        </p:nvGraphicFramePr>
        <p:xfrm>
          <a:off xmlns:a="http://schemas.openxmlformats.org/drawingml/2006/main" x="971550" y="1771650"/>
          <a:ext xmlns:a="http://schemas.openxmlformats.org/drawingml/2006/main" cx="10191750" cy="3667125"/>
        </p:xfrm>
        <a:graphic xmlns:a="http://schemas.openxmlformats.org/drawingml/2006/main">
          <a:graphicData uri="http://schemas.openxmlformats.org/drawingml/2006/chart">
            <c:chart xmlns:r="http://schemas.openxmlformats.org/officeDocument/2006/relationships" xmlns:c="http://schemas.openxmlformats.org/drawingml/2006/chart" r:id="R7444929ce18c4e1a"/>
          </a:graphicData>
        </a:graphic>
      </p:graphicFrame>
      <p:sp>
        <p:nvSpPr>
          <p:cNvPr id="6" name="">
            <a:extLst xmlns:a="http://schemas.openxmlformats.org/drawingml/2006/main">
              <a:ext uri="{FF2B5EF4-FFF2-40B4-BE49-F238E27FC236}">
                <a16:creationId xmlns:a16="http://schemas.microsoft.com/office/drawing/2014/main" id="{B9B3D861-A80B-477E-8832-52C99A44582A}"/>
              </a:ext>
            </a:extLst>
          </p:cNvPr>
          <p:cNvSpPr>
            <a:spLocks xmlns:a="http://schemas.openxmlformats.org/drawingml/2006/main" noGrp="1"/>
          </p:cNvSpPr>
          <p:nvPr/>
        </p:nvSpPr>
        <p:spPr>
          <a:xfrm xmlns:a="http://schemas.openxmlformats.org/drawingml/2006/main">
            <a:off x="714375" y="572452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Argo reached Synced/Healthy on the reviewed revision; all five third-org pods were ready.</a:t>
            </a:r>
          </a:p>
        </p:txBody>
      </p:sp>
    </p:spTree>
    <p:extLst>
      <p:ext uri="{BB962C8B-B14F-4D97-AF65-F5344CB8AC3E}">
        <p14:creationId xmlns:p14="http://schemas.microsoft.com/office/powerpoint/2010/main" val="29310305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0E42C02-9976-452F-A995-3900699DC760}"/>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The first third-org artifact was traceable</a:t>
            </a:r>
          </a:p>
        </p:txBody>
      </p:sp>
      <p:sp>
        <p:nvSpPr>
          <p:cNvPr id="2" name="">
            <a:extLst xmlns:a="http://schemas.openxmlformats.org/drawingml/2006/main">
              <a:ext uri="{FF2B5EF4-FFF2-40B4-BE49-F238E27FC236}">
                <a16:creationId xmlns:a16="http://schemas.microsoft.com/office/drawing/2014/main" id="{CF6C6323-8E96-4D7B-BABC-F0E5082F7D84}"/>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Client-observed elapsed time from POST start for one public synthetic artifact</a:t>
            </a:r>
          </a:p>
        </p:txBody>
      </p:sp>
      <p:sp>
        <p:nvSpPr>
          <p:cNvPr id="3" name="">
            <a:extLst xmlns:a="http://schemas.openxmlformats.org/drawingml/2006/main">
              <a:ext uri="{FF2B5EF4-FFF2-40B4-BE49-F238E27FC236}">
                <a16:creationId xmlns:a16="http://schemas.microsoft.com/office/drawing/2014/main" id="{94A58282-CEB2-4AEA-8434-D90FCC468FB2}"/>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BED5D3A1-D0AB-4931-9D6C-E49634CD2474}"/>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22</a:t>
            </a:r>
          </a:p>
        </p:txBody>
      </p:sp>
      <p:graphicFrame>
        <p:nvGraphicFramePr>
          <p:cNvPr id="11" name="Chart"/>
          <p:cNvGraphicFramePr/>
          <p:nvPr/>
        </p:nvGraphicFramePr>
        <p:xfrm>
          <a:off xmlns:a="http://schemas.openxmlformats.org/drawingml/2006/main" x="1428750" y="1790700"/>
          <a:ext xmlns:a="http://schemas.openxmlformats.org/drawingml/2006/main" cx="9477375" cy="3476625"/>
        </p:xfrm>
        <a:graphic xmlns:a="http://schemas.openxmlformats.org/drawingml/2006/main">
          <a:graphicData uri="http://schemas.openxmlformats.org/drawingml/2006/chart">
            <c:chart xmlns:r="http://schemas.openxmlformats.org/officeDocument/2006/relationships" xmlns:c="http://schemas.openxmlformats.org/drawingml/2006/chart" r:id="Reff8c26e89d143d2"/>
          </a:graphicData>
        </a:graphic>
      </p:graphicFrame>
      <p:sp>
        <p:nvSpPr>
          <p:cNvPr id="6" name="">
            <a:extLst xmlns:a="http://schemas.openxmlformats.org/drawingml/2006/main">
              <a:ext uri="{FF2B5EF4-FFF2-40B4-BE49-F238E27FC236}">
                <a16:creationId xmlns:a16="http://schemas.microsoft.com/office/drawing/2014/main" id="{37982FE9-1F21-4271-BC81-8DDBB3218E8A}"/>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Workflow confirmed in 2.25 seconds. Pod readiness alone would not prove this provenance path.</a:t>
            </a:r>
          </a:p>
        </p:txBody>
      </p:sp>
    </p:spTree>
    <p:extLst>
      <p:ext uri="{BB962C8B-B14F-4D97-AF65-F5344CB8AC3E}">
        <p14:creationId xmlns:p14="http://schemas.microsoft.com/office/powerpoint/2010/main" val="186543721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30D526-6A73-4FB5-95C5-81E3AB287749}"/>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The original organizations still worked</a:t>
            </a:r>
          </a:p>
        </p:txBody>
      </p:sp>
      <p:sp>
        <p:nvSpPr>
          <p:cNvPr id="2" name="">
            <a:extLst xmlns:a="http://schemas.openxmlformats.org/drawingml/2006/main">
              <a:ext uri="{FF2B5EF4-FFF2-40B4-BE49-F238E27FC236}">
                <a16:creationId xmlns:a16="http://schemas.microsoft.com/office/drawing/2014/main" id="{F299A3C0-B142-42E3-9E3C-70AB01CC4721}"/>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One post-onboarding synthetic artifact per organization; all had readable history</a:t>
            </a:r>
          </a:p>
        </p:txBody>
      </p:sp>
      <p:sp>
        <p:nvSpPr>
          <p:cNvPr id="3" name="">
            <a:extLst xmlns:a="http://schemas.openxmlformats.org/drawingml/2006/main">
              <a:ext uri="{FF2B5EF4-FFF2-40B4-BE49-F238E27FC236}">
                <a16:creationId xmlns:a16="http://schemas.microsoft.com/office/drawing/2014/main" id="{4874B8EB-1AE4-489A-8E30-4F00F4A54F62}"/>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8F298608-A417-42DD-A59C-0F53F58E2C49}"/>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23</a:t>
            </a:r>
          </a:p>
        </p:txBody>
      </p:sp>
      <p:graphicFrame>
        <p:nvGraphicFramePr>
          <p:cNvPr id="11" name="Chart"/>
          <p:cNvGraphicFramePr/>
          <p:nvPr/>
        </p:nvGraphicFramePr>
        <p:xfrm>
          <a:off xmlns:a="http://schemas.openxmlformats.org/drawingml/2006/main" x="1495425" y="1762125"/>
          <a:ext xmlns:a="http://schemas.openxmlformats.org/drawingml/2006/main" cx="9191625" cy="3524250"/>
        </p:xfrm>
        <a:graphic xmlns:a="http://schemas.openxmlformats.org/drawingml/2006/main">
          <a:graphicData uri="http://schemas.openxmlformats.org/drawingml/2006/chart">
            <c:chart xmlns:r="http://schemas.openxmlformats.org/officeDocument/2006/relationships" xmlns:c="http://schemas.openxmlformats.org/drawingml/2006/chart" r:id="R977f25d85ea34427"/>
          </a:graphicData>
        </a:graphic>
      </p:graphicFrame>
      <p:sp>
        <p:nvSpPr>
          <p:cNvPr id="6" name="">
            <a:extLst xmlns:a="http://schemas.openxmlformats.org/drawingml/2006/main">
              <a:ext uri="{FF2B5EF4-FFF2-40B4-BE49-F238E27FC236}">
                <a16:creationId xmlns:a16="http://schemas.microsoft.com/office/drawing/2014/main" id="{A2DACB05-02EB-49C7-8F6B-30B972438F32}"/>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Three confirmed artifacts; 3/3 histories readable; 9/9 ownership checks passed.</a:t>
            </a:r>
          </a:p>
        </p:txBody>
      </p:sp>
    </p:spTree>
    <p:extLst>
      <p:ext uri="{BB962C8B-B14F-4D97-AF65-F5344CB8AC3E}">
        <p14:creationId xmlns:p14="http://schemas.microsoft.com/office/powerpoint/2010/main" val="8735717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74501B9-5F78-4694-9E0F-7118C3F648F5}"/>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Five more pods, no fourth node</a:t>
            </a:r>
          </a:p>
        </p:txBody>
      </p:sp>
      <p:sp>
        <p:nvSpPr>
          <p:cNvPr id="2" name="">
            <a:extLst xmlns:a="http://schemas.openxmlformats.org/drawingml/2006/main">
              <a:ext uri="{FF2B5EF4-FFF2-40B4-BE49-F238E27FC236}">
                <a16:creationId xmlns:a16="http://schemas.microsoft.com/office/drawing/2014/main" id="{DDEFA7BF-8106-48DA-BF0D-96D5A9EBF01D}"/>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Ready Kubernetes pods before and after third-org onboarding</a:t>
            </a:r>
          </a:p>
        </p:txBody>
      </p:sp>
      <p:sp>
        <p:nvSpPr>
          <p:cNvPr id="3" name="">
            <a:extLst xmlns:a="http://schemas.openxmlformats.org/drawingml/2006/main">
              <a:ext uri="{FF2B5EF4-FFF2-40B4-BE49-F238E27FC236}">
                <a16:creationId xmlns:a16="http://schemas.microsoft.com/office/drawing/2014/main" id="{4D063C2A-5E9F-4F19-956B-E21BE8BF61C5}"/>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9500DE1D-BC42-4B68-8AD5-F01890AB6BF7}"/>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24</a:t>
            </a:r>
          </a:p>
        </p:txBody>
      </p:sp>
      <p:graphicFrame>
        <p:nvGraphicFramePr>
          <p:cNvPr id="11" name="Chart"/>
          <p:cNvGraphicFramePr/>
          <p:nvPr/>
        </p:nvGraphicFramePr>
        <p:xfrm>
          <a:off xmlns:a="http://schemas.openxmlformats.org/drawingml/2006/main" x="1447800" y="1762125"/>
          <a:ext xmlns:a="http://schemas.openxmlformats.org/drawingml/2006/main" cx="9305925" cy="3590925"/>
        </p:xfrm>
        <a:graphic xmlns:a="http://schemas.openxmlformats.org/drawingml/2006/main">
          <a:graphicData uri="http://schemas.openxmlformats.org/drawingml/2006/chart">
            <c:chart xmlns:r="http://schemas.openxmlformats.org/officeDocument/2006/relationships" xmlns:c="http://schemas.openxmlformats.org/drawingml/2006/chart" r:id="R9016ddcc5e5c4812"/>
          </a:graphicData>
        </a:graphic>
      </p:graphicFrame>
      <p:sp>
        <p:nvSpPr>
          <p:cNvPr id="6" name="">
            <a:extLst xmlns:a="http://schemas.openxmlformats.org/drawingml/2006/main">
              <a:ext uri="{FF2B5EF4-FFF2-40B4-BE49-F238E27FC236}">
                <a16:creationId xmlns:a16="http://schemas.microsoft.com/office/drawing/2014/main" id="{D57DCBE6-E0E6-4316-A551-15CF76E2071E}"/>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71 to 76 ready pods; EKS nodes stayed at three. This is not a zero-cost addition.</a:t>
            </a:r>
          </a:p>
        </p:txBody>
      </p:sp>
    </p:spTree>
    <p:extLst>
      <p:ext uri="{BB962C8B-B14F-4D97-AF65-F5344CB8AC3E}">
        <p14:creationId xmlns:p14="http://schemas.microsoft.com/office/powerpoint/2010/main" val="17537763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2026-09-30T19:57:35.6350000Z</dcterms:created>
  <dcterms:modified xsi:type="dcterms:W3CDTF">2026-09-30T19:57:35.6350000Z</dcterms:modified>
</coreProperties>
</file>