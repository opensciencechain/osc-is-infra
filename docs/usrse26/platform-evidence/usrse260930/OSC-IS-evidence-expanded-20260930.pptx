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9.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0.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7.xml" ContentType="application/vnd.openxmlformats-officedocument.drawingml.chart+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7e56357269940fc" /><Relationship Type="http://schemas.openxmlformats.org/officeDocument/2006/relationships/extended-properties" Target="/docProps/app.xml" Id="Rfdd4caf3df134ffe" /><Relationship Type="http://schemas.openxmlformats.org/officeDocument/2006/relationships/officeDocument" Target="/ppt/presentation.xml" Id="Rc3256dac6cf24054" /></Relationships>
</file>

<file path=ppt/presentation.xml><?xml version="1.0" encoding="utf-8"?>
<p:presentation xmlns:p="http://schemas.openxmlformats.org/presentationml/2006/main">
  <p:sldMasterIdLst>
    <p:sldMasterId xmlns:r="http://schemas.openxmlformats.org/officeDocument/2006/relationships" id="2147483648" r:id="R86ddce8c22b740cf"/>
  </p:sldMasterIdLst>
  <p:notesMasterIdLst>
    <p:notesMasterId xmlns:r="http://schemas.openxmlformats.org/officeDocument/2006/relationships" r:id="R34e623716bbc4edb"/>
  </p:notesMasterIdLst>
  <p:sldIdLst>
    <p:sldId xmlns:r="http://schemas.openxmlformats.org/officeDocument/2006/relationships" id="256" r:id="Ree42cb7e2bd74fb9"/>
    <p:sldId xmlns:r="http://schemas.openxmlformats.org/officeDocument/2006/relationships" id="257" r:id="R99439c82bbb046f2"/>
    <p:sldId xmlns:r="http://schemas.openxmlformats.org/officeDocument/2006/relationships" id="258" r:id="R63ab3d1812ae4678"/>
    <p:sldId xmlns:r="http://schemas.openxmlformats.org/officeDocument/2006/relationships" id="259" r:id="R5115f5267e2e4935"/>
    <p:sldId xmlns:r="http://schemas.openxmlformats.org/officeDocument/2006/relationships" id="260" r:id="R01f5614e929141c9"/>
    <p:sldId xmlns:r="http://schemas.openxmlformats.org/officeDocument/2006/relationships" id="261" r:id="R8932d3e78cf645a2"/>
    <p:sldId xmlns:r="http://schemas.openxmlformats.org/officeDocument/2006/relationships" id="262" r:id="R7b56cf8a3f404ec0"/>
    <p:sldId xmlns:r="http://schemas.openxmlformats.org/officeDocument/2006/relationships" id="263" r:id="R0cf95d295382437e"/>
    <p:sldId xmlns:r="http://schemas.openxmlformats.org/officeDocument/2006/relationships" id="264" r:id="R4f73ee2286424e88"/>
    <p:sldId xmlns:r="http://schemas.openxmlformats.org/officeDocument/2006/relationships" id="265" r:id="Rdab4a1c315c540a7"/>
    <p:sldId xmlns:r="http://schemas.openxmlformats.org/officeDocument/2006/relationships" id="266" r:id="R85b11c5f31054ac0"/>
    <p:sldId xmlns:r="http://schemas.openxmlformats.org/officeDocument/2006/relationships" id="267" r:id="R2cd7221e108b4770"/>
    <p:sldId xmlns:r="http://schemas.openxmlformats.org/officeDocument/2006/relationships" id="268" r:id="Rc5270e618bc04982"/>
    <p:sldId xmlns:r="http://schemas.openxmlformats.org/officeDocument/2006/relationships" id="269" r:id="Rf9e947f69b9a4b56"/>
    <p:sldId xmlns:r="http://schemas.openxmlformats.org/officeDocument/2006/relationships" id="270" r:id="R4d063af14dbd42f2"/>
    <p:sldId xmlns:r="http://schemas.openxmlformats.org/officeDocument/2006/relationships" id="271" r:id="R0046dcb49f984888"/>
    <p:sldId xmlns:r="http://schemas.openxmlformats.org/officeDocument/2006/relationships" id="272" r:id="R9f481a3588c04149"/>
    <p:sldId xmlns:r="http://schemas.openxmlformats.org/officeDocument/2006/relationships" id="273" r:id="R6ba1caf58aa94f67"/>
    <p:sldId xmlns:r="http://schemas.openxmlformats.org/officeDocument/2006/relationships" id="274" r:id="R699170f67e2542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36ed63c0b24eb1" /><Relationship Type="http://schemas.openxmlformats.org/officeDocument/2006/relationships/slideMaster" Target="/ppt/slideMasters/slideMaster1.xml" Id="R86ddce8c22b740cf" /><Relationship Type="http://schemas.openxmlformats.org/officeDocument/2006/relationships/notesMaster" Target="/ppt/notesMasters/notesMaster1.xml" Id="R34e623716bbc4edb" /><Relationship Type="http://schemas.openxmlformats.org/officeDocument/2006/relationships/presProps" Target="/ppt/presProps.xml" Id="R1cfc20563c55423e" /><Relationship Type="http://schemas.openxmlformats.org/officeDocument/2006/relationships/tableStyles" Target="/ppt/tableStyles.xml" Id="R084029e468b3442e" /><Relationship Type="http://schemas.openxmlformats.org/officeDocument/2006/relationships/slide" Target="/ppt/slides/slide1.xml" Id="Ree42cb7e2bd74fb9" /><Relationship Type="http://schemas.openxmlformats.org/officeDocument/2006/relationships/slide" Target="/ppt/slides/slide2.xml" Id="R99439c82bbb046f2" /><Relationship Type="http://schemas.openxmlformats.org/officeDocument/2006/relationships/slide" Target="/ppt/slides/slide3.xml" Id="R63ab3d1812ae4678" /><Relationship Type="http://schemas.openxmlformats.org/officeDocument/2006/relationships/slide" Target="/ppt/slides/slide4.xml" Id="R5115f5267e2e4935" /><Relationship Type="http://schemas.openxmlformats.org/officeDocument/2006/relationships/slide" Target="/ppt/slides/slide5.xml" Id="R01f5614e929141c9" /><Relationship Type="http://schemas.openxmlformats.org/officeDocument/2006/relationships/slide" Target="/ppt/slides/slide6.xml" Id="R8932d3e78cf645a2" /><Relationship Type="http://schemas.openxmlformats.org/officeDocument/2006/relationships/slide" Target="/ppt/slides/slide7.xml" Id="R7b56cf8a3f404ec0" /><Relationship Type="http://schemas.openxmlformats.org/officeDocument/2006/relationships/slide" Target="/ppt/slides/slide8.xml" Id="R0cf95d295382437e" /><Relationship Type="http://schemas.openxmlformats.org/officeDocument/2006/relationships/slide" Target="/ppt/slides/slide9.xml" Id="R4f73ee2286424e88" /><Relationship Type="http://schemas.openxmlformats.org/officeDocument/2006/relationships/slide" Target="/ppt/slides/slide10.xml" Id="Rdab4a1c315c540a7" /><Relationship Type="http://schemas.openxmlformats.org/officeDocument/2006/relationships/slide" Target="/ppt/slides/slide11.xml" Id="R85b11c5f31054ac0" /><Relationship Type="http://schemas.openxmlformats.org/officeDocument/2006/relationships/slide" Target="/ppt/slides/slide12.xml" Id="R2cd7221e108b4770" /><Relationship Type="http://schemas.openxmlformats.org/officeDocument/2006/relationships/slide" Target="/ppt/slides/slide13.xml" Id="Rc5270e618bc04982" /><Relationship Type="http://schemas.openxmlformats.org/officeDocument/2006/relationships/slide" Target="/ppt/slides/slide14.xml" Id="Rf9e947f69b9a4b56" /><Relationship Type="http://schemas.openxmlformats.org/officeDocument/2006/relationships/slide" Target="/ppt/slides/slide15.xml" Id="R4d063af14dbd42f2" /><Relationship Type="http://schemas.openxmlformats.org/officeDocument/2006/relationships/slide" Target="/ppt/slides/slide16.xml" Id="R0046dcb49f984888" /><Relationship Type="http://schemas.openxmlformats.org/officeDocument/2006/relationships/slide" Target="/ppt/slides/slide17.xml" Id="R9f481a3588c04149" /><Relationship Type="http://schemas.openxmlformats.org/officeDocument/2006/relationships/slide" Target="/ppt/slides/slide18.xml" Id="R6ba1caf58aa94f67" /><Relationship Type="http://schemas.openxmlformats.org/officeDocument/2006/relationships/slide" Target="/ppt/slides/slide19.xml" Id="R699170f67e2542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3a484389a84f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7ee47c285b4081" /><Relationship Type="http://schemas.openxmlformats.org/officeDocument/2006/relationships/notesMaster" Target="/ppt/notesMasters/notesMaster1.xml" Id="R0808050642cc4c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0d42dd54564601" /><Relationship Type="http://schemas.openxmlformats.org/officeDocument/2006/relationships/notesMaster" Target="/ppt/notesMasters/notesMaster1.xml" Id="R18c95e1c4de04f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2f201acdba4ef2" /><Relationship Type="http://schemas.openxmlformats.org/officeDocument/2006/relationships/notesMaster" Target="/ppt/notesMasters/notesMaster1.xml" Id="R2e1a381b79784b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416625093e47c8" /><Relationship Type="http://schemas.openxmlformats.org/officeDocument/2006/relationships/notesMaster" Target="/ppt/notesMasters/notesMaster1.xml" Id="R0be2a516e64942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d7a9617e4b4301" /><Relationship Type="http://schemas.openxmlformats.org/officeDocument/2006/relationships/notesMaster" Target="/ppt/notesMasters/notesMaster1.xml" Id="R9883add4c2bb49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041ef350574bd5" /><Relationship Type="http://schemas.openxmlformats.org/officeDocument/2006/relationships/notesMaster" Target="/ppt/notesMasters/notesMaster1.xml" Id="R447c42e7b3e346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7a683a850e4c96" /><Relationship Type="http://schemas.openxmlformats.org/officeDocument/2006/relationships/notesMaster" Target="/ppt/notesMasters/notesMaster1.xml" Id="R96de1968506847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fcc81c133d4e54" /><Relationship Type="http://schemas.openxmlformats.org/officeDocument/2006/relationships/notesMaster" Target="/ppt/notesMasters/notesMaster1.xml" Id="Re7a26bc2c13149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94f76a805d4c0d" /><Relationship Type="http://schemas.openxmlformats.org/officeDocument/2006/relationships/notesMaster" Target="/ppt/notesMasters/notesMaster1.xml" Id="Rfc256f95aea445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fff49a766342e9" /><Relationship Type="http://schemas.openxmlformats.org/officeDocument/2006/relationships/notesMaster" Target="/ppt/notesMasters/notesMaster1.xml" Id="R9cb0fd95168144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99e4779a1c4d77" /><Relationship Type="http://schemas.openxmlformats.org/officeDocument/2006/relationships/notesMaster" Target="/ppt/notesMasters/notesMaster1.xml" Id="R69a7b83fa7c74d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059ae2821e4b99" /><Relationship Type="http://schemas.openxmlformats.org/officeDocument/2006/relationships/notesMaster" Target="/ppt/notesMasters/notesMaster1.xml" Id="R6b6940d4aa1f43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93bb6a1a9b44e2" /><Relationship Type="http://schemas.openxmlformats.org/officeDocument/2006/relationships/notesMaster" Target="/ppt/notesMasters/notesMaster1.xml" Id="R8006d170b23745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26d937f6124b69" /><Relationship Type="http://schemas.openxmlformats.org/officeDocument/2006/relationships/notesMaster" Target="/ppt/notesMasters/notesMaster1.xml" Id="Rac8cc311699148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c5c67ba1294246" /><Relationship Type="http://schemas.openxmlformats.org/officeDocument/2006/relationships/notesMaster" Target="/ppt/notesMasters/notesMaster1.xml" Id="R8f647607e5304e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6bd3190c804179" /><Relationship Type="http://schemas.openxmlformats.org/officeDocument/2006/relationships/notesMaster" Target="/ppt/notesMasters/notesMaster1.xml" Id="R5f9e6d00d67b4f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608bde63df460b" /><Relationship Type="http://schemas.openxmlformats.org/officeDocument/2006/relationships/notesMaster" Target="/ppt/notesMasters/notesMaster1.xml" Id="Rc414074a3f4a48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80f322a36146c9" /><Relationship Type="http://schemas.openxmlformats.org/officeDocument/2006/relationships/notesMaster" Target="/ppt/notesMasters/notesMaster1.xml" Id="Rde80bdbec69e49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24307218704d72" /><Relationship Type="http://schemas.openxmlformats.org/officeDocument/2006/relationships/notesMaster" Target="/ppt/notesMasters/notesMaster1.xml" Id="R784b0e0a0314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C:\Users\ofgar\Projects\GithubProjects\OSC-IS\.codex-showcase-worktrees\OSC-IS-Infra\docs\usrse26\platform-evidence\usrse260930\two-org-metrics-20260930.json; C:\Users\ofgar\Projects\GithubProjects\OSC-IS\.codex-showcase-worktrees\OSC-IS-Infra\docs\usrse26\platform-evidence\usrse260930\two-org-load-metrics-20260930.json. This deck describes the two-organization AWS baseline and bounded synthetic load. No third Fabric peer organization has been deployed. One of 90 fault-run API transaction pointers did not match Fabric history; see the integrity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submissionTiming.*.publicArtifact. Client-observed cumulative time. Poll interval 1 second, so ledger, history and catalog timestamps can be late by approximately one second. API acceptance is not ledger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submissionTiming.*.artifactSequential.confirmed.valuesMs. Each run awaited confirmation before the next started. One-second status polling limits timing resolution; this is a bounded demo probe, not a throughput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isolation.checksByLabel and postRecoveryPostman. The matrix covers API authorization in this run. Direct Fabric identity denial was validated in the earlier AWS stack summary, not retested in these ten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recovery. The clock starts before the disruption command and ends after a new probe succeeds. Gateway and RabbitMQ are recovery scenarios. Peer values measure alternate-peer transaction acceptance while peer1 is down, not peer1 recovery. Each probe had one ledger revision and no duplicate write observed. Small n; not an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gitops.secondsToSyncedHealthy. The API deployment was reduced from two replicas to one. Argo self-heal restored the declared two replicas at the same Git revision. Four individual observations; 133 seconds is real, not discarded. This is not a reconciliation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footprint; and platform/aws/estimate_cost.py. Three m7i.large nodes in three availability zones and 71/71 ready pods. Node mean five-minute CPU was 3.7-4.0 percent in the sampled preceding hour. The USD 0.9425/hour figure is a planning estimate, not billed cost. Kubernetes Metrics API unavailable, so memory usage is not claimed. This is the baseline to compare with a true third-org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normal.stageThroughput. The Fabric series counts transaction timestamps on records later verified as committed; it is NOT a live finality timestamp or confirmed TPS. All 330 normal-run writes eventually reached API SUCCESS and readable Fabric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timing.stageObservedConfirmationLatency. Five samples at 1/s and ten at each other offered rate; one-second polling. Rates were staged briefly. These are observed request-to-status times, not precise Fabric block commit durations.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normal.timelineFiveSeconds. This difference is a proxy for work without a Fabric transaction timestamp, not RabbitMQ queue depth or exact unconfirmed count. Last POST was about 25 seconds after start. All 330 API records were first observed SUCCESS 158.6 seconds after the last POST.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normal.crossOrgByRate, timing.counts, fault.counts. These checks used authenticated API requests to private records owned by the other organization. All 25 normal, 16 timing, and 30 fault-run checks returned HTTP 403. This does not constitute a full direct-Fabric penetration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run.integrity and counts. API and Fabric SHA-256 matched for all 575 writes; each had one history revision. In the gateway fault run, one of 90 API blockchainTxId values differed from the Fabric history transactionId. The chaincode idempotency receipt path is a plausible, not runtime-proven,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fault.timelineTwoSeconds and gateway scale events. NSG gateway scale-down at +7.5s and scale-up at +18.5s from run start; these are kubectl event times, not exact outage duration. All 90 writes later confirmed and had matching hashes and one history revision. One API transaction pointer differed from Fabric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timing.sampledPendingTimeline. A 2-second time grid and 1-second polling introduce observation delay. This is a 45-record sample, not the entire 155-write run or broker queue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timing.latencyByOrgAndRate. The groups have only two to five observations; different stage ordering and polling may explain differences. Exploratory comparison, not a fairness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revisionsByRun. Each of 575 newly created records had exactly one Fabric history item when read after the run. This does not prove exactly-once processing for all failure modes.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C:\Users\ofgar\Projects\GithubProjects\OSC-IS\.codex-showcase-worktrees\OSC-IS-Infra\docs\usrse26\platform-evidence\usrse260930\upload-privacy-metrics-20260930.json; OSC-WebApp/e2e/upload-privacy-evidence.spec.ts. The portal selected 1 KiB, 1 MiB, 10 MiB and 40 MiB synthetic files. Playwright intercepted the JSON POST; API was mocked. Neither filename nor file content appeared in the request. This does not measure a real backend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C:\Users\ofgar\Projects\GithubProjects\OSC-IS\.codex-showcase-worktrees\OSC-IS-Infra\docs\usrse26\platform-evidence\usrse260930\service-resources-20260930.json; capture-service-resources.ps1. Per-sample pod values were summed by logical service, then averaged over 12 snapshots. meanCpuMilliCores is an observed usage metric, not Kubernetes resource requests or a sustained capacity claim. The transient load Job is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C:\Users\ofgar\Projects\GithubProjects\OSC-IS\.codex-showcase-worktrees\OSC-IS-Infra\docs\usrse26\platform-evidence\usrse260930\service-resources-20260930.json; capture-service-resources.ps1. Per-sample pod values were summed by logical service, then averaged over 12 snapshots. meanWorkingSetMiB is an observed usage metric, not Kubernetes resource requests or a sustained capacity claim. The transient load Job is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d390c554a840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0a2871358a41fc" /><Relationship Type="http://schemas.openxmlformats.org/officeDocument/2006/relationships/slideLayout" Target="/ppt/slideLayouts/slideLayout1.xml" Id="Ra5c1fd3e45be4f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c1fd3e45be4f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e08f4c36094a68" /><Relationship Type="http://schemas.openxmlformats.org/officeDocument/2006/relationships/notesSlide" Target="/ppt/notesSlides/notesSlide1.xml" Id="R8fde55735aee42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d9525a8d09464a" /><Relationship Type="http://schemas.openxmlformats.org/officeDocument/2006/relationships/chart" Target="/ppt/slides/charts/chart1.xml" Id="R1413ced4187b47ea" /><Relationship Type="http://schemas.openxmlformats.org/officeDocument/2006/relationships/notesSlide" Target="/ppt/notesSlides/notesSlide2.xml" Id="Rfc7e3ff3148c4c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f0d8d695e94188" /><Relationship Type="http://schemas.openxmlformats.org/officeDocument/2006/relationships/chart" Target="/ppt/slides/charts/chart2.xml" Id="R8cdf94501b184427" /><Relationship Type="http://schemas.openxmlformats.org/officeDocument/2006/relationships/notesSlide" Target="/ppt/notesSlides/notesSlide3.xml" Id="Rfa1ebc311ee24e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3d74411a114700" /><Relationship Type="http://schemas.openxmlformats.org/officeDocument/2006/relationships/notesSlide" Target="/ppt/notesSlides/notesSlide4.xml" Id="R1232911f5040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75055905124603" /><Relationship Type="http://schemas.openxmlformats.org/officeDocument/2006/relationships/chart" Target="/ppt/slides/charts/chart3.xml" Id="Re42987ae92e044e1" /><Relationship Type="http://schemas.openxmlformats.org/officeDocument/2006/relationships/notesSlide" Target="/ppt/notesSlides/notesSlide5.xml" Id="R3ecb3f967cf64a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936e092f414c69" /><Relationship Type="http://schemas.openxmlformats.org/officeDocument/2006/relationships/chart" Target="/ppt/slides/charts/chart4.xml" Id="R887d6bd6927543d1" /><Relationship Type="http://schemas.openxmlformats.org/officeDocument/2006/relationships/notesSlide" Target="/ppt/notesSlides/notesSlide6.xml" Id="R7fc47ba3a33a41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ff405bf41c458e" /><Relationship Type="http://schemas.openxmlformats.org/officeDocument/2006/relationships/chart" Target="/ppt/slides/charts/chart5.xml" Id="Rf9e99c0992e24be8" /><Relationship Type="http://schemas.openxmlformats.org/officeDocument/2006/relationships/notesSlide" Target="/ppt/notesSlides/notesSlide7.xml" Id="R5827f07fd16848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fa5a9980504c7a" /><Relationship Type="http://schemas.openxmlformats.org/officeDocument/2006/relationships/chart" Target="/ppt/slides/charts/chart6.xml" Id="R1aa1168e53c0494d" /><Relationship Type="http://schemas.openxmlformats.org/officeDocument/2006/relationships/notesSlide" Target="/ppt/notesSlides/notesSlide8.xml" Id="R07cb3f02fd2141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f4531e2b1c4e57" /><Relationship Type="http://schemas.openxmlformats.org/officeDocument/2006/relationships/chart" Target="/ppt/slides/charts/chart7.xml" Id="Rdf60711d106244c8" /><Relationship Type="http://schemas.openxmlformats.org/officeDocument/2006/relationships/notesSlide" Target="/ppt/notesSlides/notesSlide9.xml" Id="Rbec39e98c47e40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721ae35e2d4559" /><Relationship Type="http://schemas.openxmlformats.org/officeDocument/2006/relationships/chart" Target="/ppt/slides/charts/chart8.xml" Id="R738c954a1bef41d3" /><Relationship Type="http://schemas.openxmlformats.org/officeDocument/2006/relationships/notesSlide" Target="/ppt/notesSlides/notesSlide10.xml" Id="R7a75a7c6bf454a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15600debd44f1e" /><Relationship Type="http://schemas.openxmlformats.org/officeDocument/2006/relationships/chart" Target="/ppt/slides/charts/chart9.xml" Id="R68fedd36ee9842c8" /><Relationship Type="http://schemas.openxmlformats.org/officeDocument/2006/relationships/notesSlide" Target="/ppt/notesSlides/notesSlide11.xml" Id="R3ae74c64de964f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327be45c444728" /><Relationship Type="http://schemas.openxmlformats.org/officeDocument/2006/relationships/chart" Target="/ppt/slides/charts/chart10.xml" Id="R0cd79db7aeaa4e83" /><Relationship Type="http://schemas.openxmlformats.org/officeDocument/2006/relationships/notesSlide" Target="/ppt/notesSlides/notesSlide12.xml" Id="Re29fe45472c344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8a48d0e13c43df" /><Relationship Type="http://schemas.openxmlformats.org/officeDocument/2006/relationships/chart" Target="/ppt/slides/charts/chart11.xml" Id="Rcd407aa3a18c4283" /><Relationship Type="http://schemas.openxmlformats.org/officeDocument/2006/relationships/notesSlide" Target="/ppt/notesSlides/notesSlide13.xml" Id="Ra9766822203b4b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21b4d05100401e" /><Relationship Type="http://schemas.openxmlformats.org/officeDocument/2006/relationships/chart" Target="/ppt/slides/charts/chart12.xml" Id="R3ff2b04c56e541bd" /><Relationship Type="http://schemas.openxmlformats.org/officeDocument/2006/relationships/notesSlide" Target="/ppt/notesSlides/notesSlide14.xml" Id="R0571fe274b3f4e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6a1a558fb740e7" /><Relationship Type="http://schemas.openxmlformats.org/officeDocument/2006/relationships/chart" Target="/ppt/slides/charts/chart13.xml" Id="R70f1ae74b0274f30" /><Relationship Type="http://schemas.openxmlformats.org/officeDocument/2006/relationships/notesSlide" Target="/ppt/notesSlides/notesSlide15.xml" Id="R127c2859308446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d1eba5c2b0e4aaa" /><Relationship Type="http://schemas.openxmlformats.org/officeDocument/2006/relationships/chart" Target="/ppt/slides/charts/chart14.xml" Id="Rb94cc8f08e0e4b8f" /><Relationship Type="http://schemas.openxmlformats.org/officeDocument/2006/relationships/notesSlide" Target="/ppt/notesSlides/notesSlide16.xml" Id="R1c0eab605cdf4a1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5cb29488434f50" /><Relationship Type="http://schemas.openxmlformats.org/officeDocument/2006/relationships/chart" Target="/ppt/slides/charts/chart15.xml" Id="Raf839fa254924d19" /><Relationship Type="http://schemas.openxmlformats.org/officeDocument/2006/relationships/notesSlide" Target="/ppt/notesSlides/notesSlide17.xml" Id="R9126921d2c0f48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8fb3f0946e4c06" /><Relationship Type="http://schemas.openxmlformats.org/officeDocument/2006/relationships/chart" Target="/ppt/slides/charts/chart16.xml" Id="R20b3809d48fb4247" /><Relationship Type="http://schemas.openxmlformats.org/officeDocument/2006/relationships/notesSlide" Target="/ppt/notesSlides/notesSlide18.xml" Id="R8854251374a94d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d2be8e5aa1444d" /><Relationship Type="http://schemas.openxmlformats.org/officeDocument/2006/relationships/chart" Target="/ppt/slides/charts/chart17.xml" Id="Rfcfb5474f50b4b7d" /><Relationship Type="http://schemas.openxmlformats.org/officeDocument/2006/relationships/notesSlide" Target="/ppt/notesSlides/notesSlide19.xml" Id="R267454a226f7408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strRef>
              <c:f>'Chart Data'!$A$2:$A$5</c:f>
              <c:strCache>
                <c:ptCount val="4"/>
                <c:pt idx="0">
                  <c:v>API accepted</c:v>
                </c:pt>
                <c:pt idx="1">
                  <c:v>Ledger confirmed</c:v>
                </c:pt>
                <c:pt idx="2">
                  <c:v>History readable</c:v>
                </c:pt>
                <c:pt idx="3">
                  <c:v>Catalog visible</c:v>
                </c:pt>
              </c:strCache>
            </c:strRef>
          </c:cat>
          <c:val>
            <c:numRef>
              <c:f>'Chart Data'!$B$2:$B$5</c:f>
              <c:numCache>
                <c:formatCode>0.0</c:formatCode>
                <c:ptCount val="4"/>
                <c:pt idx="0">
                  <c:v>0.06</c:v>
                </c:pt>
                <c:pt idx="1">
                  <c:v>2.25</c:v>
                </c:pt>
                <c:pt idx="2">
                  <c:v>2.35</c:v>
                </c:pt>
                <c:pt idx="3">
                  <c:v>2.4</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strRef>
              <c:f>'Chart Data'!$C$2:$C$5</c:f>
              <c:strCache>
                <c:ptCount val="4"/>
                <c:pt idx="0">
                  <c:v>API accepted</c:v>
                </c:pt>
                <c:pt idx="1">
                  <c:v>Ledger confirmed</c:v>
                </c:pt>
                <c:pt idx="2">
                  <c:v>History readable</c:v>
                </c:pt>
                <c:pt idx="3">
                  <c:v>Catalog visible</c:v>
                </c:pt>
              </c:strCache>
            </c:strRef>
          </c:cat>
          <c:val>
            <c:numRef>
              <c:f>'Chart Data'!$D$2:$D$5</c:f>
              <c:numCache>
                <c:formatCode>0.0</c:formatCode>
                <c:ptCount val="4"/>
                <c:pt idx="0">
                  <c:v>0.06</c:v>
                </c:pt>
                <c:pt idx="1">
                  <c:v>2.25</c:v>
                </c:pt>
                <c:pt idx="2">
                  <c:v>2.34</c:v>
                </c:pt>
                <c:pt idx="3">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2.8"/>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0.0</c:formatCode>
                <c:ptCount val="8"/>
                <c:pt idx="0">
                  <c:v>3.32</c:v>
                </c:pt>
                <c:pt idx="1">
                  <c:v>2.25</c:v>
                </c:pt>
                <c:pt idx="2">
                  <c:v>2.26</c:v>
                </c:pt>
                <c:pt idx="3">
                  <c:v>2.23</c:v>
                </c:pt>
                <c:pt idx="4">
                  <c:v>2.23</c:v>
                </c:pt>
                <c:pt idx="5">
                  <c:v>2.24</c:v>
                </c:pt>
                <c:pt idx="6">
                  <c:v>2.24</c:v>
                </c:pt>
                <c:pt idx="7">
                  <c:v>2.28</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Data'!$C$2:$C$9</c:f>
              <c:numCache>
                <c:formatCode>General</c:formatCode>
                <c:ptCount val="8"/>
                <c:pt idx="0">
                  <c:v>1</c:v>
                </c:pt>
                <c:pt idx="1">
                  <c:v>2</c:v>
                </c:pt>
                <c:pt idx="2">
                  <c:v>3</c:v>
                </c:pt>
                <c:pt idx="3">
                  <c:v>4</c:v>
                </c:pt>
                <c:pt idx="4">
                  <c:v>5</c:v>
                </c:pt>
                <c:pt idx="5">
                  <c:v>6</c:v>
                </c:pt>
                <c:pt idx="6">
                  <c:v>7</c:v>
                </c:pt>
                <c:pt idx="7">
                  <c:v>8</c:v>
                </c:pt>
              </c:numCache>
            </c:numRef>
          </c:cat>
          <c:val>
            <c:numRef>
              <c:f>'Chart Data'!$D$2:$D$9</c:f>
              <c:numCache>
                <c:formatCode>0.0</c:formatCode>
                <c:ptCount val="8"/>
                <c:pt idx="0">
                  <c:v>2.26</c:v>
                </c:pt>
                <c:pt idx="1">
                  <c:v>2.25</c:v>
                </c:pt>
                <c:pt idx="2">
                  <c:v>2.25</c:v>
                </c:pt>
                <c:pt idx="3">
                  <c:v>2.25</c:v>
                </c:pt>
                <c:pt idx="4">
                  <c:v>2.25</c:v>
                </c:pt>
                <c:pt idx="5">
                  <c:v>2.25</c:v>
                </c:pt>
                <c:pt idx="6">
                  <c:v>2.24</c:v>
                </c:pt>
                <c:pt idx="7">
                  <c:v>2.27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Probe number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First cycle</c:v>
          </c:tx>
          <c:spPr>
            <a:solidFill xmlns:a="http://schemas.openxmlformats.org/drawingml/2006/main">
              <a:srgbClr val="167D80"/>
            </a:solidFill>
          </c:spPr>
          <c:cat>
            <c:strRef>
              <c:f>'Chart Data'!$A$2:$A$3</c:f>
              <c:strCache>
                <c:ptCount val="2"/>
                <c:pt idx="0">
                  <c:v>Ledger gateway</c:v>
                </c:pt>
                <c:pt idx="1">
                  <c:v>RabbitMQ / outbox</c:v>
                </c:pt>
              </c:strCache>
            </c:strRef>
          </c:cat>
          <c:val>
            <c:numRef>
              <c:f>'Chart Data'!$B$2:$B$3</c:f>
              <c:numCache>
                <c:formatCode>General</c:formatCode>
                <c:ptCount val="2"/>
                <c:pt idx="0">
                  <c:v>50</c:v>
                </c:pt>
                <c:pt idx="1">
                  <c:v>225</c:v>
                </c:pt>
              </c:numCache>
            </c:numRef>
          </c:val>
        </c:ser>
        <c:ser>
          <c:idx val="1"/>
          <c:order val="1"/>
          <c:tx>
            <c:v>Repeat</c:v>
          </c:tx>
          <c:spPr>
            <a:solidFill xmlns:a="http://schemas.openxmlformats.org/drawingml/2006/main">
              <a:srgbClr val="B87821"/>
            </a:solidFill>
          </c:spPr>
          <c:cat>
            <c:strRef>
              <c:f>'Chart Data'!$C$2:$C$3</c:f>
              <c:strCache>
                <c:ptCount val="2"/>
                <c:pt idx="0">
                  <c:v>Ledger gateway</c:v>
                </c:pt>
                <c:pt idx="1">
                  <c:v>RabbitMQ / outbox</c:v>
                </c:pt>
              </c:strCache>
            </c:strRef>
          </c:cat>
          <c:val>
            <c:numRef>
              <c:f>'Chart Data'!$D$2:$D$3</c:f>
              <c:numCache>
                <c:formatCode>General</c:formatCode>
                <c:ptCount val="2"/>
                <c:pt idx="0">
                  <c:v>72</c:v>
                </c:pt>
                <c:pt idx="1">
                  <c:v>222</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Seconds</c:v>
          </c:tx>
          <c:spPr>
            <a:solidFill xmlns:a="http://schemas.openxmlformats.org/drawingml/2006/main">
              <a:srgbClr val="167D80"/>
            </a:solidFill>
          </c:spPr>
          <c:cat>
            <c:strRef>
              <c:f>'Chart Data'!$A$2:$A$5</c:f>
              <c:strCache>
                <c:ptCount val="4"/>
                <c:pt idx="0">
                  <c:v>Earlier run</c:v>
                </c:pt>
                <c:pt idx="1">
                  <c:v>Repeat 1</c:v>
                </c:pt>
                <c:pt idx="2">
                  <c:v>Repeat 2</c:v>
                </c:pt>
                <c:pt idx="3">
                  <c:v>Repeat 3</c:v>
                </c:pt>
              </c:strCache>
            </c:strRef>
          </c:cat>
          <c:val>
            <c:numRef>
              <c:f>'Chart Data'!$B$2:$B$5</c:f>
              <c:numCache>
                <c:formatCode>0</c:formatCode>
                <c:ptCount val="4"/>
                <c:pt idx="0">
                  <c:v>14</c:v>
                </c:pt>
                <c:pt idx="1">
                  <c:v>16</c:v>
                </c:pt>
                <c:pt idx="2">
                  <c:v>25</c:v>
                </c:pt>
                <c:pt idx="3">
                  <c:v>133</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30"/>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Ready pods</c:v>
          </c:tx>
          <c:spPr>
            <a:solidFill xmlns:a="http://schemas.openxmlformats.org/drawingml/2006/main">
              <a:srgbClr val="167D80"/>
            </a:solidFill>
          </c:spPr>
          <c:cat>
            <c:strRef>
              <c:f>'Chart Data'!$A$2:$A$8</c:f>
              <c:strCache>
                <c:ptCount val="7"/>
                <c:pt idx="0">
                  <c:v>osc-apps</c:v>
                </c:pt>
                <c:pt idx="1">
                  <c:v>kube-system</c:v>
                </c:pt>
                <c:pt idx="2">
                  <c:v>osc-fabric</c:v>
                </c:pt>
                <c:pt idx="3">
                  <c:v>argocd</c:v>
                </c:pt>
                <c:pt idx="4">
                  <c:v>aws-secrets-manager</c:v>
                </c:pt>
                <c:pt idx="5">
                  <c:v>cert-manager</c:v>
                </c:pt>
                <c:pt idx="6">
                  <c:v>ingress-nginx</c:v>
                </c:pt>
              </c:strCache>
            </c:strRef>
          </c:cat>
          <c:val>
            <c:numRef>
              <c:f>'Chart Data'!$B$2:$B$8</c:f>
              <c:numCache>
                <c:formatCode>General</c:formatCode>
                <c:ptCount val="7"/>
                <c:pt idx="0">
                  <c:v>21</c:v>
                </c:pt>
                <c:pt idx="1">
                  <c:v>18</c:v>
                </c:pt>
                <c:pt idx="2">
                  <c:v>14</c:v>
                </c:pt>
                <c:pt idx="3">
                  <c:v>8</c:v>
                </c:pt>
                <c:pt idx="4">
                  <c:v>6</c:v>
                </c:pt>
                <c:pt idx="5">
                  <c:v>3</c:v>
                </c:pt>
                <c:pt idx="6">
                  <c:v>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Offered</c:v>
          </c:tx>
          <c:spPr>
            <a:solidFill xmlns:a="http://schemas.openxmlformats.org/drawingml/2006/main">
              <a:srgbClr val="45749A"/>
            </a:solidFill>
          </c:spP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1</c:v>
                </c:pt>
                <c:pt idx="1">
                  <c:v>5</c:v>
                </c:pt>
                <c:pt idx="2">
                  <c:v>10</c:v>
                </c:pt>
                <c:pt idx="3">
                  <c:v>20</c:v>
                </c:pt>
                <c:pt idx="4">
                  <c:v>30</c:v>
                </c:pt>
              </c:numCache>
            </c:numRef>
          </c:val>
        </c:ser>
        <c:ser>
          <c:idx val="1"/>
          <c:order val="1"/>
          <c:tx>
            <c:v>API accepted</c:v>
          </c:tx>
          <c:spPr>
            <a:solidFill xmlns:a="http://schemas.openxmlformats.org/drawingml/2006/main">
              <a:srgbClr val="167D80"/>
            </a:solidFill>
          </c:spP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1</c:v>
                </c:pt>
                <c:pt idx="1">
                  <c:v>5</c:v>
                </c:pt>
                <c:pt idx="2">
                  <c:v>10</c:v>
                </c:pt>
                <c:pt idx="3">
                  <c:v>20</c:v>
                </c:pt>
                <c:pt idx="4">
                  <c:v>30</c:v>
                </c:pt>
              </c:numCache>
            </c:numRef>
          </c:val>
        </c:ser>
        <c:ser>
          <c:idx val="2"/>
          <c:order val="2"/>
          <c:tx>
            <c:v>Fabric record time</c:v>
          </c:tx>
          <c:spPr>
            <a:solidFill xmlns:a="http://schemas.openxmlformats.org/drawingml/2006/main">
              <a:srgbClr val="B87821"/>
            </a:solidFill>
          </c:spPr>
          <c:cat>
            <c:numRef>
              <c:f>'Chart Data'!$E$2:$E$6</c:f>
              <c:numCache>
                <c:formatCode>General</c:formatCode>
                <c:ptCount val="5"/>
                <c:pt idx="0">
                  <c:v>1</c:v>
                </c:pt>
                <c:pt idx="1">
                  <c:v>5</c:v>
                </c:pt>
                <c:pt idx="2">
                  <c:v>10</c:v>
                </c:pt>
                <c:pt idx="3">
                  <c:v>20</c:v>
                </c:pt>
                <c:pt idx="4">
                  <c:v>30</c:v>
                </c:pt>
              </c:numCache>
            </c:numRef>
          </c:cat>
          <c:val>
            <c:numRef>
              <c:f>'Chart Data'!$F$2:$F$6</c:f>
              <c:numCache>
                <c:formatCode>0</c:formatCode>
                <c:ptCount val="5"/>
                <c:pt idx="0">
                  <c:v>1</c:v>
                </c:pt>
                <c:pt idx="1">
                  <c:v>2.6</c:v>
                </c:pt>
                <c:pt idx="2">
                  <c:v>1.6</c:v>
                </c:pt>
                <c:pt idx="3">
                  <c:v>1.6</c:v>
                </c:pt>
                <c:pt idx="4">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Median</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2.08</c:v>
                </c:pt>
                <c:pt idx="1">
                  <c:v>3.09</c:v>
                </c:pt>
                <c:pt idx="2">
                  <c:v>11.13</c:v>
                </c:pt>
                <c:pt idx="3">
                  <c:v>24.24</c:v>
                </c:pt>
                <c:pt idx="4">
                  <c:v>43.4</c:v>
                </c:pt>
              </c:numCache>
            </c:numRef>
          </c:val>
        </c:ser>
        <c:ser>
          <c:idx val="1"/>
          <c:order val="1"/>
          <c:tx>
            <c:v>P95</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3.07</c:v>
                </c:pt>
                <c:pt idx="1">
                  <c:v>5.08</c:v>
                </c:pt>
                <c:pt idx="2">
                  <c:v>13.16</c:v>
                </c:pt>
                <c:pt idx="3">
                  <c:v>25.25</c:v>
                </c:pt>
                <c:pt idx="4">
                  <c:v>45.43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Unrecorded proxy</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Data'!$A$2:$A$16</c:f>
              <c:numCache>
                <c:formatCode>General</c:formatCode>
                <c:ptCount val="15"/>
                <c:pt idx="0">
                  <c:v>0</c:v>
                </c:pt>
                <c:pt idx="1">
                  <c:v>15</c:v>
                </c:pt>
                <c:pt idx="2">
                  <c:v>25</c:v>
                </c:pt>
                <c:pt idx="3">
                  <c:v>30</c:v>
                </c:pt>
                <c:pt idx="4">
                  <c:v>45</c:v>
                </c:pt>
                <c:pt idx="5">
                  <c:v>60</c:v>
                </c:pt>
                <c:pt idx="6">
                  <c:v>75</c:v>
                </c:pt>
                <c:pt idx="7">
                  <c:v>90</c:v>
                </c:pt>
                <c:pt idx="8">
                  <c:v>105</c:v>
                </c:pt>
                <c:pt idx="9">
                  <c:v>120</c:v>
                </c:pt>
                <c:pt idx="10">
                  <c:v>135</c:v>
                </c:pt>
                <c:pt idx="11">
                  <c:v>150</c:v>
                </c:pt>
                <c:pt idx="12">
                  <c:v>165</c:v>
                </c:pt>
                <c:pt idx="13">
                  <c:v>180</c:v>
                </c:pt>
                <c:pt idx="14">
                  <c:v>185</c:v>
                </c:pt>
              </c:numCache>
            </c:numRef>
          </c:cat>
          <c:val>
            <c:numRef>
              <c:f>'Chart Data'!$B$2:$B$16</c:f>
              <c:numCache>
                <c:formatCode>0</c:formatCode>
                <c:ptCount val="15"/>
                <c:pt idx="0">
                  <c:v>0</c:v>
                </c:pt>
                <c:pt idx="1">
                  <c:v>54</c:v>
                </c:pt>
                <c:pt idx="2">
                  <c:v>284</c:v>
                </c:pt>
                <c:pt idx="3">
                  <c:v>276</c:v>
                </c:pt>
                <c:pt idx="4">
                  <c:v>248</c:v>
                </c:pt>
                <c:pt idx="5">
                  <c:v>220</c:v>
                </c:pt>
                <c:pt idx="6">
                  <c:v>192</c:v>
                </c:pt>
                <c:pt idx="7">
                  <c:v>168</c:v>
                </c:pt>
                <c:pt idx="8">
                  <c:v>140</c:v>
                </c:pt>
                <c:pt idx="9">
                  <c:v>112</c:v>
                </c:pt>
                <c:pt idx="10">
                  <c:v>84</c:v>
                </c:pt>
                <c:pt idx="11">
                  <c:v>56</c:v>
                </c:pt>
                <c:pt idx="12">
                  <c:v>29</c:v>
                </c:pt>
                <c:pt idx="13">
                  <c:v>1</c:v>
                </c:pt>
                <c:pt idx="14">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3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0"/>
      </c:valAx>
    </c:plotArea>
    <c:plotVisOnly val="1"/>
  </c:chart>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403</c:v>
          </c:tx>
          <c:spPr>
            <a:solidFill xmlns:a="http://schemas.openxmlformats.org/drawingml/2006/main">
              <a:srgbClr val="167D80"/>
            </a:solidFill>
          </c:spP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5</c:v>
                </c:pt>
                <c:pt idx="1">
                  <c:v>5</c:v>
                </c:pt>
                <c:pt idx="2">
                  <c:v>5</c:v>
                </c:pt>
                <c:pt idx="3">
                  <c:v>5</c:v>
                </c:pt>
                <c:pt idx="4">
                  <c:v>5</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Denied checks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
      </c:valAx>
    </c:plotArea>
    <c:plotVisOnly val="1"/>
  </c:chart>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API SHA-256</c:v>
          </c:tx>
          <c:spPr>
            <a:solidFill xmlns:a="http://schemas.openxmlformats.org/drawingml/2006/main">
              <a:srgbClr val="167D80"/>
            </a:solidFill>
          </c:spPr>
          <c:cat>
            <c:strRef>
              <c:f>'Chart Data'!$A$2:$A$4</c:f>
              <c:strCache>
                <c:ptCount val="3"/>
                <c:pt idx="0">
                  <c:v>Normal (330)</c:v>
                </c:pt>
                <c:pt idx="1">
                  <c:v>Gateway fault (90)</c:v>
                </c:pt>
                <c:pt idx="2">
                  <c:v>Timing (155)</c:v>
                </c:pt>
              </c:strCache>
            </c:strRef>
          </c:cat>
          <c:val>
            <c:numRef>
              <c:f>'Chart Data'!$B$2:$B$4</c:f>
              <c:numCache>
                <c:formatCode>0.0</c:formatCode>
                <c:ptCount val="3"/>
                <c:pt idx="0">
                  <c:v>100</c:v>
                </c:pt>
                <c:pt idx="1">
                  <c:v>100</c:v>
                </c:pt>
                <c:pt idx="2">
                  <c:v>100</c:v>
                </c:pt>
              </c:numCache>
            </c:numRef>
          </c:val>
        </c:ser>
        <c:ser>
          <c:idx val="1"/>
          <c:order val="1"/>
          <c:tx>
            <c:v>Fabric SHA-256</c:v>
          </c:tx>
          <c:spPr>
            <a:solidFill xmlns:a="http://schemas.openxmlformats.org/drawingml/2006/main">
              <a:srgbClr val="45749A"/>
            </a:solidFill>
          </c:spPr>
          <c:cat>
            <c:strRef>
              <c:f>'Chart Data'!$C$2:$C$4</c:f>
              <c:strCache>
                <c:ptCount val="3"/>
                <c:pt idx="0">
                  <c:v>Normal (330)</c:v>
                </c:pt>
                <c:pt idx="1">
                  <c:v>Gateway fault (90)</c:v>
                </c:pt>
                <c:pt idx="2">
                  <c:v>Timing (155)</c:v>
                </c:pt>
              </c:strCache>
            </c:strRef>
          </c:cat>
          <c:val>
            <c:numRef>
              <c:f>'Chart Data'!$D$2:$D$4</c:f>
              <c:numCache>
                <c:formatCode>0.0</c:formatCode>
                <c:ptCount val="3"/>
                <c:pt idx="0">
                  <c:v>100</c:v>
                </c:pt>
                <c:pt idx="1">
                  <c:v>100</c:v>
                </c:pt>
                <c:pt idx="2">
                  <c:v>100</c:v>
                </c:pt>
              </c:numCache>
            </c:numRef>
          </c:val>
        </c:ser>
        <c:ser>
          <c:idx val="2"/>
          <c:order val="2"/>
          <c:tx>
            <c:v>API tx pointer</c:v>
          </c:tx>
          <c:spPr>
            <a:solidFill xmlns:a="http://schemas.openxmlformats.org/drawingml/2006/main">
              <a:srgbClr val="B87821"/>
            </a:solidFill>
          </c:spPr>
          <c:cat>
            <c:strRef>
              <c:f>'Chart Data'!$E$2:$E$4</c:f>
              <c:strCache>
                <c:ptCount val="3"/>
                <c:pt idx="0">
                  <c:v>Normal (330)</c:v>
                </c:pt>
                <c:pt idx="1">
                  <c:v>Gateway fault (90)</c:v>
                </c:pt>
                <c:pt idx="2">
                  <c:v>Timing (155)</c:v>
                </c:pt>
              </c:strCache>
            </c:strRef>
          </c:cat>
          <c:val>
            <c:numRef>
              <c:f>'Chart Data'!$F$2:$F$4</c:f>
              <c:numCache>
                <c:formatCode>0.0</c:formatCode>
                <c:ptCount val="3"/>
                <c:pt idx="0">
                  <c:v>100</c:v>
                </c:pt>
                <c:pt idx="1">
                  <c:v>98.9</c:v>
                </c:pt>
                <c:pt idx="2">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100"/>
          <c:min val="95"/>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Percent matching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lineChart>
        <c:grouping val="standard"/>
        <c:ser>
          <c:idx val="0"/>
          <c:order val="0"/>
          <c:tx>
            <c:v>API accepted</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Data'!$A$2:$A$14</c:f>
              <c:numCache>
                <c:formatCode>General</c:formatCode>
                <c:ptCount val="13"/>
                <c:pt idx="0">
                  <c:v>0</c:v>
                </c:pt>
                <c:pt idx="1">
                  <c:v>4</c:v>
                </c:pt>
                <c:pt idx="2">
                  <c:v>8</c:v>
                </c:pt>
                <c:pt idx="3">
                  <c:v>12</c:v>
                </c:pt>
                <c:pt idx="4">
                  <c:v>16</c:v>
                </c:pt>
                <c:pt idx="5">
                  <c:v>20</c:v>
                </c:pt>
                <c:pt idx="6">
                  <c:v>24</c:v>
                </c:pt>
                <c:pt idx="7">
                  <c:v>28</c:v>
                </c:pt>
                <c:pt idx="8">
                  <c:v>32</c:v>
                </c:pt>
                <c:pt idx="9">
                  <c:v>36</c:v>
                </c:pt>
                <c:pt idx="10">
                  <c:v>40</c:v>
                </c:pt>
                <c:pt idx="11">
                  <c:v>44</c:v>
                </c:pt>
                <c:pt idx="12">
                  <c:v>48</c:v>
                </c:pt>
              </c:numCache>
            </c:numRef>
          </c:cat>
          <c:val>
            <c:numRef>
              <c:f>'Chart Data'!$B$2:$B$14</c:f>
              <c:numCache>
                <c:formatCode>0</c:formatCode>
                <c:ptCount val="13"/>
                <c:pt idx="0">
                  <c:v>0</c:v>
                </c:pt>
                <c:pt idx="1">
                  <c:v>12</c:v>
                </c:pt>
                <c:pt idx="2">
                  <c:v>24</c:v>
                </c:pt>
                <c:pt idx="3">
                  <c:v>36</c:v>
                </c:pt>
                <c:pt idx="4">
                  <c:v>48</c:v>
                </c:pt>
                <c:pt idx="5">
                  <c:v>60</c:v>
                </c:pt>
                <c:pt idx="6">
                  <c:v>72</c:v>
                </c:pt>
                <c:pt idx="7">
                  <c:v>84</c:v>
                </c:pt>
                <c:pt idx="8">
                  <c:v>90</c:v>
                </c:pt>
                <c:pt idx="9">
                  <c:v>90</c:v>
                </c:pt>
                <c:pt idx="10">
                  <c:v>90</c:v>
                </c:pt>
                <c:pt idx="11">
                  <c:v>90</c:v>
                </c:pt>
                <c:pt idx="12">
                  <c:v>90</c:v>
                </c:pt>
              </c:numCache>
            </c:numRef>
          </c:val>
        </c:ser>
        <c:ser>
          <c:idx val="1"/>
          <c:order val="1"/>
          <c:tx>
            <c:v>Fabric record time</c:v>
          </c:tx>
          <c:spPr>
            <a:ln xmlns:a="http://schemas.openxmlformats.org/drawingml/2006/main" w="28575">
              <a:solidFill>
                <a:srgbClr val="B87821"/>
              </a:solidFill>
              <a:prstDash val="solid"/>
            </a:ln>
          </c:spPr>
          <c:marker>
            <c:symbol val="square"/>
            <c:size val="6"/>
            <c:spPr>
              <a:solidFill xmlns:a="http://schemas.openxmlformats.org/drawingml/2006/main">
                <a:srgbClr val="B87821"/>
              </a:solidFill>
            </c:spPr>
          </c:marker>
          <c:cat>
            <c:numRef>
              <c:f>'Chart Data'!$C$2:$C$14</c:f>
              <c:numCache>
                <c:formatCode>General</c:formatCode>
                <c:ptCount val="13"/>
                <c:pt idx="0">
                  <c:v>0</c:v>
                </c:pt>
                <c:pt idx="1">
                  <c:v>4</c:v>
                </c:pt>
                <c:pt idx="2">
                  <c:v>8</c:v>
                </c:pt>
                <c:pt idx="3">
                  <c:v>12</c:v>
                </c:pt>
                <c:pt idx="4">
                  <c:v>16</c:v>
                </c:pt>
                <c:pt idx="5">
                  <c:v>20</c:v>
                </c:pt>
                <c:pt idx="6">
                  <c:v>24</c:v>
                </c:pt>
                <c:pt idx="7">
                  <c:v>28</c:v>
                </c:pt>
                <c:pt idx="8">
                  <c:v>32</c:v>
                </c:pt>
                <c:pt idx="9">
                  <c:v>36</c:v>
                </c:pt>
                <c:pt idx="10">
                  <c:v>40</c:v>
                </c:pt>
                <c:pt idx="11">
                  <c:v>44</c:v>
                </c:pt>
                <c:pt idx="12">
                  <c:v>48</c:v>
                </c:pt>
              </c:numCache>
            </c:numRef>
          </c:cat>
          <c:val>
            <c:numRef>
              <c:f>'Chart Data'!$D$2:$D$14</c:f>
              <c:numCache>
                <c:formatCode>0</c:formatCode>
                <c:ptCount val="13"/>
                <c:pt idx="0">
                  <c:v>0</c:v>
                </c:pt>
                <c:pt idx="1">
                  <c:v>8</c:v>
                </c:pt>
                <c:pt idx="2">
                  <c:v>16</c:v>
                </c:pt>
                <c:pt idx="3">
                  <c:v>24</c:v>
                </c:pt>
                <c:pt idx="4">
                  <c:v>32</c:v>
                </c:pt>
                <c:pt idx="5">
                  <c:v>40</c:v>
                </c:pt>
                <c:pt idx="6">
                  <c:v>48</c:v>
                </c:pt>
                <c:pt idx="7">
                  <c:v>52</c:v>
                </c:pt>
                <c:pt idx="8">
                  <c:v>60</c:v>
                </c:pt>
                <c:pt idx="9">
                  <c:v>68</c:v>
                </c:pt>
                <c:pt idx="10">
                  <c:v>77</c:v>
                </c:pt>
                <c:pt idx="11">
                  <c:v>85</c:v>
                </c:pt>
                <c:pt idx="12">
                  <c:v>90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Cumulative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2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lineChart>
        <c:grouping val="standard"/>
        <c:ser>
          <c:idx val="0"/>
          <c:order val="0"/>
          <c:tx>
            <c:v>Accepted sample</c:v>
          </c:tx>
          <c:spPr>
            <a:ln xmlns:a="http://schemas.openxmlformats.org/drawingml/2006/main" w="28575">
              <a:solidFill>
                <a:srgbClr val="45749A"/>
              </a:solidFill>
              <a:prstDash val="solid"/>
            </a:ln>
          </c:spPr>
          <c:marker>
            <c:symbol val="circle"/>
            <c:size val="6"/>
            <c:spPr>
              <a:solidFill xmlns:a="http://schemas.openxmlformats.org/drawingml/2006/main">
                <a:srgbClr val="45749A"/>
              </a:solidFill>
            </c:spPr>
          </c:marker>
          <c:cat>
            <c:numRef>
              <c:f>'Chart Data'!$A$2:$A$12</c:f>
              <c:numCache>
                <c:formatCode>General</c:formatCode>
                <c:ptCount val="11"/>
                <c:pt idx="0">
                  <c:v>0</c:v>
                </c:pt>
                <c:pt idx="1">
                  <c:v>6</c:v>
                </c:pt>
                <c:pt idx="2">
                  <c:v>12</c:v>
                </c:pt>
                <c:pt idx="3">
                  <c:v>18</c:v>
                </c:pt>
                <c:pt idx="4">
                  <c:v>24</c:v>
                </c:pt>
                <c:pt idx="5">
                  <c:v>30</c:v>
                </c:pt>
                <c:pt idx="6">
                  <c:v>36</c:v>
                </c:pt>
                <c:pt idx="7">
                  <c:v>42</c:v>
                </c:pt>
                <c:pt idx="8">
                  <c:v>48</c:v>
                </c:pt>
                <c:pt idx="9">
                  <c:v>54</c:v>
                </c:pt>
                <c:pt idx="10">
                  <c:v>60</c:v>
                </c:pt>
              </c:numCache>
            </c:numRef>
          </c:cat>
          <c:val>
            <c:numRef>
              <c:f>'Chart Data'!$B$2:$B$12</c:f>
              <c:numCache>
                <c:formatCode>0</c:formatCode>
                <c:ptCount val="11"/>
                <c:pt idx="0">
                  <c:v>0</c:v>
                </c:pt>
                <c:pt idx="1">
                  <c:v>10</c:v>
                </c:pt>
                <c:pt idx="2">
                  <c:v>25</c:v>
                </c:pt>
                <c:pt idx="3">
                  <c:v>45</c:v>
                </c:pt>
                <c:pt idx="4">
                  <c:v>45</c:v>
                </c:pt>
                <c:pt idx="5">
                  <c:v>45</c:v>
                </c:pt>
                <c:pt idx="6">
                  <c:v>45</c:v>
                </c:pt>
                <c:pt idx="7">
                  <c:v>45</c:v>
                </c:pt>
                <c:pt idx="8">
                  <c:v>45</c:v>
                </c:pt>
                <c:pt idx="9">
                  <c:v>45</c:v>
                </c:pt>
                <c:pt idx="10">
                  <c:v>45</c:v>
                </c:pt>
              </c:numCache>
            </c:numRef>
          </c:val>
        </c:ser>
        <c:ser>
          <c:idx val="1"/>
          <c:order val="1"/>
          <c:tx>
            <c:v>Still pending</c:v>
          </c:tx>
          <c:spPr>
            <a:ln xmlns:a="http://schemas.openxmlformats.org/drawingml/2006/main" w="28575">
              <a:solidFill>
                <a:srgbClr val="B87821"/>
              </a:solidFill>
              <a:prstDash val="solid"/>
            </a:ln>
          </c:spPr>
          <c:marker>
            <c:symbol val="square"/>
            <c:size val="6"/>
            <c:spPr>
              <a:solidFill xmlns:a="http://schemas.openxmlformats.org/drawingml/2006/main">
                <a:srgbClr val="B87821"/>
              </a:solidFill>
            </c:spPr>
          </c:marker>
          <c:cat>
            <c:numRef>
              <c:f>'Chart Data'!$C$2:$C$12</c:f>
              <c:numCache>
                <c:formatCode>General</c:formatCode>
                <c:ptCount val="11"/>
                <c:pt idx="0">
                  <c:v>0</c:v>
                </c:pt>
                <c:pt idx="1">
                  <c:v>6</c:v>
                </c:pt>
                <c:pt idx="2">
                  <c:v>12</c:v>
                </c:pt>
                <c:pt idx="3">
                  <c:v>18</c:v>
                </c:pt>
                <c:pt idx="4">
                  <c:v>24</c:v>
                </c:pt>
                <c:pt idx="5">
                  <c:v>30</c:v>
                </c:pt>
                <c:pt idx="6">
                  <c:v>36</c:v>
                </c:pt>
                <c:pt idx="7">
                  <c:v>42</c:v>
                </c:pt>
                <c:pt idx="8">
                  <c:v>48</c:v>
                </c:pt>
                <c:pt idx="9">
                  <c:v>54</c:v>
                </c:pt>
                <c:pt idx="10">
                  <c:v>60</c:v>
                </c:pt>
              </c:numCache>
            </c:numRef>
          </c:cat>
          <c:val>
            <c:numRef>
              <c:f>'Chart Data'!$D$2:$D$12</c:f>
              <c:numCache>
                <c:formatCode>0</c:formatCode>
                <c:ptCount val="11"/>
                <c:pt idx="0">
                  <c:v>0</c:v>
                </c:pt>
                <c:pt idx="1">
                  <c:v>5</c:v>
                </c:pt>
                <c:pt idx="2">
                  <c:v>10</c:v>
                </c:pt>
                <c:pt idx="3">
                  <c:v>30</c:v>
                </c:pt>
                <c:pt idx="4">
                  <c:v>20</c:v>
                </c:pt>
                <c:pt idx="5">
                  <c:v>20</c:v>
                </c:pt>
                <c:pt idx="6">
                  <c:v>16</c:v>
                </c:pt>
                <c:pt idx="7">
                  <c:v>10</c:v>
                </c:pt>
                <c:pt idx="8">
                  <c:v>10</c:v>
                </c:pt>
                <c:pt idx="9">
                  <c:v>10</c:v>
                </c:pt>
                <c:pt idx="1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Sampled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3.06</c:v>
                </c:pt>
                <c:pt idx="1">
                  <c:v>3.05</c:v>
                </c:pt>
                <c:pt idx="2">
                  <c:v>11.13</c:v>
                </c:pt>
                <c:pt idx="3">
                  <c:v>24.24</c:v>
                </c:pt>
                <c:pt idx="4">
                  <c:v>43.4</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2.06</c:v>
                </c:pt>
                <c:pt idx="1">
                  <c:v>4.06</c:v>
                </c:pt>
                <c:pt idx="2">
                  <c:v>11.13</c:v>
                </c:pt>
                <c:pt idx="3">
                  <c:v>24.25</c:v>
                </c:pt>
                <c:pt idx="4">
                  <c:v>43.41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One revision</c:v>
          </c:tx>
          <c:spPr>
            <a:solidFill xmlns:a="http://schemas.openxmlformats.org/drawingml/2006/main">
              <a:srgbClr val="167D80"/>
            </a:solidFill>
          </c:spPr>
          <c:cat>
            <c:strRef>
              <c:f>'Chart Data'!$A$2:$A$4</c:f>
              <c:strCache>
                <c:ptCount val="3"/>
                <c:pt idx="0">
                  <c:v>normal</c:v>
                </c:pt>
                <c:pt idx="1">
                  <c:v>fault</c:v>
                </c:pt>
                <c:pt idx="2">
                  <c:v>timing</c:v>
                </c:pt>
              </c:strCache>
            </c:strRef>
          </c:cat>
          <c:val>
            <c:numRef>
              <c:f>'Chart Data'!$B$2:$B$4</c:f>
              <c:numCache>
                <c:formatCode>0</c:formatCode>
                <c:ptCount val="3"/>
                <c:pt idx="0">
                  <c:v>330</c:v>
                </c:pt>
                <c:pt idx="1">
                  <c:v>90</c:v>
                </c:pt>
                <c:pt idx="2">
                  <c:v>155</c:v>
                </c:pt>
              </c:numCache>
            </c:numRef>
          </c:val>
        </c:ser>
        <c:ser>
          <c:idx val="1"/>
          <c:order val="1"/>
          <c:tx>
            <c:v>More than one</c:v>
          </c:tx>
          <c:spPr>
            <a:solidFill xmlns:a="http://schemas.openxmlformats.org/drawingml/2006/main">
              <a:srgbClr val="B87821"/>
            </a:solidFill>
          </c:spPr>
          <c:cat>
            <c:strRef>
              <c:f>'Chart Data'!$C$2:$C$4</c:f>
              <c:strCache>
                <c:ptCount val="3"/>
                <c:pt idx="0">
                  <c:v>normal</c:v>
                </c:pt>
                <c:pt idx="1">
                  <c:v>fault</c:v>
                </c:pt>
                <c:pt idx="2">
                  <c:v>timing</c:v>
                </c:pt>
              </c:strCache>
            </c:strRef>
          </c:cat>
          <c:val>
            <c:numRef>
              <c:f>'Chart Data'!$D$2:$D$4</c:f>
              <c:numCache>
                <c:formatCode>0</c:formatCode>
                <c:ptCount val="3"/>
                <c:pt idx="0">
                  <c:v>0</c:v>
                </c:pt>
                <c:pt idx="1">
                  <c:v>0</c:v>
                </c:pt>
                <c:pt idx="2">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crossAx val="48672768"/>
      </c:catAx>
      <c:valAx>
        <c:axId val="48672768"/>
        <c:scaling>
          <c:orientation val="minMax"/>
          <c:max val="3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Artifacts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POST JSON bytes</c:v>
          </c:tx>
          <c:spPr>
            <a:solidFill xmlns:a="http://schemas.openxmlformats.org/drawingml/2006/main">
              <a:srgbClr val="167D80"/>
            </a:solidFill>
          </c:spPr>
          <c:cat>
            <c:strRef>
              <c:f>'Chart Data'!$A$2:$A$5</c:f>
              <c:strCache>
                <c:ptCount val="4"/>
                <c:pt idx="0">
                  <c:v>1 KiB file</c:v>
                </c:pt>
                <c:pt idx="1">
                  <c:v>1 MiB file</c:v>
                </c:pt>
                <c:pt idx="2">
                  <c:v>10 MiB file</c:v>
                </c:pt>
                <c:pt idx="3">
                  <c:v>40 MiB file</c:v>
                </c:pt>
              </c:strCache>
            </c:strRef>
          </c:cat>
          <c:val>
            <c:numRef>
              <c:f>'Chart Data'!$B$2:$B$5</c:f>
              <c:numCache>
                <c:formatCode>0</c:formatCode>
                <c:ptCount val="4"/>
                <c:pt idx="0">
                  <c:v>450</c:v>
                </c:pt>
                <c:pt idx="1">
                  <c:v>453</c:v>
                </c:pt>
                <c:pt idx="2">
                  <c:v>454</c:v>
                </c:pt>
                <c:pt idx="3">
                  <c:v>454</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Request bytes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0"/>
      </c:valAx>
    </c:plotArea>
    <c:plotVisOnly val="1"/>
  </c:chart>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millicores</c:v>
          </c:tx>
          <c:spPr>
            <a:solidFill xmlns:a="http://schemas.openxmlformats.org/drawingml/2006/main">
              <a:srgbClr val="167D80"/>
            </a:solidFill>
          </c:spPr>
          <c:cat>
            <c:strRef>
              <c:f>'Chart Data'!$A$2:$A$9</c:f>
              <c:strCache>
                <c:ptCount val="8"/>
                <c:pt idx="0">
                  <c:v>API gateway</c:v>
                </c:pt>
                <c:pt idx="1">
                  <c:v>Fabric peers</c:v>
                </c:pt>
                <c:pt idx="2">
                  <c:v>PostgreSQL</c:v>
                </c:pt>
                <c:pt idx="3">
                  <c:v>Ledger gateways</c:v>
                </c:pt>
                <c:pt idx="4">
                  <c:v>History workers</c:v>
                </c:pt>
                <c:pt idx="5">
                  <c:v>Submission listeners</c:v>
                </c:pt>
                <c:pt idx="6">
                  <c:v>Fabric orderers</c:v>
                </c:pt>
                <c:pt idx="7">
                  <c:v>Submission workers</c:v>
                </c:pt>
              </c:strCache>
            </c:strRef>
          </c:cat>
          <c:val>
            <c:numRef>
              <c:f>'Chart Data'!$B$2:$B$9</c:f>
              <c:numCache>
                <c:formatCode>General</c:formatCode>
                <c:ptCount val="8"/>
                <c:pt idx="0">
                  <c:v>235.2</c:v>
                </c:pt>
                <c:pt idx="1">
                  <c:v>166.9</c:v>
                </c:pt>
                <c:pt idx="2">
                  <c:v>159</c:v>
                </c:pt>
                <c:pt idx="3">
                  <c:v>21.8</c:v>
                </c:pt>
                <c:pt idx="4">
                  <c:v>13.8</c:v>
                </c:pt>
                <c:pt idx="5">
                  <c:v>5.6</c:v>
                </c:pt>
                <c:pt idx="6">
                  <c:v>5.5</c:v>
                </c:pt>
                <c:pt idx="7">
                  <c:v>4.3</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millicores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working-set MiB</c:v>
          </c:tx>
          <c:spPr>
            <a:solidFill xmlns:a="http://schemas.openxmlformats.org/drawingml/2006/main">
              <a:srgbClr val="167D80"/>
            </a:solidFill>
          </c:spPr>
          <c:cat>
            <c:strRef>
              <c:f>'Chart Data'!$A$2:$A$9</c:f>
              <c:strCache>
                <c:ptCount val="8"/>
                <c:pt idx="0">
                  <c:v>Fabric peers</c:v>
                </c:pt>
                <c:pt idx="1">
                  <c:v>History workers</c:v>
                </c:pt>
                <c:pt idx="2">
                  <c:v>API gateway</c:v>
                </c:pt>
                <c:pt idx="3">
                  <c:v>Ledger gateways</c:v>
                </c:pt>
                <c:pt idx="4">
                  <c:v>Submission workers</c:v>
                </c:pt>
                <c:pt idx="5">
                  <c:v>Fabric orderers</c:v>
                </c:pt>
                <c:pt idx="6">
                  <c:v>PostgreSQL</c:v>
                </c:pt>
                <c:pt idx="7">
                  <c:v>Submission listeners</c:v>
                </c:pt>
              </c:strCache>
            </c:strRef>
          </c:cat>
          <c:val>
            <c:numRef>
              <c:f>'Chart Data'!$B$2:$B$9</c:f>
              <c:numCache>
                <c:formatCode>General</c:formatCode>
                <c:ptCount val="8"/>
                <c:pt idx="0">
                  <c:v>572.3</c:v>
                </c:pt>
                <c:pt idx="1">
                  <c:v>308.9</c:v>
                </c:pt>
                <c:pt idx="2">
                  <c:v>205.2</c:v>
                </c:pt>
                <c:pt idx="3">
                  <c:v>194.3</c:v>
                </c:pt>
                <c:pt idx="4">
                  <c:v>92.2</c:v>
                </c:pt>
                <c:pt idx="5">
                  <c:v>91.3</c:v>
                </c:pt>
                <c:pt idx="6">
                  <c:v>73.2</c:v>
                </c:pt>
                <c:pt idx="7">
                  <c:v>51.3</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working-set MiB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8A93B3-C59A-4403-993A-2FEE99805C08}"/>
              </a:ext>
            </a:extLst>
          </p:cNvPr>
          <p:cNvSpPr>
            <a:spLocks xmlns:a="http://schemas.openxmlformats.org/drawingml/2006/main" noGrp="1"/>
          </p:cNvSpPr>
          <p:nvPr/>
        </p:nvSpPr>
        <p:spPr>
          <a:xfrm xmlns:a="http://schemas.openxmlformats.org/drawingml/2006/main">
            <a:off x="704850" y="13716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6324B"/>
                </a:solidFill>
                <a:latin typeface="Arial"/>
                <a:ea typeface="Arial"/>
                <a:cs typeface="Arial"/>
              </a:defRPr>
            </a:pPr>
            <a:r>
              <a:rPr sz="3600" b="1">
                <a:solidFill>
                  <a:srgbClr val="16324B"/>
                </a:solidFill>
                <a:latin typeface="Arial"/>
                <a:ea typeface="Arial"/>
                <a:cs typeface="Arial"/>
              </a:rPr>
              <a:t>Two-organization AWS evidence</a:t>
            </a:r>
          </a:p>
        </p:txBody>
      </p:sp>
      <p:sp>
        <p:nvSpPr>
          <p:cNvPr id="2" name="">
            <a:extLst xmlns:a="http://schemas.openxmlformats.org/drawingml/2006/main">
              <a:ext uri="{FF2B5EF4-FFF2-40B4-BE49-F238E27FC236}">
                <a16:creationId xmlns:a16="http://schemas.microsoft.com/office/drawing/2014/main" id="{0CDCCA3C-24C9-4373-8A64-C2F9ADE2BAB2}"/>
              </a:ext>
            </a:extLst>
          </p:cNvPr>
          <p:cNvSpPr>
            <a:spLocks xmlns:a="http://schemas.openxmlformats.org/drawingml/2006/main" noGrp="1"/>
          </p:cNvSpPr>
          <p:nvPr/>
        </p:nvSpPr>
        <p:spPr>
          <a:xfrm xmlns:a="http://schemas.openxmlformats.org/drawingml/2006/main">
            <a:off x="723900" y="22383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7D80"/>
                </a:solidFill>
                <a:latin typeface="Arial"/>
                <a:ea typeface="Arial"/>
                <a:cs typeface="Arial"/>
              </a:defRPr>
            </a:pPr>
            <a:r>
              <a:rPr sz="1875" b="0">
                <a:solidFill>
                  <a:srgbClr val="167D80"/>
                </a:solidFill>
                <a:latin typeface="Arial"/>
                <a:ea typeface="Arial"/>
                <a:cs typeface="Arial"/>
              </a:rPr>
              <a:t>Open Science Chain  |  US-RSE 2026</a:t>
            </a:r>
          </a:p>
        </p:txBody>
      </p:sp>
      <p:sp>
        <p:nvSpPr>
          <p:cNvPr id="3" name="">
            <a:extLst xmlns:a="http://schemas.openxmlformats.org/drawingml/2006/main">
              <a:ext uri="{FF2B5EF4-FFF2-40B4-BE49-F238E27FC236}">
                <a16:creationId xmlns:a16="http://schemas.microsoft.com/office/drawing/2014/main" id="{53F87EE1-10EF-4325-A7E9-D18BE49F7459}"/>
              </a:ext>
            </a:extLst>
          </p:cNvPr>
          <p:cNvSpPr>
            <a:spLocks xmlns:a="http://schemas.openxmlformats.org/drawingml/2006/main" noGrp="1"/>
          </p:cNvSpPr>
          <p:nvPr/>
        </p:nvSpPr>
        <p:spPr>
          <a:xfrm xmlns:a="http://schemas.openxmlformats.org/drawingml/2006/main">
            <a:off x="723900" y="32861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24B"/>
                </a:solidFill>
                <a:latin typeface="Arial"/>
                <a:ea typeface="Arial"/>
                <a:cs typeface="Arial"/>
              </a:defRPr>
            </a:pPr>
            <a:r>
              <a:rPr sz="1950" b="0">
                <a:solidFill>
                  <a:srgbClr val="16324B"/>
                </a:solidFill>
                <a:latin typeface="Arial"/>
                <a:ea typeface="Arial"/>
                <a:cs typeface="Arial"/>
              </a:rPr>
              <a:t>575 load submissions across Neuroscience Gateway and Citizen Science</a:t>
            </a:r>
          </a:p>
        </p:txBody>
      </p:sp>
      <p:sp>
        <p:nvSpPr>
          <p:cNvPr id="4" name="">
            <a:extLst xmlns:a="http://schemas.openxmlformats.org/drawingml/2006/main">
              <a:ext uri="{FF2B5EF4-FFF2-40B4-BE49-F238E27FC236}">
                <a16:creationId xmlns:a16="http://schemas.microsoft.com/office/drawing/2014/main" id="{212A925A-DC2A-481C-A175-5D5D7690C0D2}"/>
              </a:ext>
            </a:extLst>
          </p:cNvPr>
          <p:cNvSpPr>
            <a:spLocks xmlns:a="http://schemas.openxmlformats.org/drawingml/2006/main" noGrp="1"/>
          </p:cNvSpPr>
          <p:nvPr/>
        </p:nvSpPr>
        <p:spPr>
          <a:xfrm xmlns:a="http://schemas.openxmlformats.org/drawingml/2006/main">
            <a:off x="723900" y="391477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B75"/>
                </a:solidFill>
                <a:latin typeface="Arial"/>
                <a:ea typeface="Arial"/>
                <a:cs typeface="Arial"/>
              </a:defRPr>
            </a:pPr>
            <a:r>
              <a:rPr sz="1575" b="0">
                <a:solidFill>
                  <a:srgbClr val="5D6B75"/>
                </a:solidFill>
                <a:latin typeface="Arial"/>
                <a:ea typeface="Arial"/>
                <a:cs typeface="Arial"/>
              </a:rPr>
              <a:t>Added privacy and resource checks. One transaction-pointer discrepancy remains.</a:t>
            </a:r>
          </a:p>
        </p:txBody>
      </p:sp>
      <p:sp>
        <p:nvSpPr>
          <p:cNvPr id="5" name="">
            <a:extLst xmlns:a="http://schemas.openxmlformats.org/drawingml/2006/main">
              <a:ext uri="{FF2B5EF4-FFF2-40B4-BE49-F238E27FC236}">
                <a16:creationId xmlns:a16="http://schemas.microsoft.com/office/drawing/2014/main" id="{8988392C-13C5-48A9-A802-F1B92D8DCF05}"/>
              </a:ext>
            </a:extLst>
          </p:cNvPr>
          <p:cNvSpPr>
            <a:spLocks xmlns:a="http://schemas.openxmlformats.org/drawingml/2006/main" noGrp="1"/>
          </p:cNvSpPr>
          <p:nvPr/>
        </p:nvSpPr>
        <p:spPr>
          <a:xfrm xmlns:a="http://schemas.openxmlformats.org/drawingml/2006/main">
            <a:off x="723900" y="64674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Tree>
    <p:extLst>
      <p:ext uri="{BB962C8B-B14F-4D97-AF65-F5344CB8AC3E}">
        <p14:creationId xmlns:p14="http://schemas.microsoft.com/office/powerpoint/2010/main" val="6167931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1DB366-FCDE-4AA4-99C4-619110D1859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Submission to visible provenance</a:t>
            </a:r>
          </a:p>
        </p:txBody>
      </p:sp>
      <p:sp>
        <p:nvSpPr>
          <p:cNvPr id="2" name="">
            <a:extLst xmlns:a="http://schemas.openxmlformats.org/drawingml/2006/main">
              <a:ext uri="{FF2B5EF4-FFF2-40B4-BE49-F238E27FC236}">
                <a16:creationId xmlns:a16="http://schemas.microsoft.com/office/drawing/2014/main" id="{D528686D-1039-4724-868B-05B3AC4B22FB}"/>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Elapsed since POST start, one public artifact probe per organization</a:t>
            </a:r>
          </a:p>
        </p:txBody>
      </p:sp>
      <p:sp>
        <p:nvSpPr>
          <p:cNvPr id="3" name="">
            <a:extLst xmlns:a="http://schemas.openxmlformats.org/drawingml/2006/main">
              <a:ext uri="{FF2B5EF4-FFF2-40B4-BE49-F238E27FC236}">
                <a16:creationId xmlns:a16="http://schemas.microsoft.com/office/drawing/2014/main" id="{9D962E99-2906-4105-A8B6-BF0821D012CE}"/>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D936B0AA-01A6-45A7-92F5-5B012B2E6C8A}"/>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02</a:t>
            </a:r>
          </a:p>
        </p:txBody>
      </p:sp>
      <p:graphicFrame>
        <p:nvGraphicFramePr>
          <p:cNvPr id="11" name="Chart"/>
          <p:cNvGraphicFramePr/>
          <p:nvPr/>
        </p:nvGraphicFramePr>
        <p:xfrm>
          <a:off xmlns:a="http://schemas.openxmlformats.org/drawingml/2006/main" x="990600" y="1809750"/>
          <a:ext xmlns:a="http://schemas.openxmlformats.org/drawingml/2006/main" cx="10191750" cy="3524250"/>
        </p:xfrm>
        <a:graphic xmlns:a="http://schemas.openxmlformats.org/drawingml/2006/main">
          <a:graphicData uri="http://schemas.openxmlformats.org/drawingml/2006/chart">
            <c:chart xmlns:r="http://schemas.openxmlformats.org/officeDocument/2006/relationships" xmlns:c="http://schemas.openxmlformats.org/drawingml/2006/chart" r:id="R1413ced4187b47ea"/>
          </a:graphicData>
        </a:graphic>
      </p:graphicFrame>
      <p:sp>
        <p:nvSpPr>
          <p:cNvPr id="6" name="">
            <a:extLst xmlns:a="http://schemas.openxmlformats.org/drawingml/2006/main">
              <a:ext uri="{FF2B5EF4-FFF2-40B4-BE49-F238E27FC236}">
                <a16:creationId xmlns:a16="http://schemas.microsoft.com/office/drawing/2014/main" id="{4AE67C71-4CFD-448E-84CF-A5BA9DF080E6}"/>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The API accepted both requests in 60 ms. Ledger, history and catalog checks succeeded by about 2.4 seconds.</a:t>
            </a:r>
          </a:p>
        </p:txBody>
      </p:sp>
    </p:spTree>
    <p:extLst>
      <p:ext uri="{BB962C8B-B14F-4D97-AF65-F5344CB8AC3E}">
        <p14:creationId xmlns:p14="http://schemas.microsoft.com/office/powerpoint/2010/main" val="3995348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08D412-5454-473B-BAFA-B5620DD3DA24}"/>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Sequential artifact confirmation</a:t>
            </a:r>
          </a:p>
        </p:txBody>
      </p:sp>
      <p:sp>
        <p:nvSpPr>
          <p:cNvPr id="2" name="">
            <a:extLst xmlns:a="http://schemas.openxmlformats.org/drawingml/2006/main">
              <a:ext uri="{FF2B5EF4-FFF2-40B4-BE49-F238E27FC236}">
                <a16:creationId xmlns:a16="http://schemas.microsoft.com/office/drawing/2014/main" id="{967DA366-F1B6-4A69-BC95-0583AEA41021}"/>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Eight private artifact probes per organization, in submission order</a:t>
            </a:r>
          </a:p>
        </p:txBody>
      </p:sp>
      <p:sp>
        <p:nvSpPr>
          <p:cNvPr id="3" name="">
            <a:extLst xmlns:a="http://schemas.openxmlformats.org/drawingml/2006/main">
              <a:ext uri="{FF2B5EF4-FFF2-40B4-BE49-F238E27FC236}">
                <a16:creationId xmlns:a16="http://schemas.microsoft.com/office/drawing/2014/main" id="{B2D1202C-1A62-40B9-9397-FE4E4E887F57}"/>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113726BC-D5CE-49C0-A100-9342E9D41B65}"/>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03</a:t>
            </a:r>
          </a:p>
        </p:txBody>
      </p:sp>
      <p:graphicFrame>
        <p:nvGraphicFramePr>
          <p:cNvPr id="11" name="Chart"/>
          <p:cNvGraphicFramePr/>
          <p:nvPr/>
        </p:nvGraphicFramePr>
        <p:xfrm>
          <a:off xmlns:a="http://schemas.openxmlformats.org/drawingml/2006/main" x="1000125" y="1733550"/>
          <a:ext xmlns:a="http://schemas.openxmlformats.org/drawingml/2006/main" cx="10144125" cy="3714750"/>
        </p:xfrm>
        <a:graphic xmlns:a="http://schemas.openxmlformats.org/drawingml/2006/main">
          <a:graphicData uri="http://schemas.openxmlformats.org/drawingml/2006/chart">
            <c:chart xmlns:r="http://schemas.openxmlformats.org/officeDocument/2006/relationships" xmlns:c="http://schemas.openxmlformats.org/drawingml/2006/chart" r:id="R8cdf94501b184427"/>
          </a:graphicData>
        </a:graphic>
      </p:graphicFrame>
      <p:sp>
        <p:nvSpPr>
          <p:cNvPr id="6" name="">
            <a:extLst xmlns:a="http://schemas.openxmlformats.org/drawingml/2006/main">
              <a:ext uri="{FF2B5EF4-FFF2-40B4-BE49-F238E27FC236}">
                <a16:creationId xmlns:a16="http://schemas.microsoft.com/office/drawing/2014/main" id="{CED88FDB-8892-4807-A056-8B366E407571}"/>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All 16 confirmed. NSG’s first probe took 3.32 seconds; later observations clustered near 2.2 seconds.</a:t>
            </a:r>
          </a:p>
        </p:txBody>
      </p:sp>
    </p:spTree>
    <p:extLst>
      <p:ext uri="{BB962C8B-B14F-4D97-AF65-F5344CB8AC3E}">
        <p14:creationId xmlns:p14="http://schemas.microsoft.com/office/powerpoint/2010/main" val="7330885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41D537E-870C-44D2-B0C9-B42640478E6E}"/>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Organization boundaries</a:t>
            </a:r>
          </a:p>
        </p:txBody>
      </p:sp>
      <p:sp>
        <p:nvSpPr>
          <p:cNvPr id="2" name="">
            <a:extLst xmlns:a="http://schemas.openxmlformats.org/drawingml/2006/main">
              <a:ext uri="{FF2B5EF4-FFF2-40B4-BE49-F238E27FC236}">
                <a16:creationId xmlns:a16="http://schemas.microsoft.com/office/drawing/2014/main" id="{D83B9872-9E58-4FD7-9A3B-C635ADA28349}"/>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Ten access checks against private, confirmed records</a:t>
            </a:r>
          </a:p>
        </p:txBody>
      </p:sp>
      <p:sp>
        <p:nvSpPr>
          <p:cNvPr id="3" name="">
            <a:extLst xmlns:a="http://schemas.openxmlformats.org/drawingml/2006/main">
              <a:ext uri="{FF2B5EF4-FFF2-40B4-BE49-F238E27FC236}">
                <a16:creationId xmlns:a16="http://schemas.microsoft.com/office/drawing/2014/main" id="{534188AB-DD83-4C37-9059-E24CEC3B4E25}"/>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AA454114-60F9-42B0-BEC4-4A8F7F76A2DE}"/>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F85E689-064C-4F6D-860C-8D1154054D08}"/>
              </a:ext>
            </a:extLst>
          </p:cNvPr>
          <p:cNvSpPr>
            <a:spLocks xmlns:a="http://schemas.openxmlformats.org/drawingml/2006/main" noGrp="1"/>
          </p:cNvSpPr>
          <p:nvPr/>
        </p:nvSpPr>
        <p:spPr>
          <a:xfrm xmlns:a="http://schemas.openxmlformats.org/drawingml/2006/main">
            <a:off x="904875" y="17526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Own private artifact reads</a:t>
            </a:r>
          </a:p>
        </p:txBody>
      </p:sp>
      <p:sp>
        <p:nvSpPr>
          <p:cNvPr id="6" name="">
            <a:extLst xmlns:a="http://schemas.openxmlformats.org/drawingml/2006/main">
              <a:ext uri="{FF2B5EF4-FFF2-40B4-BE49-F238E27FC236}">
                <a16:creationId xmlns:a16="http://schemas.microsoft.com/office/drawing/2014/main" id="{9C37BDAE-7BF4-4004-9432-95A0DD025E67}"/>
              </a:ext>
            </a:extLst>
          </p:cNvPr>
          <p:cNvSpPr>
            <a:spLocks xmlns:a="http://schemas.openxmlformats.org/drawingml/2006/main" noGrp="1"/>
          </p:cNvSpPr>
          <p:nvPr/>
        </p:nvSpPr>
        <p:spPr>
          <a:xfrm xmlns:a="http://schemas.openxmlformats.org/drawingml/2006/main">
            <a:off x="7477125" y="17526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200</a:t>
            </a:r>
          </a:p>
        </p:txBody>
      </p:sp>
      <p:sp>
        <p:nvSpPr>
          <p:cNvPr id="7" name="">
            <a:extLst xmlns:a="http://schemas.openxmlformats.org/drawingml/2006/main">
              <a:ext uri="{FF2B5EF4-FFF2-40B4-BE49-F238E27FC236}">
                <a16:creationId xmlns:a16="http://schemas.microsoft.com/office/drawing/2014/main" id="{AB85C8B8-A1D0-409D-806D-1B927C1EA921}"/>
              </a:ext>
            </a:extLst>
          </p:cNvPr>
          <p:cNvSpPr>
            <a:spLocks xmlns:a="http://schemas.openxmlformats.org/drawingml/2006/main" noGrp="1"/>
          </p:cNvSpPr>
          <p:nvPr/>
        </p:nvSpPr>
        <p:spPr>
          <a:xfrm xmlns:a="http://schemas.openxmlformats.org/drawingml/2006/main">
            <a:off x="904875" y="23907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private artifact reads</a:t>
            </a:r>
          </a:p>
        </p:txBody>
      </p:sp>
      <p:sp>
        <p:nvSpPr>
          <p:cNvPr id="8" name="">
            <a:extLst xmlns:a="http://schemas.openxmlformats.org/drawingml/2006/main">
              <a:ext uri="{FF2B5EF4-FFF2-40B4-BE49-F238E27FC236}">
                <a16:creationId xmlns:a16="http://schemas.microsoft.com/office/drawing/2014/main" id="{FD775E1A-DA4B-40B0-A859-8680436901EC}"/>
              </a:ext>
            </a:extLst>
          </p:cNvPr>
          <p:cNvSpPr>
            <a:spLocks xmlns:a="http://schemas.openxmlformats.org/drawingml/2006/main" noGrp="1"/>
          </p:cNvSpPr>
          <p:nvPr/>
        </p:nvSpPr>
        <p:spPr>
          <a:xfrm xmlns:a="http://schemas.openxmlformats.org/drawingml/2006/main">
            <a:off x="7477125" y="239077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9" name="">
            <a:extLst xmlns:a="http://schemas.openxmlformats.org/drawingml/2006/main">
              <a:ext uri="{FF2B5EF4-FFF2-40B4-BE49-F238E27FC236}">
                <a16:creationId xmlns:a16="http://schemas.microsoft.com/office/drawing/2014/main" id="{7C6B34AD-A162-4095-AD87-77C7F45F6A52}"/>
              </a:ext>
            </a:extLst>
          </p:cNvPr>
          <p:cNvSpPr>
            <a:spLocks xmlns:a="http://schemas.openxmlformats.org/drawingml/2006/main" noGrp="1"/>
          </p:cNvSpPr>
          <p:nvPr/>
        </p:nvSpPr>
        <p:spPr>
          <a:xfrm xmlns:a="http://schemas.openxmlformats.org/drawingml/2006/main">
            <a:off x="904875" y="30289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artifact update and history</a:t>
            </a:r>
          </a:p>
        </p:txBody>
      </p:sp>
      <p:sp>
        <p:nvSpPr>
          <p:cNvPr id="10" name="">
            <a:extLst xmlns:a="http://schemas.openxmlformats.org/drawingml/2006/main">
              <a:ext uri="{FF2B5EF4-FFF2-40B4-BE49-F238E27FC236}">
                <a16:creationId xmlns:a16="http://schemas.microsoft.com/office/drawing/2014/main" id="{27822D84-FC4C-429F-8E4A-D0A55A3603EC}"/>
              </a:ext>
            </a:extLst>
          </p:cNvPr>
          <p:cNvSpPr>
            <a:spLocks xmlns:a="http://schemas.openxmlformats.org/drawingml/2006/main" noGrp="1"/>
          </p:cNvSpPr>
          <p:nvPr/>
        </p:nvSpPr>
        <p:spPr>
          <a:xfrm xmlns:a="http://schemas.openxmlformats.org/drawingml/2006/main">
            <a:off x="7477125" y="30289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11" name="">
            <a:extLst xmlns:a="http://schemas.openxmlformats.org/drawingml/2006/main">
              <a:ext uri="{FF2B5EF4-FFF2-40B4-BE49-F238E27FC236}">
                <a16:creationId xmlns:a16="http://schemas.microsoft.com/office/drawing/2014/main" id="{82941EAB-79A3-4D32-A224-A14E7F419B2C}"/>
              </a:ext>
            </a:extLst>
          </p:cNvPr>
          <p:cNvSpPr>
            <a:spLocks xmlns:a="http://schemas.openxmlformats.org/drawingml/2006/main" noGrp="1"/>
          </p:cNvSpPr>
          <p:nvPr/>
        </p:nvSpPr>
        <p:spPr>
          <a:xfrm xmlns:a="http://schemas.openxmlformats.org/drawingml/2006/main">
            <a:off x="904875" y="3667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Own private workflow reads</a:t>
            </a:r>
          </a:p>
        </p:txBody>
      </p:sp>
      <p:sp>
        <p:nvSpPr>
          <p:cNvPr id="12" name="">
            <a:extLst xmlns:a="http://schemas.openxmlformats.org/drawingml/2006/main">
              <a:ext uri="{FF2B5EF4-FFF2-40B4-BE49-F238E27FC236}">
                <a16:creationId xmlns:a16="http://schemas.microsoft.com/office/drawing/2014/main" id="{AB802DCA-A1B0-4A10-A371-0715F9EC8E0B}"/>
              </a:ext>
            </a:extLst>
          </p:cNvPr>
          <p:cNvSpPr>
            <a:spLocks xmlns:a="http://schemas.openxmlformats.org/drawingml/2006/main" noGrp="1"/>
          </p:cNvSpPr>
          <p:nvPr/>
        </p:nvSpPr>
        <p:spPr>
          <a:xfrm xmlns:a="http://schemas.openxmlformats.org/drawingml/2006/main">
            <a:off x="7477125" y="36671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200</a:t>
            </a:r>
          </a:p>
        </p:txBody>
      </p:sp>
      <p:sp>
        <p:nvSpPr>
          <p:cNvPr id="13" name="">
            <a:extLst xmlns:a="http://schemas.openxmlformats.org/drawingml/2006/main">
              <a:ext uri="{FF2B5EF4-FFF2-40B4-BE49-F238E27FC236}">
                <a16:creationId xmlns:a16="http://schemas.microsoft.com/office/drawing/2014/main" id="{50C79782-3CB1-4511-83BF-F15E717F11AB}"/>
              </a:ext>
            </a:extLst>
          </p:cNvPr>
          <p:cNvSpPr>
            <a:spLocks xmlns:a="http://schemas.openxmlformats.org/drawingml/2006/main" noGrp="1"/>
          </p:cNvSpPr>
          <p:nvPr/>
        </p:nvSpPr>
        <p:spPr>
          <a:xfrm xmlns:a="http://schemas.openxmlformats.org/drawingml/2006/main">
            <a:off x="904875"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workflow read and update</a:t>
            </a:r>
          </a:p>
        </p:txBody>
      </p:sp>
      <p:sp>
        <p:nvSpPr>
          <p:cNvPr id="14" name="">
            <a:extLst xmlns:a="http://schemas.openxmlformats.org/drawingml/2006/main">
              <a:ext uri="{FF2B5EF4-FFF2-40B4-BE49-F238E27FC236}">
                <a16:creationId xmlns:a16="http://schemas.microsoft.com/office/drawing/2014/main" id="{17824D98-ECD3-465D-B0CE-3EDF21E73C3C}"/>
              </a:ext>
            </a:extLst>
          </p:cNvPr>
          <p:cNvSpPr>
            <a:spLocks xmlns:a="http://schemas.openxmlformats.org/drawingml/2006/main" noGrp="1"/>
          </p:cNvSpPr>
          <p:nvPr/>
        </p:nvSpPr>
        <p:spPr>
          <a:xfrm xmlns:a="http://schemas.openxmlformats.org/drawingml/2006/main">
            <a:off x="7477125" y="43053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15" name="">
            <a:extLst xmlns:a="http://schemas.openxmlformats.org/drawingml/2006/main">
              <a:ext uri="{FF2B5EF4-FFF2-40B4-BE49-F238E27FC236}">
                <a16:creationId xmlns:a16="http://schemas.microsoft.com/office/drawing/2014/main" id="{B1C734C3-3790-4054-B6A7-9AC415EF4A1C}"/>
              </a:ext>
            </a:extLst>
          </p:cNvPr>
          <p:cNvSpPr>
            <a:spLocks xmlns:a="http://schemas.openxmlformats.org/drawingml/2006/main" noGrp="1"/>
          </p:cNvSpPr>
          <p:nvPr/>
        </p:nvSpPr>
        <p:spPr>
          <a:xfrm xmlns:a="http://schemas.openxmlformats.org/drawingml/2006/main">
            <a:off x="714375" y="53244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Post-recovery Postman smoke also passed: six requests, zero failed assertions.</a:t>
            </a:r>
          </a:p>
        </p:txBody>
      </p:sp>
    </p:spTree>
    <p:extLst>
      <p:ext uri="{BB962C8B-B14F-4D97-AF65-F5344CB8AC3E}">
        <p14:creationId xmlns:p14="http://schemas.microsoft.com/office/powerpoint/2010/main" val="2889124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A568DE-B995-4BB4-B30C-B53047228AC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Controlled dependency recovery</a:t>
            </a:r>
          </a:p>
        </p:txBody>
      </p:sp>
      <p:sp>
        <p:nvSpPr>
          <p:cNvPr id="2" name="">
            <a:extLst xmlns:a="http://schemas.openxmlformats.org/drawingml/2006/main">
              <a:ext uri="{FF2B5EF4-FFF2-40B4-BE49-F238E27FC236}">
                <a16:creationId xmlns:a16="http://schemas.microsoft.com/office/drawing/2014/main" id="{A67BF055-F629-42B3-B536-3937E88D9365}"/>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Elapsed through disruption and confirmed probe, seconds; two cycles per scenario</a:t>
            </a:r>
          </a:p>
        </p:txBody>
      </p:sp>
      <p:sp>
        <p:nvSpPr>
          <p:cNvPr id="3" name="">
            <a:extLst xmlns:a="http://schemas.openxmlformats.org/drawingml/2006/main">
              <a:ext uri="{FF2B5EF4-FFF2-40B4-BE49-F238E27FC236}">
                <a16:creationId xmlns:a16="http://schemas.microsoft.com/office/drawing/2014/main" id="{DD6113A4-F735-4EBB-81E2-A9A89BA64C2C}"/>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01FF769F-356A-4334-8A48-5FDCC848F37E}"/>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05</a:t>
            </a:r>
          </a:p>
        </p:txBody>
      </p:sp>
      <p:graphicFrame>
        <p:nvGraphicFramePr>
          <p:cNvPr id="11" name="Chart"/>
          <p:cNvGraphicFramePr/>
          <p:nvPr/>
        </p:nvGraphicFramePr>
        <p:xfrm>
          <a:off xmlns:a="http://schemas.openxmlformats.org/drawingml/2006/main" x="1190625" y="1809750"/>
          <a:ext xmlns:a="http://schemas.openxmlformats.org/drawingml/2006/main" cx="9810750" cy="3143250"/>
        </p:xfrm>
        <a:graphic xmlns:a="http://schemas.openxmlformats.org/drawingml/2006/main">
          <a:graphicData uri="http://schemas.openxmlformats.org/drawingml/2006/chart">
            <c:chart xmlns:r="http://schemas.openxmlformats.org/officeDocument/2006/relationships" xmlns:c="http://schemas.openxmlformats.org/drawingml/2006/chart" r:id="Re42987ae92e044e1"/>
          </a:graphicData>
        </a:graphic>
      </p:graphicFrame>
      <p:sp>
        <p:nvSpPr>
          <p:cNvPr id="6" name="">
            <a:extLst xmlns:a="http://schemas.openxmlformats.org/drawingml/2006/main">
              <a:ext uri="{FF2B5EF4-FFF2-40B4-BE49-F238E27FC236}">
                <a16:creationId xmlns:a16="http://schemas.microsoft.com/office/drawing/2014/main" id="{6BEE7832-DB96-43AE-A265-63E7925B409E}"/>
              </a:ext>
            </a:extLst>
          </p:cNvPr>
          <p:cNvSpPr>
            <a:spLocks xmlns:a="http://schemas.openxmlformats.org/drawingml/2006/main" noGrp="1"/>
          </p:cNvSpPr>
          <p:nvPr/>
        </p:nvSpPr>
        <p:spPr>
          <a:xfrm xmlns:a="http://schemas.openxmlformats.org/drawingml/2006/main">
            <a:off x="714375" y="52482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With one NSG peer down, the alternate path accepted a transaction in 8 and 5 seconds. Each probe had one ledger revision.</a:t>
            </a:r>
          </a:p>
        </p:txBody>
      </p:sp>
    </p:spTree>
    <p:extLst>
      <p:ext uri="{BB962C8B-B14F-4D97-AF65-F5344CB8AC3E}">
        <p14:creationId xmlns:p14="http://schemas.microsoft.com/office/powerpoint/2010/main" val="20493889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76AF3C-05A0-4A20-BC0C-4938491CF5F5}"/>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GitOps drift correction</a:t>
            </a:r>
          </a:p>
        </p:txBody>
      </p:sp>
      <p:sp>
        <p:nvSpPr>
          <p:cNvPr id="2" name="">
            <a:extLst xmlns:a="http://schemas.openxmlformats.org/drawingml/2006/main">
              <a:ext uri="{FF2B5EF4-FFF2-40B4-BE49-F238E27FC236}">
                <a16:creationId xmlns:a16="http://schemas.microsoft.com/office/drawing/2014/main" id="{EFE2FD1E-ED0F-4622-97C1-541E59E3F639}"/>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Seconds from deliberate API replica drift to Argo Synced/Healthy</a:t>
            </a:r>
          </a:p>
        </p:txBody>
      </p:sp>
      <p:sp>
        <p:nvSpPr>
          <p:cNvPr id="3" name="">
            <a:extLst xmlns:a="http://schemas.openxmlformats.org/drawingml/2006/main">
              <a:ext uri="{FF2B5EF4-FFF2-40B4-BE49-F238E27FC236}">
                <a16:creationId xmlns:a16="http://schemas.microsoft.com/office/drawing/2014/main" id="{86F0D78A-C23F-4D21-BF19-6C5E3C45CF86}"/>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DB342DFA-F5CE-418A-A5C6-F69E63F85E72}"/>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06</a:t>
            </a:r>
          </a:p>
        </p:txBody>
      </p:sp>
      <p:graphicFrame>
        <p:nvGraphicFramePr>
          <p:cNvPr id="11" name="Chart"/>
          <p:cNvGraphicFramePr/>
          <p:nvPr/>
        </p:nvGraphicFramePr>
        <p:xfrm>
          <a:off xmlns:a="http://schemas.openxmlformats.org/drawingml/2006/main" x="1238250" y="1762125"/>
          <a:ext xmlns:a="http://schemas.openxmlformats.org/drawingml/2006/main" cx="9620250" cy="3571875"/>
        </p:xfrm>
        <a:graphic xmlns:a="http://schemas.openxmlformats.org/drawingml/2006/main">
          <a:graphicData uri="http://schemas.openxmlformats.org/drawingml/2006/chart">
            <c:chart xmlns:r="http://schemas.openxmlformats.org/officeDocument/2006/relationships" xmlns:c="http://schemas.openxmlformats.org/drawingml/2006/chart" r:id="R887d6bd6927543d1"/>
          </a:graphicData>
        </a:graphic>
      </p:graphicFrame>
      <p:sp>
        <p:nvSpPr>
          <p:cNvPr id="6" name="">
            <a:extLst xmlns:a="http://schemas.openxmlformats.org/drawingml/2006/main">
              <a:ext uri="{FF2B5EF4-FFF2-40B4-BE49-F238E27FC236}">
                <a16:creationId xmlns:a16="http://schemas.microsoft.com/office/drawing/2014/main" id="{515F4B21-B687-4D71-9634-AE9B28A22664}"/>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All four self-healed. The 133-second observation shows why one fast screenshot should not be presented as a guarantee.</a:t>
            </a:r>
          </a:p>
        </p:txBody>
      </p:sp>
    </p:spTree>
    <p:extLst>
      <p:ext uri="{BB962C8B-B14F-4D97-AF65-F5344CB8AC3E}">
        <p14:creationId xmlns:p14="http://schemas.microsoft.com/office/powerpoint/2010/main" val="4200685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6BE4D7-1DCC-49B1-B308-0DA8D55B761F}"/>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Two-org footprint</a:t>
            </a:r>
          </a:p>
        </p:txBody>
      </p:sp>
      <p:sp>
        <p:nvSpPr>
          <p:cNvPr id="2" name="">
            <a:extLst xmlns:a="http://schemas.openxmlformats.org/drawingml/2006/main">
              <a:ext uri="{FF2B5EF4-FFF2-40B4-BE49-F238E27FC236}">
                <a16:creationId xmlns:a16="http://schemas.microsoft.com/office/drawing/2014/main" id="{37644C76-B382-418E-91D8-DE957010ED50}"/>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Ready pods by namespace, after restoration</a:t>
            </a:r>
          </a:p>
        </p:txBody>
      </p:sp>
      <p:sp>
        <p:nvSpPr>
          <p:cNvPr id="3" name="">
            <a:extLst xmlns:a="http://schemas.openxmlformats.org/drawingml/2006/main">
              <a:ext uri="{FF2B5EF4-FFF2-40B4-BE49-F238E27FC236}">
                <a16:creationId xmlns:a16="http://schemas.microsoft.com/office/drawing/2014/main" id="{C7E52F2C-DF37-4654-924A-77644A7C777D}"/>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4E95CEC7-2895-4C0D-BDC3-8FA7B77A342D}"/>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07</a:t>
            </a:r>
          </a:p>
        </p:txBody>
      </p:sp>
      <p:graphicFrame>
        <p:nvGraphicFramePr>
          <p:cNvPr id="11" name="Chart"/>
          <p:cNvGraphicFramePr/>
          <p:nvPr/>
        </p:nvGraphicFramePr>
        <p:xfrm>
          <a:off xmlns:a="http://schemas.openxmlformats.org/drawingml/2006/main" x="1476375" y="1695450"/>
          <a:ext xmlns:a="http://schemas.openxmlformats.org/drawingml/2006/main" cx="9334500" cy="3714750"/>
        </p:xfrm>
        <a:graphic xmlns:a="http://schemas.openxmlformats.org/drawingml/2006/main">
          <a:graphicData uri="http://schemas.openxmlformats.org/drawingml/2006/chart">
            <c:chart xmlns:r="http://schemas.openxmlformats.org/officeDocument/2006/relationships" xmlns:c="http://schemas.openxmlformats.org/drawingml/2006/chart" r:id="Rf9e99c0992e24be8"/>
          </a:graphicData>
        </a:graphic>
      </p:graphicFrame>
      <p:sp>
        <p:nvSpPr>
          <p:cNvPr id="6" name="">
            <a:extLst xmlns:a="http://schemas.openxmlformats.org/drawingml/2006/main">
              <a:ext uri="{FF2B5EF4-FFF2-40B4-BE49-F238E27FC236}">
                <a16:creationId xmlns:a16="http://schemas.microsoft.com/office/drawing/2014/main" id="{5E844D76-9922-47B3-BCBC-E2A7A24F9F07}"/>
              </a:ext>
            </a:extLst>
          </p:cNvPr>
          <p:cNvSpPr>
            <a:spLocks xmlns:a="http://schemas.openxmlformats.org/drawingml/2006/main" noGrp="1"/>
          </p:cNvSpPr>
          <p:nvPr/>
        </p:nvSpPr>
        <p:spPr>
          <a:xfrm xmlns:a="http://schemas.openxmlformats.org/drawingml/2006/main">
            <a:off x="714375" y="55054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Three worker nodes across three zones; 71 of 71 pods ready. Estimated run rate: $0.94/hour, before actual billing.</a:t>
            </a:r>
          </a:p>
        </p:txBody>
      </p:sp>
    </p:spTree>
    <p:extLst>
      <p:ext uri="{BB962C8B-B14F-4D97-AF65-F5344CB8AC3E}">
        <p14:creationId xmlns:p14="http://schemas.microsoft.com/office/powerpoint/2010/main" val="14877187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BE17A2-3009-40F4-B981-BAE09918D3E3}"/>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Offered, accepted, and recorded</a:t>
            </a:r>
          </a:p>
        </p:txBody>
      </p:sp>
      <p:sp>
        <p:nvSpPr>
          <p:cNvPr id="2" name="">
            <a:extLst xmlns:a="http://schemas.openxmlformats.org/drawingml/2006/main">
              <a:ext uri="{FF2B5EF4-FFF2-40B4-BE49-F238E27FC236}">
                <a16:creationId xmlns:a16="http://schemas.microsoft.com/office/drawing/2014/main" id="{619A080F-7063-4BE7-BB4A-1801BC623BA6}"/>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Per-second rate during five 5-second load stages; both organizations combined</a:t>
            </a:r>
          </a:p>
        </p:txBody>
      </p:sp>
      <p:sp>
        <p:nvSpPr>
          <p:cNvPr id="3" name="">
            <a:extLst xmlns:a="http://schemas.openxmlformats.org/drawingml/2006/main">
              <a:ext uri="{FF2B5EF4-FFF2-40B4-BE49-F238E27FC236}">
                <a16:creationId xmlns:a16="http://schemas.microsoft.com/office/drawing/2014/main" id="{36ACF66C-92BC-4193-BD99-B6E194A34A2C}"/>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0F09D136-61D4-4B71-B730-76D6324C3C6F}"/>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08</a:t>
            </a:r>
          </a:p>
        </p:txBody>
      </p:sp>
      <p:graphicFrame>
        <p:nvGraphicFramePr>
          <p:cNvPr id="11" name="Chart"/>
          <p:cNvGraphicFramePr/>
          <p:nvPr/>
        </p:nvGraphicFramePr>
        <p:xfrm>
          <a:off xmlns:a="http://schemas.openxmlformats.org/drawingml/2006/main" x="1095375" y="1762125"/>
          <a:ext xmlns:a="http://schemas.openxmlformats.org/drawingml/2006/main" cx="10001250" cy="3476625"/>
        </p:xfrm>
        <a:graphic xmlns:a="http://schemas.openxmlformats.org/drawingml/2006/main">
          <a:graphicData uri="http://schemas.openxmlformats.org/drawingml/2006/chart">
            <c:chart xmlns:r="http://schemas.openxmlformats.org/officeDocument/2006/relationships" xmlns:c="http://schemas.openxmlformats.org/drawingml/2006/chart" r:id="R1aa1168e53c0494d"/>
          </a:graphicData>
        </a:graphic>
      </p:graphicFrame>
      <p:sp>
        <p:nvSpPr>
          <p:cNvPr id="6" name="">
            <a:extLst xmlns:a="http://schemas.openxmlformats.org/drawingml/2006/main">
              <a:ext uri="{FF2B5EF4-FFF2-40B4-BE49-F238E27FC236}">
                <a16:creationId xmlns:a16="http://schemas.microsoft.com/office/drawing/2014/main" id="{512338C1-12F6-4A3E-9555-3EDF92F10681}"/>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At 30/s, the API accepted 30/s; record timestamps averaged 2.4/s in that stage. This is not sustained ledger throughput.</a:t>
            </a:r>
          </a:p>
        </p:txBody>
      </p:sp>
    </p:spTree>
    <p:extLst>
      <p:ext uri="{BB962C8B-B14F-4D97-AF65-F5344CB8AC3E}">
        <p14:creationId xmlns:p14="http://schemas.microsoft.com/office/powerpoint/2010/main" val="5171119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DB8020-C421-47DF-BD68-F79A569C7AA8}"/>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Confirmation slows under load</a:t>
            </a:r>
          </a:p>
        </p:txBody>
      </p:sp>
      <p:sp>
        <p:nvSpPr>
          <p:cNvPr id="2" name="">
            <a:extLst xmlns:a="http://schemas.openxmlformats.org/drawingml/2006/main">
              <a:ext uri="{FF2B5EF4-FFF2-40B4-BE49-F238E27FC236}">
                <a16:creationId xmlns:a16="http://schemas.microsoft.com/office/drawing/2014/main" id="{1EF0C8E0-1528-4A70-B93F-77DD157BF038}"/>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First observed API SUCCESS with transaction ID; 45 sampled submissions</a:t>
            </a:r>
          </a:p>
        </p:txBody>
      </p:sp>
      <p:sp>
        <p:nvSpPr>
          <p:cNvPr id="3" name="">
            <a:extLst xmlns:a="http://schemas.openxmlformats.org/drawingml/2006/main">
              <a:ext uri="{FF2B5EF4-FFF2-40B4-BE49-F238E27FC236}">
                <a16:creationId xmlns:a16="http://schemas.microsoft.com/office/drawing/2014/main" id="{1B56E5AE-452C-434A-9249-F1D93925C51A}"/>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20D66F40-7239-4A3F-8042-D234F4ABF9BE}"/>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09</a:t>
            </a:r>
          </a:p>
        </p:txBody>
      </p:sp>
      <p:graphicFrame>
        <p:nvGraphicFramePr>
          <p:cNvPr id="11" name="Chart"/>
          <p:cNvGraphicFramePr/>
          <p:nvPr/>
        </p:nvGraphicFramePr>
        <p:xfrm>
          <a:off xmlns:a="http://schemas.openxmlformats.org/drawingml/2006/main" x="1047750" y="1733550"/>
          <a:ext xmlns:a="http://schemas.openxmlformats.org/drawingml/2006/main" cx="10096500" cy="3619500"/>
        </p:xfrm>
        <a:graphic xmlns:a="http://schemas.openxmlformats.org/drawingml/2006/main">
          <a:graphicData uri="http://schemas.openxmlformats.org/drawingml/2006/chart">
            <c:chart xmlns:r="http://schemas.openxmlformats.org/officeDocument/2006/relationships" xmlns:c="http://schemas.openxmlformats.org/drawingml/2006/chart" r:id="Rdf60711d106244c8"/>
          </a:graphicData>
        </a:graphic>
      </p:graphicFrame>
      <p:sp>
        <p:nvSpPr>
          <p:cNvPr id="6" name="">
            <a:extLst xmlns:a="http://schemas.openxmlformats.org/drawingml/2006/main">
              <a:ext uri="{FF2B5EF4-FFF2-40B4-BE49-F238E27FC236}">
                <a16:creationId xmlns:a16="http://schemas.microsoft.com/office/drawing/2014/main" id="{95250266-F88D-4834-A59F-A6FB585076EA}"/>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P95 rose from 3.1s at 1/s to 45.4s at 30/s. The 30/s stage has only ten sampled records.</a:t>
            </a:r>
          </a:p>
        </p:txBody>
      </p:sp>
    </p:spTree>
    <p:extLst>
      <p:ext uri="{BB962C8B-B14F-4D97-AF65-F5344CB8AC3E}">
        <p14:creationId xmlns:p14="http://schemas.microsoft.com/office/powerpoint/2010/main" val="7614317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7D68B2-0126-4247-8EE5-62200DA6EEA8}"/>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Time to clear the backlog</a:t>
            </a:r>
          </a:p>
        </p:txBody>
      </p:sp>
      <p:sp>
        <p:nvSpPr>
          <p:cNvPr id="2" name="">
            <a:extLst xmlns:a="http://schemas.openxmlformats.org/drawingml/2006/main">
              <a:ext uri="{FF2B5EF4-FFF2-40B4-BE49-F238E27FC236}">
                <a16:creationId xmlns:a16="http://schemas.microsoft.com/office/drawing/2014/main" id="{44F1B84F-0AA1-4BD2-AB51-931FD514DFEC}"/>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Accepted minus Fabric record timestamps, selected timeline samples</a:t>
            </a:r>
          </a:p>
        </p:txBody>
      </p:sp>
      <p:sp>
        <p:nvSpPr>
          <p:cNvPr id="3" name="">
            <a:extLst xmlns:a="http://schemas.openxmlformats.org/drawingml/2006/main">
              <a:ext uri="{FF2B5EF4-FFF2-40B4-BE49-F238E27FC236}">
                <a16:creationId xmlns:a16="http://schemas.microsoft.com/office/drawing/2014/main" id="{B347D731-A988-4323-A9AB-C64A2AD0BFB5}"/>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65B5DDC4-92AF-4E26-AB98-8E233C78ADF2}"/>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10</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738c954a1bef41d3"/>
          </a:graphicData>
        </a:graphic>
      </p:graphicFrame>
      <p:sp>
        <p:nvSpPr>
          <p:cNvPr id="6" name="">
            <a:extLst xmlns:a="http://schemas.openxmlformats.org/drawingml/2006/main">
              <a:ext uri="{FF2B5EF4-FFF2-40B4-BE49-F238E27FC236}">
                <a16:creationId xmlns:a16="http://schemas.microsoft.com/office/drawing/2014/main" id="{930FF93C-4414-4672-8DA5-D9D3F9F0B490}"/>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Peak proxy: 284. All API records were observed SUCCESS 158.6s after the last POST.</a:t>
            </a:r>
          </a:p>
        </p:txBody>
      </p:sp>
    </p:spTree>
    <p:extLst>
      <p:ext uri="{BB962C8B-B14F-4D97-AF65-F5344CB8AC3E}">
        <p14:creationId xmlns:p14="http://schemas.microsoft.com/office/powerpoint/2010/main" val="3392779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CB75AA-6FFA-468C-86D9-198538E6D508}"/>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Cross-org isolation under load</a:t>
            </a:r>
          </a:p>
        </p:txBody>
      </p:sp>
      <p:sp>
        <p:nvSpPr>
          <p:cNvPr id="2" name="">
            <a:extLst xmlns:a="http://schemas.openxmlformats.org/drawingml/2006/main">
              <a:ext uri="{FF2B5EF4-FFF2-40B4-BE49-F238E27FC236}">
                <a16:creationId xmlns:a16="http://schemas.microsoft.com/office/drawing/2014/main" id="{C3AEB46B-C389-451A-9EA0-34E804EFA4F4}"/>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Forbidden cross-organization checks during the normal staged run</a:t>
            </a:r>
          </a:p>
        </p:txBody>
      </p:sp>
      <p:sp>
        <p:nvSpPr>
          <p:cNvPr id="3" name="">
            <a:extLst xmlns:a="http://schemas.openxmlformats.org/drawingml/2006/main">
              <a:ext uri="{FF2B5EF4-FFF2-40B4-BE49-F238E27FC236}">
                <a16:creationId xmlns:a16="http://schemas.microsoft.com/office/drawing/2014/main" id="{6205B72A-4E08-4E59-8876-DEDA34B449F8}"/>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46727CA3-DB51-47DF-BE46-15BBE1CBF36D}"/>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11</a:t>
            </a:r>
          </a:p>
        </p:txBody>
      </p:sp>
      <p:graphicFrame>
        <p:nvGraphicFramePr>
          <p:cNvPr id="11" name="Chart"/>
          <p:cNvGraphicFramePr/>
          <p:nvPr/>
        </p:nvGraphicFramePr>
        <p:xfrm>
          <a:off xmlns:a="http://schemas.openxmlformats.org/drawingml/2006/main" x="1190625" y="1790700"/>
          <a:ext xmlns:a="http://schemas.openxmlformats.org/drawingml/2006/main" cx="9715500" cy="3381375"/>
        </p:xfrm>
        <a:graphic xmlns:a="http://schemas.openxmlformats.org/drawingml/2006/main">
          <a:graphicData uri="http://schemas.openxmlformats.org/drawingml/2006/chart">
            <c:chart xmlns:r="http://schemas.openxmlformats.org/officeDocument/2006/relationships" xmlns:c="http://schemas.openxmlformats.org/drawingml/2006/chart" r:id="R68fedd36ee9842c8"/>
          </a:graphicData>
        </a:graphic>
      </p:graphicFrame>
      <p:sp>
        <p:nvSpPr>
          <p:cNvPr id="6" name="">
            <a:extLst xmlns:a="http://schemas.openxmlformats.org/drawingml/2006/main">
              <a:ext uri="{FF2B5EF4-FFF2-40B4-BE49-F238E27FC236}">
                <a16:creationId xmlns:a16="http://schemas.microsoft.com/office/drawing/2014/main" id="{82E98CA3-FF08-46E2-B8D5-D7C8FD41C6C3}"/>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Normal: 25/25 denied. Timing: 16/16 denied. Gateway interruption: 30/30 denied.</a:t>
            </a:r>
          </a:p>
        </p:txBody>
      </p:sp>
    </p:spTree>
    <p:extLst>
      <p:ext uri="{BB962C8B-B14F-4D97-AF65-F5344CB8AC3E}">
        <p14:creationId xmlns:p14="http://schemas.microsoft.com/office/powerpoint/2010/main" val="18480564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87C785-3012-43A2-A26C-9C769E36CEA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Hash integrity and pointer check</a:t>
            </a:r>
          </a:p>
        </p:txBody>
      </p:sp>
      <p:sp>
        <p:nvSpPr>
          <p:cNvPr id="2" name="">
            <a:extLst xmlns:a="http://schemas.openxmlformats.org/drawingml/2006/main">
              <a:ext uri="{FF2B5EF4-FFF2-40B4-BE49-F238E27FC236}">
                <a16:creationId xmlns:a16="http://schemas.microsoft.com/office/drawing/2014/main" id="{219BB7C7-8CDB-443E-BE5F-513309106A97}"/>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Share of records matching the Fabric history result in each load run</a:t>
            </a:r>
          </a:p>
        </p:txBody>
      </p:sp>
      <p:sp>
        <p:nvSpPr>
          <p:cNvPr id="3" name="">
            <a:extLst xmlns:a="http://schemas.openxmlformats.org/drawingml/2006/main">
              <a:ext uri="{FF2B5EF4-FFF2-40B4-BE49-F238E27FC236}">
                <a16:creationId xmlns:a16="http://schemas.microsoft.com/office/drawing/2014/main" id="{EE115F96-9FB3-4D7B-91EB-3CC19F898739}"/>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C2CA27AB-8251-4653-AAC7-122D7B50FD12}"/>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12</a:t>
            </a:r>
          </a:p>
        </p:txBody>
      </p:sp>
      <p:graphicFrame>
        <p:nvGraphicFramePr>
          <p:cNvPr id="11" name="Chart"/>
          <p:cNvGraphicFramePr/>
          <p:nvPr/>
        </p:nvGraphicFramePr>
        <p:xfrm>
          <a:off xmlns:a="http://schemas.openxmlformats.org/drawingml/2006/main" x="1095375" y="173355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0cd79db7aeaa4e83"/>
          </a:graphicData>
        </a:graphic>
      </p:graphicFrame>
      <p:sp>
        <p:nvSpPr>
          <p:cNvPr id="6" name="">
            <a:extLst xmlns:a="http://schemas.openxmlformats.org/drawingml/2006/main">
              <a:ext uri="{FF2B5EF4-FFF2-40B4-BE49-F238E27FC236}">
                <a16:creationId xmlns:a16="http://schemas.microsoft.com/office/drawing/2014/main" id="{27EE21FE-D371-40EC-92A5-33D904426853}"/>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Hashes: 575/575 matched; one revision each. Fault-run tx pointer: 89/90 matched. This needs a fix.</a:t>
            </a:r>
          </a:p>
        </p:txBody>
      </p:sp>
    </p:spTree>
    <p:extLst>
      <p:ext uri="{BB962C8B-B14F-4D97-AF65-F5344CB8AC3E}">
        <p14:creationId xmlns:p14="http://schemas.microsoft.com/office/powerpoint/2010/main" val="7743894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3A0716-5D19-42BC-A09D-62CEC786C654}"/>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Gateway interruption during submissions</a:t>
            </a:r>
          </a:p>
        </p:txBody>
      </p:sp>
      <p:sp>
        <p:nvSpPr>
          <p:cNvPr id="2" name="">
            <a:extLst xmlns:a="http://schemas.openxmlformats.org/drawingml/2006/main">
              <a:ext uri="{FF2B5EF4-FFF2-40B4-BE49-F238E27FC236}">
                <a16:creationId xmlns:a16="http://schemas.microsoft.com/office/drawing/2014/main" id="{FCEF34B7-6AFB-4D1A-BB93-A788A393332F}"/>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Cumulative accepted and Fabric record timestamps, 3 offered writes/s</a:t>
            </a:r>
          </a:p>
        </p:txBody>
      </p:sp>
      <p:sp>
        <p:nvSpPr>
          <p:cNvPr id="3" name="">
            <a:extLst xmlns:a="http://schemas.openxmlformats.org/drawingml/2006/main">
              <a:ext uri="{FF2B5EF4-FFF2-40B4-BE49-F238E27FC236}">
                <a16:creationId xmlns:a16="http://schemas.microsoft.com/office/drawing/2014/main" id="{7266C08D-124D-428B-8B30-5DE6D3C5DE26}"/>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5C3A5C83-E6FA-4612-AF14-54E902509139}"/>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13</a:t>
            </a:r>
          </a:p>
        </p:txBody>
      </p:sp>
      <p:graphicFrame>
        <p:nvGraphicFramePr>
          <p:cNvPr id="11" name="Chart"/>
          <p:cNvGraphicFramePr/>
          <p:nvPr/>
        </p:nvGraphicFramePr>
        <p:xfrm>
          <a:off xmlns:a="http://schemas.openxmlformats.org/drawingml/2006/main" x="1028700" y="1733550"/>
          <a:ext xmlns:a="http://schemas.openxmlformats.org/drawingml/2006/main" cx="10144125" cy="3524250"/>
        </p:xfrm>
        <a:graphic xmlns:a="http://schemas.openxmlformats.org/drawingml/2006/main">
          <a:graphicData uri="http://schemas.openxmlformats.org/drawingml/2006/chart">
            <c:chart xmlns:r="http://schemas.openxmlformats.org/officeDocument/2006/relationships" xmlns:c="http://schemas.openxmlformats.org/drawingml/2006/chart" r:id="Rcd407aa3a18c4283"/>
          </a:graphicData>
        </a:graphic>
      </p:graphicFrame>
      <p:sp>
        <p:nvSpPr>
          <p:cNvPr id="6" name="">
            <a:extLst xmlns:a="http://schemas.openxmlformats.org/drawingml/2006/main">
              <a:ext uri="{FF2B5EF4-FFF2-40B4-BE49-F238E27FC236}">
                <a16:creationId xmlns:a16="http://schemas.microsoft.com/office/drawing/2014/main" id="{FF9944DE-49D1-444B-8B31-36D6967F8008}"/>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Gateway scale-down +7.5s; scale-up +18.5s. 90/90 confirmed, but one API tx pointer differed from history.</a:t>
            </a:r>
          </a:p>
        </p:txBody>
      </p:sp>
    </p:spTree>
    <p:extLst>
      <p:ext uri="{BB962C8B-B14F-4D97-AF65-F5344CB8AC3E}">
        <p14:creationId xmlns:p14="http://schemas.microsoft.com/office/powerpoint/2010/main" val="4933449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4C5618-C6C7-4469-90AD-FEDF569482C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Pending sampled records</a:t>
            </a:r>
          </a:p>
        </p:txBody>
      </p:sp>
      <p:sp>
        <p:nvSpPr>
          <p:cNvPr id="2" name="">
            <a:extLst xmlns:a="http://schemas.openxmlformats.org/drawingml/2006/main">
              <a:ext uri="{FF2B5EF4-FFF2-40B4-BE49-F238E27FC236}">
                <a16:creationId xmlns:a16="http://schemas.microsoft.com/office/drawing/2014/main" id="{30450CF0-AE55-403F-95A5-A888F8015729}"/>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Accepted minus first-observed SUCCESS among 45 live-polled timing records</a:t>
            </a:r>
          </a:p>
        </p:txBody>
      </p:sp>
      <p:sp>
        <p:nvSpPr>
          <p:cNvPr id="3" name="">
            <a:extLst xmlns:a="http://schemas.openxmlformats.org/drawingml/2006/main">
              <a:ext uri="{FF2B5EF4-FFF2-40B4-BE49-F238E27FC236}">
                <a16:creationId xmlns:a16="http://schemas.microsoft.com/office/drawing/2014/main" id="{568AE57D-98B3-49AC-984A-BD969CAB4858}"/>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FB1436E3-5580-4EBC-9DF4-4605BE19A086}"/>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14</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3ff2b04c56e541bd"/>
          </a:graphicData>
        </a:graphic>
      </p:graphicFrame>
      <p:sp>
        <p:nvSpPr>
          <p:cNvPr id="6" name="">
            <a:extLst xmlns:a="http://schemas.openxmlformats.org/drawingml/2006/main">
              <a:ext uri="{FF2B5EF4-FFF2-40B4-BE49-F238E27FC236}">
                <a16:creationId xmlns:a16="http://schemas.microsoft.com/office/drawing/2014/main" id="{5A2AD857-31AA-473A-BD06-D0A2B87F72B3}"/>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The sampled pending count peaked at 30; all 45 were later observed SUCCESS.</a:t>
            </a:r>
          </a:p>
        </p:txBody>
      </p:sp>
    </p:spTree>
    <p:extLst>
      <p:ext uri="{BB962C8B-B14F-4D97-AF65-F5344CB8AC3E}">
        <p14:creationId xmlns:p14="http://schemas.microsoft.com/office/powerpoint/2010/main" val="14126586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5679AB-E88F-477B-AE95-ABD92C839E9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Latency by organization</a:t>
            </a:r>
          </a:p>
        </p:txBody>
      </p:sp>
      <p:sp>
        <p:nvSpPr>
          <p:cNvPr id="2" name="">
            <a:extLst xmlns:a="http://schemas.openxmlformats.org/drawingml/2006/main">
              <a:ext uri="{FF2B5EF4-FFF2-40B4-BE49-F238E27FC236}">
                <a16:creationId xmlns:a16="http://schemas.microsoft.com/office/drawing/2014/main" id="{BE67A2F5-3309-4090-92F9-003CAE3FA16D}"/>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Median first-observed SUCCESS time; 2-5 sampled writes per org and rate</a:t>
            </a:r>
          </a:p>
        </p:txBody>
      </p:sp>
      <p:sp>
        <p:nvSpPr>
          <p:cNvPr id="3" name="">
            <a:extLst xmlns:a="http://schemas.openxmlformats.org/drawingml/2006/main">
              <a:ext uri="{FF2B5EF4-FFF2-40B4-BE49-F238E27FC236}">
                <a16:creationId xmlns:a16="http://schemas.microsoft.com/office/drawing/2014/main" id="{1FC0CB3F-AA82-4B21-83B6-52454688210B}"/>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B7C330CA-5154-4969-9BA1-2214B1CB3698}"/>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15</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70f1ae74b0274f30"/>
          </a:graphicData>
        </a:graphic>
      </p:graphicFrame>
      <p:sp>
        <p:nvSpPr>
          <p:cNvPr id="6" name="">
            <a:extLst xmlns:a="http://schemas.openxmlformats.org/drawingml/2006/main">
              <a:ext uri="{FF2B5EF4-FFF2-40B4-BE49-F238E27FC236}">
                <a16:creationId xmlns:a16="http://schemas.microsoft.com/office/drawing/2014/main" id="{C1C595DC-05D2-4E7F-BBEE-B260D332A062}"/>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Both orgs remained active at every stage. This small sample cannot establish an org-level performance difference.</a:t>
            </a:r>
          </a:p>
        </p:txBody>
      </p:sp>
    </p:spTree>
    <p:extLst>
      <p:ext uri="{BB962C8B-B14F-4D97-AF65-F5344CB8AC3E}">
        <p14:creationId xmlns:p14="http://schemas.microsoft.com/office/powerpoint/2010/main" val="20519985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F6A74A-69A8-4E00-A677-843B7945B5A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No duplicate ledger revisions observed</a:t>
            </a:r>
          </a:p>
        </p:txBody>
      </p:sp>
      <p:sp>
        <p:nvSpPr>
          <p:cNvPr id="2" name="">
            <a:extLst xmlns:a="http://schemas.openxmlformats.org/drawingml/2006/main">
              <a:ext uri="{FF2B5EF4-FFF2-40B4-BE49-F238E27FC236}">
                <a16:creationId xmlns:a16="http://schemas.microsoft.com/office/drawing/2014/main" id="{6488666C-26F6-4D58-9B42-6C36E79B75B1}"/>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New artifact history entries across three bounded runs</a:t>
            </a:r>
          </a:p>
        </p:txBody>
      </p:sp>
      <p:sp>
        <p:nvSpPr>
          <p:cNvPr id="3" name="">
            <a:extLst xmlns:a="http://schemas.openxmlformats.org/drawingml/2006/main">
              <a:ext uri="{FF2B5EF4-FFF2-40B4-BE49-F238E27FC236}">
                <a16:creationId xmlns:a16="http://schemas.microsoft.com/office/drawing/2014/main" id="{99E09478-B9B7-4929-A999-E6CE7DC5A190}"/>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E8E8A61F-B41E-45C9-A373-BA80F3846C6A}"/>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16</a:t>
            </a:r>
          </a:p>
        </p:txBody>
      </p:sp>
      <p:graphicFrame>
        <p:nvGraphicFramePr>
          <p:cNvPr id="11" name="Chart"/>
          <p:cNvGraphicFramePr/>
          <p:nvPr/>
        </p:nvGraphicFramePr>
        <p:xfrm>
          <a:off xmlns:a="http://schemas.openxmlformats.org/drawingml/2006/main" x="1190625" y="1790700"/>
          <a:ext xmlns:a="http://schemas.openxmlformats.org/drawingml/2006/main" cx="9715500" cy="3381375"/>
        </p:xfrm>
        <a:graphic xmlns:a="http://schemas.openxmlformats.org/drawingml/2006/main">
          <a:graphicData uri="http://schemas.openxmlformats.org/drawingml/2006/chart">
            <c:chart xmlns:r="http://schemas.openxmlformats.org/officeDocument/2006/relationships" xmlns:c="http://schemas.openxmlformats.org/drawingml/2006/chart" r:id="Rb94cc8f08e0e4b8f"/>
          </a:graphicData>
        </a:graphic>
      </p:graphicFrame>
      <p:sp>
        <p:nvSpPr>
          <p:cNvPr id="6" name="">
            <a:extLst xmlns:a="http://schemas.openxmlformats.org/drawingml/2006/main">
              <a:ext uri="{FF2B5EF4-FFF2-40B4-BE49-F238E27FC236}">
                <a16:creationId xmlns:a16="http://schemas.microsoft.com/office/drawing/2014/main" id="{914E0420-1CD0-4946-9C4D-DE9B68C0E100}"/>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575 of 575 had one ledger history revision. No duplicate revision was seen, including the gateway fault run.</a:t>
            </a:r>
          </a:p>
        </p:txBody>
      </p:sp>
    </p:spTree>
    <p:extLst>
      <p:ext uri="{BB962C8B-B14F-4D97-AF65-F5344CB8AC3E}">
        <p14:creationId xmlns:p14="http://schemas.microsoft.com/office/powerpoint/2010/main" val="15306079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A979CB-16C8-49EC-93A7-C75C46BBCD43}"/>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File bytes stay in the browser</a:t>
            </a:r>
          </a:p>
        </p:txBody>
      </p:sp>
      <p:sp>
        <p:nvSpPr>
          <p:cNvPr id="2" name="">
            <a:extLst xmlns:a="http://schemas.openxmlformats.org/drawingml/2006/main">
              <a:ext uri="{FF2B5EF4-FFF2-40B4-BE49-F238E27FC236}">
                <a16:creationId xmlns:a16="http://schemas.microsoft.com/office/drawing/2014/main" id="{669A3F14-BA33-4CB4-94C4-E641968C9495}"/>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Actual intercepted request size after selecting synthetic local files</a:t>
            </a:r>
          </a:p>
        </p:txBody>
      </p:sp>
      <p:sp>
        <p:nvSpPr>
          <p:cNvPr id="3" name="">
            <a:extLst xmlns:a="http://schemas.openxmlformats.org/drawingml/2006/main">
              <a:ext uri="{FF2B5EF4-FFF2-40B4-BE49-F238E27FC236}">
                <a16:creationId xmlns:a16="http://schemas.microsoft.com/office/drawing/2014/main" id="{650F40EA-B5D3-4929-AAC2-F67D8DA1E9B6}"/>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33846D21-98D6-4B0F-ABAE-631E582796FA}"/>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17</a:t>
            </a:r>
          </a:p>
        </p:txBody>
      </p:sp>
      <p:graphicFrame>
        <p:nvGraphicFramePr>
          <p:cNvPr id="11" name="Chart"/>
          <p:cNvGraphicFramePr/>
          <p:nvPr/>
        </p:nvGraphicFramePr>
        <p:xfrm>
          <a:off xmlns:a="http://schemas.openxmlformats.org/drawingml/2006/main" x="1285875" y="1790700"/>
          <a:ext xmlns:a="http://schemas.openxmlformats.org/drawingml/2006/main" cx="9525000" cy="3429000"/>
        </p:xfrm>
        <a:graphic xmlns:a="http://schemas.openxmlformats.org/drawingml/2006/main">
          <a:graphicData uri="http://schemas.openxmlformats.org/drawingml/2006/chart">
            <c:chart xmlns:r="http://schemas.openxmlformats.org/officeDocument/2006/relationships" xmlns:c="http://schemas.openxmlformats.org/drawingml/2006/chart" r:id="Raf839fa254924d19"/>
          </a:graphicData>
        </a:graphic>
      </p:graphicFrame>
      <p:sp>
        <p:nvSpPr>
          <p:cNvPr id="6" name="">
            <a:extLst xmlns:a="http://schemas.openxmlformats.org/drawingml/2006/main">
              <a:ext uri="{FF2B5EF4-FFF2-40B4-BE49-F238E27FC236}">
                <a16:creationId xmlns:a16="http://schemas.microsoft.com/office/drawing/2014/main" id="{E0F6E075-299A-44C1-8D2D-5CCAF08C213A}"/>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POST stayed at 450-454 bytes; no selected file bytes or original filename appeared in it. Local browser test.</a:t>
            </a:r>
          </a:p>
        </p:txBody>
      </p:sp>
    </p:spTree>
    <p:extLst>
      <p:ext uri="{BB962C8B-B14F-4D97-AF65-F5344CB8AC3E}">
        <p14:creationId xmlns:p14="http://schemas.microsoft.com/office/powerpoint/2010/main" val="6024449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8984DC-4BA1-4BB3-84EF-2076BC161D36}"/>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CPU by service</a:t>
            </a:r>
          </a:p>
        </p:txBody>
      </p:sp>
      <p:sp>
        <p:nvSpPr>
          <p:cNvPr id="2" name="">
            <a:extLst xmlns:a="http://schemas.openxmlformats.org/drawingml/2006/main">
              <a:ext uri="{FF2B5EF4-FFF2-40B4-BE49-F238E27FC236}">
                <a16:creationId xmlns:a16="http://schemas.microsoft.com/office/drawing/2014/main" id="{A4868A85-9149-4B99-A28C-07F64266FCC4}"/>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Twelve read-only kubelet snapshots during an additional 330-write staged run</a:t>
            </a:r>
          </a:p>
        </p:txBody>
      </p:sp>
      <p:sp>
        <p:nvSpPr>
          <p:cNvPr id="3" name="">
            <a:extLst xmlns:a="http://schemas.openxmlformats.org/drawingml/2006/main">
              <a:ext uri="{FF2B5EF4-FFF2-40B4-BE49-F238E27FC236}">
                <a16:creationId xmlns:a16="http://schemas.microsoft.com/office/drawing/2014/main" id="{EE856047-67EC-430B-BF9B-34E2100ACE09}"/>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3B3F95BD-9AA1-49A0-84B4-61C4041C3B19}"/>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18</a:t>
            </a:r>
          </a:p>
        </p:txBody>
      </p:sp>
      <p:graphicFrame>
        <p:nvGraphicFramePr>
          <p:cNvPr id="11" name="Chart"/>
          <p:cNvGraphicFramePr/>
          <p:nvPr/>
        </p:nvGraphicFramePr>
        <p:xfrm>
          <a:off xmlns:a="http://schemas.openxmlformats.org/drawingml/2006/main" x="1714500" y="1685925"/>
          <a:ext xmlns:a="http://schemas.openxmlformats.org/drawingml/2006/main" cx="8763000" cy="3905250"/>
        </p:xfrm>
        <a:graphic xmlns:a="http://schemas.openxmlformats.org/drawingml/2006/main">
          <a:graphicData uri="http://schemas.openxmlformats.org/drawingml/2006/chart">
            <c:chart xmlns:r="http://schemas.openxmlformats.org/officeDocument/2006/relationships" xmlns:c="http://schemas.openxmlformats.org/drawingml/2006/chart" r:id="R20b3809d48fb4247"/>
          </a:graphicData>
        </a:graphic>
      </p:graphicFrame>
      <p:sp>
        <p:nvSpPr>
          <p:cNvPr id="6" name="">
            <a:extLst xmlns:a="http://schemas.openxmlformats.org/drawingml/2006/main">
              <a:ext uri="{FF2B5EF4-FFF2-40B4-BE49-F238E27FC236}">
                <a16:creationId xmlns:a16="http://schemas.microsoft.com/office/drawing/2014/main" id="{36802E18-F1EC-4DAB-94E0-9CD088D78C35}"/>
              </a:ext>
            </a:extLst>
          </p:cNvPr>
          <p:cNvSpPr>
            <a:spLocks xmlns:a="http://schemas.openxmlformats.org/drawingml/2006/main" noGrp="1"/>
          </p:cNvSpPr>
          <p:nvPr/>
        </p:nvSpPr>
        <p:spPr>
          <a:xfrm xmlns:a="http://schemas.openxmlformats.org/drawingml/2006/main">
            <a:off x="714375" y="5734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Observed usage during a bounded run; no Metrics Server or new collector was installed.</a:t>
            </a:r>
          </a:p>
        </p:txBody>
      </p:sp>
    </p:spTree>
    <p:extLst>
      <p:ext uri="{BB962C8B-B14F-4D97-AF65-F5344CB8AC3E}">
        <p14:creationId xmlns:p14="http://schemas.microsoft.com/office/powerpoint/2010/main" val="19509703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8EC86E-FD56-404F-B4A1-7E33440A812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Memory by service</a:t>
            </a:r>
          </a:p>
        </p:txBody>
      </p:sp>
      <p:sp>
        <p:nvSpPr>
          <p:cNvPr id="2" name="">
            <a:extLst xmlns:a="http://schemas.openxmlformats.org/drawingml/2006/main">
              <a:ext uri="{FF2B5EF4-FFF2-40B4-BE49-F238E27FC236}">
                <a16:creationId xmlns:a16="http://schemas.microsoft.com/office/drawing/2014/main" id="{8DE00D21-E595-4C9E-AA95-027A39CFB4C1}"/>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Twelve read-only kubelet snapshots during an additional 330-write staged run</a:t>
            </a:r>
          </a:p>
        </p:txBody>
      </p:sp>
      <p:sp>
        <p:nvSpPr>
          <p:cNvPr id="3" name="">
            <a:extLst xmlns:a="http://schemas.openxmlformats.org/drawingml/2006/main">
              <a:ext uri="{FF2B5EF4-FFF2-40B4-BE49-F238E27FC236}">
                <a16:creationId xmlns:a16="http://schemas.microsoft.com/office/drawing/2014/main" id="{C07FD409-2940-419E-A547-04946796883B}"/>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CEFFCBAE-1723-47D8-B942-8CCF4C6AB03D}"/>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19</a:t>
            </a:r>
          </a:p>
        </p:txBody>
      </p:sp>
      <p:graphicFrame>
        <p:nvGraphicFramePr>
          <p:cNvPr id="11" name="Chart"/>
          <p:cNvGraphicFramePr/>
          <p:nvPr/>
        </p:nvGraphicFramePr>
        <p:xfrm>
          <a:off xmlns:a="http://schemas.openxmlformats.org/drawingml/2006/main" x="1714500" y="1685925"/>
          <a:ext xmlns:a="http://schemas.openxmlformats.org/drawingml/2006/main" cx="8763000" cy="3905250"/>
        </p:xfrm>
        <a:graphic xmlns:a="http://schemas.openxmlformats.org/drawingml/2006/main">
          <a:graphicData uri="http://schemas.openxmlformats.org/drawingml/2006/chart">
            <c:chart xmlns:r="http://schemas.openxmlformats.org/officeDocument/2006/relationships" xmlns:c="http://schemas.openxmlformats.org/drawingml/2006/chart" r:id="Rfcfb5474f50b4b7d"/>
          </a:graphicData>
        </a:graphic>
      </p:graphicFrame>
      <p:sp>
        <p:nvSpPr>
          <p:cNvPr id="6" name="">
            <a:extLst xmlns:a="http://schemas.openxmlformats.org/drawingml/2006/main">
              <a:ext uri="{FF2B5EF4-FFF2-40B4-BE49-F238E27FC236}">
                <a16:creationId xmlns:a16="http://schemas.microsoft.com/office/drawing/2014/main" id="{7044B452-994A-444C-94EC-2969B2B2971D}"/>
              </a:ext>
            </a:extLst>
          </p:cNvPr>
          <p:cNvSpPr>
            <a:spLocks xmlns:a="http://schemas.openxmlformats.org/drawingml/2006/main" noGrp="1"/>
          </p:cNvSpPr>
          <p:nvPr/>
        </p:nvSpPr>
        <p:spPr>
          <a:xfrm xmlns:a="http://schemas.openxmlformats.org/drawingml/2006/main">
            <a:off x="714375" y="5734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Observed usage during a bounded run; no Metrics Server or new collector was installed.</a:t>
            </a:r>
          </a:p>
        </p:txBody>
      </p:sp>
    </p:spTree>
    <p:extLst>
      <p:ext uri="{BB962C8B-B14F-4D97-AF65-F5344CB8AC3E}">
        <p14:creationId xmlns:p14="http://schemas.microsoft.com/office/powerpoint/2010/main" val="624600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2026-09-30T19:17:53.8010000Z</dcterms:created>
  <dcterms:modified xsi:type="dcterms:W3CDTF">2026-09-30T19:17:53.8010000Z</dcterms:modified>
</coreProperties>
</file>