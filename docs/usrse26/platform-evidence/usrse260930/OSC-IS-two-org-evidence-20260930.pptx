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bf765e4d614f36" /><Relationship Type="http://schemas.openxmlformats.org/officeDocument/2006/relationships/extended-properties" Target="/docProps/app.xml" Id="R7bf8cccd1dfa446b" /><Relationship Type="http://schemas.openxmlformats.org/officeDocument/2006/relationships/officeDocument" Target="/ppt/presentation.xml" Id="Ra1ffe9c6961648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b933e45e744d45"/>
  </p:sldMasterIdLst>
  <p:notesMasterIdLst>
    <p:notesMasterId xmlns:r="http://schemas.openxmlformats.org/officeDocument/2006/relationships" r:id="R8d6a009ff36a4f80"/>
  </p:notesMasterIdLst>
  <p:sldIdLst>
    <p:sldId xmlns:r="http://schemas.openxmlformats.org/officeDocument/2006/relationships" id="256" r:id="Ref579467860e49bd"/>
    <p:sldId xmlns:r="http://schemas.openxmlformats.org/officeDocument/2006/relationships" id="257" r:id="Rdef51a19dd0040b8"/>
    <p:sldId xmlns:r="http://schemas.openxmlformats.org/officeDocument/2006/relationships" id="258" r:id="R88e040a8983246cd"/>
    <p:sldId xmlns:r="http://schemas.openxmlformats.org/officeDocument/2006/relationships" id="259" r:id="Rf635de456b4f4601"/>
    <p:sldId xmlns:r="http://schemas.openxmlformats.org/officeDocument/2006/relationships" id="260" r:id="R0b6d40abcaee4ed2"/>
    <p:sldId xmlns:r="http://schemas.openxmlformats.org/officeDocument/2006/relationships" id="261" r:id="R8a484d5f9374476a"/>
    <p:sldId xmlns:r="http://schemas.openxmlformats.org/officeDocument/2006/relationships" id="262" r:id="Rff1e73814a654a32"/>
    <p:sldId xmlns:r="http://schemas.openxmlformats.org/officeDocument/2006/relationships" id="263" r:id="Rd47ba06aec8c4b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22062dd9ff4891" /><Relationship Type="http://schemas.openxmlformats.org/officeDocument/2006/relationships/slideMaster" Target="/ppt/slideMasters/slideMaster1.xml" Id="R1ab933e45e744d45" /><Relationship Type="http://schemas.openxmlformats.org/officeDocument/2006/relationships/notesMaster" Target="/ppt/notesMasters/notesMaster1.xml" Id="R8d6a009ff36a4f80" /><Relationship Type="http://schemas.openxmlformats.org/officeDocument/2006/relationships/presProps" Target="/ppt/presProps.xml" Id="Racbab5eaab9547cc" /><Relationship Type="http://schemas.openxmlformats.org/officeDocument/2006/relationships/tableStyles" Target="/ppt/tableStyles.xml" Id="R705b2727118248e0" /><Relationship Type="http://schemas.openxmlformats.org/officeDocument/2006/relationships/slide" Target="/ppt/slides/slide1.xml" Id="Ref579467860e49bd" /><Relationship Type="http://schemas.openxmlformats.org/officeDocument/2006/relationships/slide" Target="/ppt/slides/slide2.xml" Id="Rdef51a19dd0040b8" /><Relationship Type="http://schemas.openxmlformats.org/officeDocument/2006/relationships/slide" Target="/ppt/slides/slide3.xml" Id="R88e040a8983246cd" /><Relationship Type="http://schemas.openxmlformats.org/officeDocument/2006/relationships/slide" Target="/ppt/slides/slide4.xml" Id="Rf635de456b4f4601" /><Relationship Type="http://schemas.openxmlformats.org/officeDocument/2006/relationships/slide" Target="/ppt/slides/slide5.xml" Id="R0b6d40abcaee4ed2" /><Relationship Type="http://schemas.openxmlformats.org/officeDocument/2006/relationships/slide" Target="/ppt/slides/slide6.xml" Id="R8a484d5f9374476a" /><Relationship Type="http://schemas.openxmlformats.org/officeDocument/2006/relationships/slide" Target="/ppt/slides/slide7.xml" Id="Rff1e73814a654a32" /><Relationship Type="http://schemas.openxmlformats.org/officeDocument/2006/relationships/slide" Target="/ppt/slides/slide8.xml" Id="Rd47ba06aec8c4b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54442bfd6c42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3d5af364f849a5" /><Relationship Type="http://schemas.openxmlformats.org/officeDocument/2006/relationships/notesMaster" Target="/ppt/notesMasters/notesMaster1.xml" Id="R59b3e2a2ca8543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b42c35be3d4e6c" /><Relationship Type="http://schemas.openxmlformats.org/officeDocument/2006/relationships/notesMaster" Target="/ppt/notesMasters/notesMaster1.xml" Id="R3078f33e4c6f41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80da3772574415" /><Relationship Type="http://schemas.openxmlformats.org/officeDocument/2006/relationships/notesMaster" Target="/ppt/notesMasters/notesMaster1.xml" Id="R5b3dfff37f5148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b563509cae4d17" /><Relationship Type="http://schemas.openxmlformats.org/officeDocument/2006/relationships/notesMaster" Target="/ppt/notesMasters/notesMaster1.xml" Id="Re68af1259df24d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8a2ce63e504e86" /><Relationship Type="http://schemas.openxmlformats.org/officeDocument/2006/relationships/notesMaster" Target="/ppt/notesMasters/notesMaster1.xml" Id="Rcf52efc9cfb145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d6522b0fd64870" /><Relationship Type="http://schemas.openxmlformats.org/officeDocument/2006/relationships/notesMaster" Target="/ppt/notesMasters/notesMaster1.xml" Id="R1aa568d338764e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e47a6766bf4416" /><Relationship Type="http://schemas.openxmlformats.org/officeDocument/2006/relationships/notesMaster" Target="/ppt/notesMasters/notesMaster1.xml" Id="R1f1c1f61670949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d1d552fc994c44" /><Relationship Type="http://schemas.openxmlformats.org/officeDocument/2006/relationships/notesMaster" Target="/ppt/notesMasters/notesMaster1.xml" Id="Rda98bf5259b24c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C:\Users\ofgar\Projects\GithubProjects\OSC-IS\.codex-showcase-worktrees\OSC-IS-Infra\docs\usrse26\platform-evidence\usrse260930\two-org-metrics-20260930.json. This deck describes the two-organization AWS baseline only. No third Fabric peer organization has been deployed in this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C:\Users\ofgar\Projects\GithubProjects\OSC-IS\.codex-showcase-worktrees\OSC-IS-Infra\docs\usrse26\platform-evidence\usrse260930\two-org-metrics-20260930.json, submissionTiming.*.publicArtifact. Client-observed cumulative time. Poll interval 1 second, so ledger, history and catalog timestamps can be late by approximately one second. API acceptance is not ledger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C:\Users\ofgar\Projects\GithubProjects\OSC-IS\.codex-showcase-worktrees\OSC-IS-Infra\docs\usrse26\platform-evidence\usrse260930\two-org-metrics-20260930.json, submissionTiming.*.artifactSequential.confirmed.valuesMs. Each run awaited confirmation before the next started. One-second status polling limits timing resolution; this is a bounded demo probe, not a throughput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C:\Users\ofgar\Projects\GithubProjects\OSC-IS\.codex-showcase-worktrees\OSC-IS-Infra\docs\usrse26\platform-evidence\usrse260930\two-org-metrics-20260930.json, submissionTiming. Sequential artifacts n=8 per org, paired artifacts n=4 per org, private linked workflows n=2 per org. Paired waves submit one artifact from each organization concurrently. One-second status polling means small differences have no interpretable rank.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C:\Users\ofgar\Projects\GithubProjects\OSC-IS\.codex-showcase-worktrees\OSC-IS-Infra\docs\usrse26\platform-evidence\usrse260930\two-org-metrics-20260930.json, isolation.checksByLabel and postRecoveryPostman. The matrix covers API authorization in this run. Direct Fabric identity denial was validated in the earlier AWS stack summary, not retested in these ten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C:\Users\ofgar\Projects\GithubProjects\OSC-IS\.codex-showcase-worktrees\OSC-IS-Infra\docs\usrse26\platform-evidence\usrse260930\two-org-metrics-20260930.json, recovery. The clock starts before the disruption command and ends after a new probe succeeds. Gateway and RabbitMQ are recovery scenarios. Peer values measure alternate-peer transaction acceptance while peer1 is down, not peer1 recovery. Each probe had one ledger revision and no duplicate write observed. Small n; not an SLA.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C:\Users\ofgar\Projects\GithubProjects\OSC-IS\.codex-showcase-worktrees\OSC-IS-Infra\docs\usrse26\platform-evidence\usrse260930\two-org-metrics-20260930.json, gitops.secondsToSyncedHealthy. The API deployment was reduced from two replicas to one. Argo self-heal restored the declared two replicas at the same Git revision. Four individual observations; 133 seconds is real, not discarded. This is not a reconciliation SLA.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C:\Users\ofgar\Projects\GithubProjects\OSC-IS\.codex-showcase-worktrees\OSC-IS-Infra\docs\usrse26\platform-evidence\usrse260930\two-org-metrics-20260930.json, footprint; and platform/aws/estimate_cost.py. Three m7i.large nodes in three availability zones and 71/71 ready pods. Node mean five-minute CPU was 3.7-4.0 percent in the sampled preceding hour. The USD 0.9425/hour figure is a planning estimate, not billed cost. Kubernetes Metrics API unavailable, so memory usage is not claimed. This is the baseline to compare with a true third-org onboarding.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cb74b3c4841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a848e8865b42ce" /><Relationship Type="http://schemas.openxmlformats.org/officeDocument/2006/relationships/slideLayout" Target="/ppt/slideLayouts/slideLayout1.xml" Id="Rd9cfe893f8134d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cfe893f8134d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84105614c41f5" /><Relationship Type="http://schemas.openxmlformats.org/officeDocument/2006/relationships/notesSlide" Target="/ppt/notesSlides/notesSlide1.xml" Id="Rbed36df0e26845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ae5f3f7d24d53" /><Relationship Type="http://schemas.openxmlformats.org/officeDocument/2006/relationships/chart" Target="/ppt/slides/charts/chart1.xml" Id="Rb32021a7e53c477f" /><Relationship Type="http://schemas.openxmlformats.org/officeDocument/2006/relationships/notesSlide" Target="/ppt/notesSlides/notesSlide2.xml" Id="R0fedf00fab2347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568844885462a" /><Relationship Type="http://schemas.openxmlformats.org/officeDocument/2006/relationships/chart" Target="/ppt/slides/charts/chart2.xml" Id="R1a8002871c9341ba" /><Relationship Type="http://schemas.openxmlformats.org/officeDocument/2006/relationships/notesSlide" Target="/ppt/notesSlides/notesSlide3.xml" Id="R8f4ceda18d1743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02c667d5d497c" /><Relationship Type="http://schemas.openxmlformats.org/officeDocument/2006/relationships/chart" Target="/ppt/slides/charts/chart3.xml" Id="R8608a96966c3436d" /><Relationship Type="http://schemas.openxmlformats.org/officeDocument/2006/relationships/notesSlide" Target="/ppt/notesSlides/notesSlide4.xml" Id="R585f4ba951f246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432d07a184949" /><Relationship Type="http://schemas.openxmlformats.org/officeDocument/2006/relationships/notesSlide" Target="/ppt/notesSlides/notesSlide5.xml" Id="R7f0abb1d16b64c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b3d821cab408f" /><Relationship Type="http://schemas.openxmlformats.org/officeDocument/2006/relationships/chart" Target="/ppt/slides/charts/chart4.xml" Id="R681f87bb0dde428d" /><Relationship Type="http://schemas.openxmlformats.org/officeDocument/2006/relationships/notesSlide" Target="/ppt/notesSlides/notesSlide6.xml" Id="R398fe54e4e9846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55d78e70246c4" /><Relationship Type="http://schemas.openxmlformats.org/officeDocument/2006/relationships/chart" Target="/ppt/slides/charts/chart5.xml" Id="Re1804352b36a4cee" /><Relationship Type="http://schemas.openxmlformats.org/officeDocument/2006/relationships/notesSlide" Target="/ppt/notesSlides/notesSlide7.xml" Id="R0d8b43a8edcd4a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e96566ec549f7" /><Relationship Type="http://schemas.openxmlformats.org/officeDocument/2006/relationships/chart" Target="/ppt/slides/charts/chart6.xml" Id="Rd616bb0fba004b90" /><Relationship Type="http://schemas.openxmlformats.org/officeDocument/2006/relationships/notesSlide" Target="/ppt/notesSlides/notesSlide8.xml" Id="R8aa3dec6afe5430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NSG</c:v>
          </c:tx>
          <c:spPr>
            <a:ln xmlns:a="http://schemas.openxmlformats.org/drawingml/2006/main" w="28575">
              <a:solidFill>
                <a:srgbClr val="167D80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167D80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API accepted</c:v>
                </c:pt>
                <c:pt idx="1">
                  <c:v>Ledger confirmed</c:v>
                </c:pt>
                <c:pt idx="2">
                  <c:v>History readable</c:v>
                </c:pt>
                <c:pt idx="3">
                  <c:v>Catalog visible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0.06</c:v>
                </c:pt>
                <c:pt idx="1">
                  <c:v>2.25</c:v>
                </c:pt>
                <c:pt idx="2">
                  <c:v>2.35</c:v>
                </c:pt>
                <c:pt idx="3">
                  <c:v>2.4</c:v>
                </c:pt>
              </c:numCache>
            </c:numRef>
          </c:val>
        </c:ser>
        <c:ser>
          <c:idx val="1"/>
          <c:order val="1"/>
          <c:tx>
            <c:v>Citizen Science</c:v>
          </c:tx>
          <c:spPr>
            <a:ln xmlns:a="http://schemas.openxmlformats.org/drawingml/2006/main" w="28575">
              <a:solidFill>
                <a:srgbClr val="B87821"/>
              </a:solidFill>
              <a:prstDash val="solid"/>
            </a:ln>
          </c:spPr>
          <c:marker>
            <c:symbol val="square"/>
            <c:size val="8"/>
            <c:spPr>
              <a:solidFill xmlns:a="http://schemas.openxmlformats.org/drawingml/2006/main">
                <a:srgbClr val="B87821"/>
              </a:solidFill>
            </c:spPr>
          </c:marker>
          <c:cat>
            <c:strRef>
              <c:f>'Chart Data'!$C$2:$C$5</c:f>
              <c:strCache>
                <c:ptCount val="4"/>
                <c:pt idx="0">
                  <c:v>API accepted</c:v>
                </c:pt>
                <c:pt idx="1">
                  <c:v>Ledger confirmed</c:v>
                </c:pt>
                <c:pt idx="2">
                  <c:v>History readable</c:v>
                </c:pt>
                <c:pt idx="3">
                  <c:v>Catalog visible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0.06</c:v>
                </c:pt>
                <c:pt idx="1">
                  <c:v>2.25</c:v>
                </c:pt>
                <c:pt idx="2">
                  <c:v>2.34</c:v>
                </c:pt>
                <c:pt idx="3">
                  <c:v>2.4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6324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NSG</c:v>
          </c:tx>
          <c:spPr>
            <a:ln xmlns:a="http://schemas.openxmlformats.org/drawingml/2006/main" w="28575">
              <a:solidFill>
                <a:srgbClr val="167D80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167D80"/>
              </a:solidFill>
            </c:spPr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'Chart Data'!$B$2:$B$9</c:f>
              <c:numCache>
                <c:formatCode>0.0</c:formatCode>
                <c:ptCount val="8"/>
                <c:pt idx="0">
                  <c:v>3.32</c:v>
                </c:pt>
                <c:pt idx="1">
                  <c:v>2.25</c:v>
                </c:pt>
                <c:pt idx="2">
                  <c:v>2.26</c:v>
                </c:pt>
                <c:pt idx="3">
                  <c:v>2.23</c:v>
                </c:pt>
                <c:pt idx="4">
                  <c:v>2.23</c:v>
                </c:pt>
                <c:pt idx="5">
                  <c:v>2.24</c:v>
                </c:pt>
                <c:pt idx="6">
                  <c:v>2.24</c:v>
                </c:pt>
                <c:pt idx="7">
                  <c:v>2.28</c:v>
                </c:pt>
              </c:numCache>
            </c:numRef>
          </c:val>
        </c:ser>
        <c:ser>
          <c:idx val="1"/>
          <c:order val="1"/>
          <c:tx>
            <c:v>Citizen Science</c:v>
          </c:tx>
          <c:spPr>
            <a:ln xmlns:a="http://schemas.openxmlformats.org/drawingml/2006/main" w="28575">
              <a:solidFill>
                <a:srgbClr val="B87821"/>
              </a:solidFill>
              <a:prstDash val="solid"/>
            </a:ln>
          </c:spPr>
          <c:marker>
            <c:symbol val="square"/>
            <c:size val="8"/>
            <c:spPr>
              <a:solidFill xmlns:a="http://schemas.openxmlformats.org/drawingml/2006/main">
                <a:srgbClr val="B87821"/>
              </a:solidFill>
            </c:spPr>
          </c:marker>
          <c:cat>
            <c:numRef>
              <c:f>'Chart Data'!$C$2:$C$9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'Chart Data'!$D$2:$D$9</c:f>
              <c:numCache>
                <c:formatCode>0.0</c:formatCode>
                <c:ptCount val="8"/>
                <c:pt idx="0">
                  <c:v>2.26</c:v>
                </c:pt>
                <c:pt idx="1">
                  <c:v>2.25</c:v>
                </c:pt>
                <c:pt idx="2">
                  <c:v>2.25</c:v>
                </c:pt>
                <c:pt idx="3">
                  <c:v>2.25</c:v>
                </c:pt>
                <c:pt idx="4">
                  <c:v>2.25</c:v>
                </c:pt>
                <c:pt idx="5">
                  <c:v>2.25</c:v>
                </c:pt>
                <c:pt idx="6">
                  <c:v>2.24</c:v>
                </c:pt>
                <c:pt idx="7">
                  <c:v>2.27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Probe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Observed 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6324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NSG</c:v>
          </c:tx>
          <c:spPr>
            <a:solidFill xmlns:a="http://schemas.openxmlformats.org/drawingml/2006/main">
              <a:srgbClr val="167D80"/>
            </a:solidFill>
          </c:spPr>
          <c:cat>
            <c:strRef>
              <c:f>'Chart Data'!$A$2:$A$4</c:f>
              <c:strCache>
                <c:ptCount val="3"/>
                <c:pt idx="0">
                  <c:v>Sequential artifact</c:v>
                </c:pt>
                <c:pt idx="1">
                  <c:v>Two-at-once artifact</c:v>
                </c:pt>
                <c:pt idx="2">
                  <c:v>Linked workflow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2.24</c:v>
                </c:pt>
                <c:pt idx="1">
                  <c:v>2.25</c:v>
                </c:pt>
                <c:pt idx="2">
                  <c:v>2.25</c:v>
                </c:pt>
              </c:numCache>
            </c:numRef>
          </c:val>
        </c:ser>
        <c:ser>
          <c:idx val="1"/>
          <c:order val="1"/>
          <c:tx>
            <c:v>Citizen Science</c:v>
          </c:tx>
          <c:spPr>
            <a:solidFill xmlns:a="http://schemas.openxmlformats.org/drawingml/2006/main">
              <a:srgbClr val="B87821"/>
            </a:solidFill>
          </c:spPr>
          <c:cat>
            <c:strRef>
              <c:f>'Chart Data'!$C$2:$C$4</c:f>
              <c:strCache>
                <c:ptCount val="3"/>
                <c:pt idx="0">
                  <c:v>Sequential artifact</c:v>
                </c:pt>
                <c:pt idx="1">
                  <c:v>Two-at-once artifact</c:v>
                </c:pt>
                <c:pt idx="2">
                  <c:v>Linked workflow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2.25</c:v>
                </c:pt>
                <c:pt idx="1">
                  <c:v>2.27</c:v>
                </c:pt>
                <c:pt idx="2">
                  <c:v>2.23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6324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First cycle</c:v>
          </c:tx>
          <c:spPr>
            <a:solidFill xmlns:a="http://schemas.openxmlformats.org/drawingml/2006/main">
              <a:srgbClr val="167D80"/>
            </a:solidFill>
          </c:spPr>
          <c:cat>
            <c:strRef>
              <c:f>'Chart Data'!$A$2:$A$3</c:f>
              <c:strCache>
                <c:ptCount val="2"/>
                <c:pt idx="0">
                  <c:v>Ledger gateway</c:v>
                </c:pt>
                <c:pt idx="1">
                  <c:v>RabbitMQ / outbox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50</c:v>
                </c:pt>
                <c:pt idx="1">
                  <c:v>225</c:v>
                </c:pt>
              </c:numCache>
            </c:numRef>
          </c:val>
        </c:ser>
        <c:ser>
          <c:idx val="1"/>
          <c:order val="1"/>
          <c:tx>
            <c:v>Repeat</c:v>
          </c:tx>
          <c:spPr>
            <a:solidFill xmlns:a="http://schemas.openxmlformats.org/drawingml/2006/main">
              <a:srgbClr val="B87821"/>
            </a:solidFill>
          </c:spPr>
          <c:cat>
            <c:strRef>
              <c:f>'Chart Data'!$C$2:$C$3</c:f>
              <c:strCache>
                <c:ptCount val="2"/>
                <c:pt idx="0">
                  <c:v>Ledger gateway</c:v>
                </c:pt>
                <c:pt idx="1">
                  <c:v>RabbitMQ / outbox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72</c:v>
                </c:pt>
                <c:pt idx="1">
                  <c:v>222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6324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6324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Seconds</c:v>
          </c:tx>
          <c:spPr>
            <a:solidFill xmlns:a="http://schemas.openxmlformats.org/drawingml/2006/main">
              <a:srgbClr val="167D80"/>
            </a:solidFill>
          </c:spPr>
          <c:cat>
            <c:strRef>
              <c:f>'Chart Data'!$A$2:$A$5</c:f>
              <c:strCache>
                <c:ptCount val="4"/>
                <c:pt idx="0">
                  <c:v>Earlier run</c:v>
                </c:pt>
                <c:pt idx="1">
                  <c:v>Repeat 1</c:v>
                </c:pt>
                <c:pt idx="2">
                  <c:v>Repeat 2</c:v>
                </c:pt>
                <c:pt idx="3">
                  <c:v>Repeat 3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14</c:v>
                </c:pt>
                <c:pt idx="1">
                  <c:v>16</c:v>
                </c:pt>
                <c:pt idx="2">
                  <c:v>25</c:v>
                </c:pt>
                <c:pt idx="3">
                  <c:v>133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6324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30"/>
      </c:valAx>
    </c:plotArea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Ready pods</c:v>
          </c:tx>
          <c:spPr>
            <a:solidFill xmlns:a="http://schemas.openxmlformats.org/drawingml/2006/main">
              <a:srgbClr val="167D80"/>
            </a:solidFill>
          </c:spPr>
          <c:cat>
            <c:strRef>
              <c:f>'Chart Data'!$A$2:$A$8</c:f>
              <c:strCache>
                <c:ptCount val="7"/>
                <c:pt idx="0">
                  <c:v>osc-apps</c:v>
                </c:pt>
                <c:pt idx="1">
                  <c:v>kube-system</c:v>
                </c:pt>
                <c:pt idx="2">
                  <c:v>osc-fabric</c:v>
                </c:pt>
                <c:pt idx="3">
                  <c:v>argocd</c:v>
                </c:pt>
                <c:pt idx="4">
                  <c:v>aws-secrets-manager</c:v>
                </c:pt>
                <c:pt idx="5">
                  <c:v>cert-manager</c:v>
                </c:pt>
                <c:pt idx="6">
                  <c:v>ingress-nginx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21</c:v>
                </c:pt>
                <c:pt idx="1">
                  <c:v>18</c:v>
                </c:pt>
                <c:pt idx="2">
                  <c:v>14</c:v>
                </c:pt>
                <c:pt idx="3">
                  <c:v>8</c:v>
                </c:pt>
                <c:pt idx="4">
                  <c:v>6</c:v>
                </c:pt>
                <c:pt idx="5">
                  <c:v>3</c:v>
                </c:pt>
                <c:pt idx="6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6324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Pods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BE90A-0B13-4E01-9A24-3B4497BA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324B"/>
                </a:solidFill>
                <a:latin typeface="Arial"/>
                <a:ea typeface="Arial"/>
                <a:cs typeface="Arial"/>
              </a:rPr>
              <a:t>Two-organization AWS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9EDCB-14ED-4F42-A44E-FE10BE00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7D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7D80"/>
                </a:solidFill>
                <a:latin typeface="Arial"/>
                <a:ea typeface="Arial"/>
                <a:cs typeface="Arial"/>
              </a:rPr>
              <a:t>Open Science Chain  |  US-RSE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B34F5-2038-4A48-9E20-F9A0850F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24B"/>
                </a:solidFill>
                <a:latin typeface="Arial"/>
                <a:ea typeface="Arial"/>
                <a:cs typeface="Arial"/>
              </a:rPr>
              <a:t>30 confirmed submissions across Neuroscience Gateway and Citizen Science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FF130-56FB-4D02-9DE8-420E784C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Two Fabric peer organizations on EKS. Third-organization onboarding has not been measured.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79176-DF5B-4029-8148-11E5B7E3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674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OSC-IS AWS run usrse260930  |  30 Sep 2026 UTC</a:t>
            </a:r>
          </a:p>
        </p:txBody>
      </p:sp>
    </p:spTree>
    <p:extLst>
      <p:ext uri="{BB962C8B-B14F-4D97-AF65-F5344CB8AC3E}">
        <p14:creationId xmlns:p14="http://schemas.microsoft.com/office/powerpoint/2010/main" val="9087102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0B48E-1F3C-414E-804B-37AB124C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324B"/>
                </a:solidFill>
                <a:latin typeface="Arial"/>
                <a:ea typeface="Arial"/>
                <a:cs typeface="Arial"/>
              </a:rPr>
              <a:t>Submission to visible provenance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A88C1-666A-4896-A4BD-3DEB9E39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Elapsed since POST start, one public artifact probe per organization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1EE2C-9A5A-4030-9C38-1FE26A70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OSC-IS AWS run usrse260930  |  30 Sep 2026 UTC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15572-1087-481F-98EA-990462A1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990600" y="1809750"/>
          <a:ext xmlns:a="http://schemas.openxmlformats.org/drawingml/2006/main" cx="10191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2021a7e53c477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093CA-F73E-447F-9D2B-D6CEA8DB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81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The API accepted both requests in 60 ms. Ledger, history and catalog checks succeeded by about 2.4 seconds.</a:t>
            </a:r>
          </a:p>
        </p:txBody>
      </p:sp>
    </p:spTree>
    <p:extLst>
      <p:ext uri="{BB962C8B-B14F-4D97-AF65-F5344CB8AC3E}">
        <p14:creationId xmlns:p14="http://schemas.microsoft.com/office/powerpoint/2010/main" val="5054846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E8DCE-17FA-4263-A4F9-CE3AF923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324B"/>
                </a:solidFill>
                <a:latin typeface="Arial"/>
                <a:ea typeface="Arial"/>
                <a:cs typeface="Arial"/>
              </a:rPr>
              <a:t>Sequential artifact confirmation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D86AE-4FB5-48C1-9426-FB9FF173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Eight private artifact probes per organization, in submission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ED41B-702E-49C0-A654-64C84E05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OSC-IS AWS run usrse260930  |  30 Sep 2026 UTC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FD3E5-5703-412F-8B99-CD17442C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1000125" y="1733550"/>
          <a:ext xmlns:a="http://schemas.openxmlformats.org/drawingml/2006/main" cx="10144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8002871c9341b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839C3-0D22-4BFB-B16B-50D83D7A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81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All 16 confirmed. NSG’s first probe took 3.32 seconds; later observations clustered near 2.2 seconds.</a:t>
            </a:r>
          </a:p>
        </p:txBody>
      </p:sp>
    </p:spTree>
    <p:extLst>
      <p:ext uri="{BB962C8B-B14F-4D97-AF65-F5344CB8AC3E}">
        <p14:creationId xmlns:p14="http://schemas.microsoft.com/office/powerpoint/2010/main" val="21000746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FDC0B-3C88-4D81-9EC2-0939B5DE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324B"/>
                </a:solidFill>
                <a:latin typeface="Arial"/>
                <a:ea typeface="Arial"/>
                <a:cs typeface="Arial"/>
              </a:rPr>
              <a:t>Submission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874D7-74D1-44FF-A476-FCDD3F7F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Median observed ledger confirmation,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C5835-E7EB-4D12-A3CE-7F75DE5D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OSC-IS AWS run usrse260930  |  30 Sep 2026 UTC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61A6D-A646-4F51-A05B-9FD4E314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1095375" y="1762125"/>
          <a:ext xmlns:a="http://schemas.openxmlformats.org/drawingml/2006/main" cx="100012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08a96966c3436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70CFD-F3F3-44D6-91C5-E91A6932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81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All eight paired artifact probes and four linked workflow probes confirmed. Small bar differences are below polling resolution.</a:t>
            </a:r>
          </a:p>
        </p:txBody>
      </p:sp>
    </p:spTree>
    <p:extLst>
      <p:ext uri="{BB962C8B-B14F-4D97-AF65-F5344CB8AC3E}">
        <p14:creationId xmlns:p14="http://schemas.microsoft.com/office/powerpoint/2010/main" val="15468148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F2FA9-1E3A-46FE-9FA0-B43D8396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324B"/>
                </a:solidFill>
                <a:latin typeface="Arial"/>
                <a:ea typeface="Arial"/>
                <a:cs typeface="Arial"/>
              </a:rPr>
              <a:t>Organization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AB0DD-F6CA-453C-9437-2FD32D0B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Ten access checks against private, confirmed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BD071-CB7D-4DAF-B29A-E5263C81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OSC-IS AWS run usrse260930  |  30 Sep 2026 UTC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670BC-318F-4CBA-B244-5C9D89D6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75EE5-EA00-4D9E-B511-A4A6045F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24B"/>
                </a:solidFill>
                <a:latin typeface="Arial"/>
                <a:ea typeface="Arial"/>
                <a:cs typeface="Arial"/>
              </a:rPr>
              <a:t>Own private artifact reads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FE183-88A4-4466-BFDC-291A5653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7526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7D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D80"/>
                </a:solidFill>
                <a:latin typeface="Arial"/>
                <a:ea typeface="Arial"/>
                <a:cs typeface="Arial"/>
              </a:rPr>
              <a:t>2 of 2 returned HTTP 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AF5CE-0B54-4120-8965-CD0A0AE2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9077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Cross-org private artifact 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48349-0F21-4257-83A7-0A6207F0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907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7D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D80"/>
                </a:solidFill>
                <a:latin typeface="Arial"/>
                <a:ea typeface="Arial"/>
                <a:cs typeface="Arial"/>
              </a:rPr>
              <a:t>2 of 2 returned HTTP 403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04311-E6A6-45B8-8B9D-6BAF1DC2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289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Cross-org artifact update and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F80EA-353D-42BB-9CCA-A2BBA11D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289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7D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D80"/>
                </a:solidFill>
                <a:latin typeface="Arial"/>
                <a:ea typeface="Arial"/>
                <a:cs typeface="Arial"/>
              </a:rPr>
              <a:t>2 of 2 returned HTTP 403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B9923-9189-4D80-8B54-D2C1D60E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6712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24B"/>
                </a:solidFill>
                <a:latin typeface="Arial"/>
                <a:ea typeface="Arial"/>
                <a:cs typeface="Arial"/>
              </a:rPr>
              <a:t>Own private workflow reads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8DFFE-33B1-4127-A76F-3D339C70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671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7D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D80"/>
                </a:solidFill>
                <a:latin typeface="Arial"/>
                <a:ea typeface="Arial"/>
                <a:cs typeface="Arial"/>
              </a:rPr>
              <a:t>2 of 2 returned HTTP 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137BA-5175-4879-B406-DBA70BFA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05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Cross-org workflow read and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98CCB-E91C-4DB2-9EDB-BE223638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053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7D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D80"/>
                </a:solidFill>
                <a:latin typeface="Arial"/>
                <a:ea typeface="Arial"/>
                <a:cs typeface="Arial"/>
              </a:rPr>
              <a:t>2 of 2 returned HTTP 403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1E0BA-D021-4BBE-BE29-35FA4F69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24475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Post-recovery Postman smoke also passed: six requests, zero failed assertions.</a:t>
            </a:r>
          </a:p>
        </p:txBody>
      </p:sp>
    </p:spTree>
    <p:extLst>
      <p:ext uri="{BB962C8B-B14F-4D97-AF65-F5344CB8AC3E}">
        <p14:creationId xmlns:p14="http://schemas.microsoft.com/office/powerpoint/2010/main" val="16221960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CC706-8B48-4E7E-BB48-27D448FB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324B"/>
                </a:solidFill>
                <a:latin typeface="Arial"/>
                <a:ea typeface="Arial"/>
                <a:cs typeface="Arial"/>
              </a:rPr>
              <a:t>Controlled dependency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343E2-39AB-4A7E-B054-7C63C636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Elapsed through disruption and confirmed probe, seconds; two cycles per 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93337-737B-4F5B-9F75-A16F3938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OSC-IS AWS run usrse260930  |  30 Sep 2026 UTC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E417B-87A4-47AB-9C0E-5C8ACE80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1190625" y="1809750"/>
          <a:ext xmlns:a="http://schemas.openxmlformats.org/drawingml/2006/main" cx="9810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1f87bb0dde428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AC8EB-44DF-43F7-A999-45E19BBA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48275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24B"/>
                </a:solidFill>
                <a:latin typeface="Arial"/>
                <a:ea typeface="Arial"/>
                <a:cs typeface="Arial"/>
              </a:rPr>
              <a:t>With one NSG peer down, the alternate path accepted a transaction in 8 and 5 seconds. Each probe had one ledger revision.</a:t>
            </a:r>
          </a:p>
        </p:txBody>
      </p:sp>
    </p:spTree>
    <p:extLst>
      <p:ext uri="{BB962C8B-B14F-4D97-AF65-F5344CB8AC3E}">
        <p14:creationId xmlns:p14="http://schemas.microsoft.com/office/powerpoint/2010/main" val="20454322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5ECAC-1C21-4E1F-8B59-ECE599C4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324B"/>
                </a:solidFill>
                <a:latin typeface="Arial"/>
                <a:ea typeface="Arial"/>
                <a:cs typeface="Arial"/>
              </a:rPr>
              <a:t>GitOps drift 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6F7AE-97FB-464A-B058-BC6CF335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Seconds from deliberate API replica drift to Argo Synced/Healthy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29780-9843-4957-AC50-DB1F2BF9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OSC-IS AWS run usrse260930  |  30 Sep 2026 UTC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9E39C-98FD-43AF-9F92-72402406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1238250" y="1762125"/>
          <a:ext xmlns:a="http://schemas.openxmlformats.org/drawingml/2006/main" cx="96202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804352b36a4ce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A5CB5-ED50-47CF-88FE-7D9841FD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81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All four self-healed. The 133-second observation shows why one fast screenshot should not be presented as a guarantee.</a:t>
            </a:r>
          </a:p>
        </p:txBody>
      </p:sp>
    </p:spTree>
    <p:extLst>
      <p:ext uri="{BB962C8B-B14F-4D97-AF65-F5344CB8AC3E}">
        <p14:creationId xmlns:p14="http://schemas.microsoft.com/office/powerpoint/2010/main" val="19575976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F0567-58F1-491B-8D4C-55CE2EDB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324B"/>
                </a:solidFill>
                <a:latin typeface="Arial"/>
                <a:ea typeface="Arial"/>
                <a:cs typeface="Arial"/>
              </a:rPr>
              <a:t>Two-org footprint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C79DD-3D5D-4FCF-B6A9-D8C0F950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Ready pods by namespace, after restoration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5201B-723F-48A1-A17C-28422821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OSC-IS AWS run usrse260930  |  30 Sep 2026 UTC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9BE39-14FE-4566-83CF-3F7BC40F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1476375" y="1695450"/>
          <a:ext xmlns:a="http://schemas.openxmlformats.org/drawingml/2006/main" cx="9334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16bb0fba004b9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4CD19-4A1C-467B-8391-BBDA4B52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054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Three worker nodes across three zones; 71 of 71 pods ready. Estimated run rate: $0.94/hour, before actual billing.</a:t>
            </a:r>
          </a:p>
        </p:txBody>
      </p:sp>
    </p:spTree>
    <p:extLst>
      <p:ext uri="{BB962C8B-B14F-4D97-AF65-F5344CB8AC3E}">
        <p14:creationId xmlns:p14="http://schemas.microsoft.com/office/powerpoint/2010/main" val="101206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2026-09-30T17:07:19.0530000Z</dcterms:created>
  <dcterms:modified xsi:type="dcterms:W3CDTF">2026-09-30T17:07:19.0530000Z</dcterms:modified>
</coreProperties>
</file>